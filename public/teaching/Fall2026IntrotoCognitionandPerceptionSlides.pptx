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Gill Sans"/>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GillSans-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67ab5b27371730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67ab5b27371730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67ab5b273717307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67ab5b273717307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quick recap on the three levels of analysis as well as our working definition of the mind</a:t>
            </a:r>
            <a:endParaRPr/>
          </a:p>
          <a:p>
            <a:pPr indent="0" lvl="0" marL="0" rtl="0" algn="l">
              <a:spcBef>
                <a:spcPts val="0"/>
              </a:spcBef>
              <a:spcAft>
                <a:spcPts val="0"/>
              </a:spcAft>
              <a:buNone/>
            </a:pPr>
            <a:r>
              <a:rPr lang="en"/>
              <a:t>This definition does cause some trouble for us, however: computational and algorithmic processes are abstract by nature, so they cannot be directly observed.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67ab5b273717307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67ab5b273717307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discussion about the Donders study started from this core question: If the mind can’t be directly observed, then how do we study it?</a:t>
            </a:r>
            <a:endParaRPr/>
          </a:p>
          <a:p>
            <a:pPr indent="0" lvl="0" marL="0" rtl="0" algn="l">
              <a:spcBef>
                <a:spcPts val="0"/>
              </a:spcBef>
              <a:spcAft>
                <a:spcPts val="0"/>
              </a:spcAft>
              <a:buNone/>
            </a:pPr>
            <a:r>
              <a:rPr lang="en"/>
              <a:t>The solution is that mental processes must be inferred from observable phenomena. Because we can’t touch or directly manipulate cognition, we study the things that arise as a result cognition.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67ab5b273717307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67ab5b273717307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nice example because we have things we can directly observe and/or manipulate. </a:t>
            </a:r>
            <a:endParaRPr/>
          </a:p>
          <a:p>
            <a:pPr indent="0" lvl="0" marL="0" rtl="0" algn="l">
              <a:spcBef>
                <a:spcPts val="0"/>
              </a:spcBef>
              <a:spcAft>
                <a:spcPts val="0"/>
              </a:spcAft>
              <a:buNone/>
            </a:pPr>
            <a:r>
              <a:rPr lang="en"/>
              <a:t>It also allows us to make inferences about phenomena we </a:t>
            </a:r>
            <a:r>
              <a:rPr i="1" lang="en"/>
              <a:t>can’t </a:t>
            </a:r>
            <a:r>
              <a:rPr lang="en"/>
              <a:t>directly observe such as forces like friction, drag, and gravity.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67ab5b273717307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67ab5b273717307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67ab5b273717307e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67ab5b273717307e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
              <a:t>Franciscus Donders</a:t>
            </a:r>
            <a:endParaRPr/>
          </a:p>
          <a:p>
            <a:pPr indent="0" lvl="0" marL="0" rtl="0" algn="l">
              <a:spcBef>
                <a:spcPts val="0"/>
              </a:spcBef>
              <a:spcAft>
                <a:spcPts val="0"/>
              </a:spcAft>
              <a:buNone/>
            </a:pPr>
            <a:r>
              <a:t/>
            </a:r>
            <a:endParaRPr i="1"/>
          </a:p>
          <a:p>
            <a:pPr indent="0" lvl="0" marL="0" rtl="0" algn="l">
              <a:spcBef>
                <a:spcPts val="0"/>
              </a:spcBef>
              <a:spcAft>
                <a:spcPts val="0"/>
              </a:spcAft>
              <a:buNone/>
            </a:pPr>
            <a:r>
              <a:rPr i="1" lang="en"/>
              <a:t>Suppose I want to study decision making</a:t>
            </a:r>
            <a:endParaRPr/>
          </a:p>
          <a:p>
            <a:pPr indent="0" lvl="0" marL="0" rtl="0" algn="l">
              <a:spcBef>
                <a:spcPts val="0"/>
              </a:spcBef>
              <a:spcAft>
                <a:spcPts val="0"/>
              </a:spcAft>
              <a:buNone/>
            </a:pPr>
            <a:r>
              <a:rPr i="1" lang="en"/>
              <a:t>How long does it take to make a decision about a stimulus?</a:t>
            </a:r>
            <a:endParaRPr/>
          </a:p>
        </p:txBody>
      </p:sp>
      <p:sp>
        <p:nvSpPr>
          <p:cNvPr id="111" name="Google Shape;111;h67ab5b273717307e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67ab5b273717307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67ab5b273717307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7ab5b273717307e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67ab5b273717307e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 look at something with your eyes, the visual information you’re seeing is simply a 2-d projection from a distant object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7ab5b273717307e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67ab5b273717307e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67ab5b273717307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67ab5b273717307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67ab5b273717307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67ab5b273717307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67ab5b273717307e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67ab5b273717307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Copy and paste these annotations in real-time to further illustrate the point!!</a:t>
            </a: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67ab5b273717307e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67ab5b273717307e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7ab5b273717307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67ab5b273717307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67ab5b273717307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h67ab5b273717307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67ab5b273717307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h67ab5b273717307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67ab5b273717307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67ab5b273717307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67ab5b273717307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67ab5b273717307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67ab5b273717307e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h67ab5b273717307e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67ab5b273717307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h67ab5b273717307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67ab5b273717307e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67ab5b273717307e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67ab5b273717307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67ab5b273717307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67ab5b273717307e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67ab5b273717307e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67ab5b273717307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h67ab5b273717307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67ab5b273717307e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h67ab5b273717307e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67ab5b273717307e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h67ab5b273717307e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67ab5b273717307e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h67ab5b273717307e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67ab5b273717307e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67ab5b273717307e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67ab5b273717307e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h67ab5b273717307e_0_3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67ab5b273717307e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h67ab5b273717307e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h67ab5b273717307e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h67ab5b273717307e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7ab5b273717307e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h67ab5b273717307e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h67ab5b273717307e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h67ab5b273717307e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h67ab5b273717307e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h67ab5b273717307e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67ab5b273717307e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h67ab5b273717307e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67ab5b273717307e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h67ab5b273717307e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0" rtl="0" algn="l">
              <a:lnSpc>
                <a:spcPct val="115000"/>
              </a:lnSpc>
              <a:spcBef>
                <a:spcPts val="0"/>
              </a:spcBef>
              <a:spcAft>
                <a:spcPts val="0"/>
              </a:spcAft>
              <a:buClr>
                <a:schemeClr val="dk1"/>
              </a:buClr>
              <a:buSzPts val="1100"/>
              <a:buFont typeface="Arial"/>
              <a:buNone/>
            </a:pPr>
            <a:r>
              <a:rPr lang="en"/>
              <a:t>Can visual processing be carried out without visual awareness of the presented objects? In the present study we addressed this problem in patients with severe unilateral neglect. The patients were required to respond as fast as possible to target stimuli (pictures of animals and fruits) presented to the normal field by pressing one of the two keys according to the category of the targets. We then studied the influence of priming stimuli, again pictures of animals or fruits, presented to the neglected field on the responses to targets. By combining different pairs of primes and targets, three different experimental conditions were obtained. In the first condition, "Highly congruent," the target and prime stimuli belonged to the same category and were physically identical; in the second condition, "Congruent," the stimuli represented two elements of the same category but were physically dissimilar; in the third condition, "Noncongruent," the stimuli represented one exemplar from each of the two categories of stimuli. The results showed that the responses were facilitated not only in the Highly congruent condition, but also in the Congruent one. </a:t>
            </a:r>
            <a:r>
              <a:rPr b="1" lang="en"/>
              <a:t>This finding suggests that patients with neglect are able to process stimuli presented to the neglected field to a categorical level of representation even when they deny the stimulus presence in the affected field.</a:t>
            </a:r>
            <a:r>
              <a:rPr lang="en"/>
              <a:t> The implications of this finding for psychological and physiological theory of neglect and visual cognition are discussed.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67ab5b273717307e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h67ab5b273717307e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youtube.com/shorts/qwcT4ZBoOh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jpg"/><Relationship Id="rId4" Type="http://schemas.openxmlformats.org/officeDocument/2006/relationships/image" Target="../media/image7.png"/><Relationship Id="rId5" Type="http://schemas.openxmlformats.org/officeDocument/2006/relationships/image" Target="../media/image6.jpg"/><Relationship Id="rId6" Type="http://schemas.openxmlformats.org/officeDocument/2006/relationships/image" Target="../media/image5.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34.jpg"/><Relationship Id="rId5"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32.png"/><Relationship Id="rId5"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jpg"/><Relationship Id="rId4" Type="http://schemas.openxmlformats.org/officeDocument/2006/relationships/image" Target="../media/image17.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8.jpg"/><Relationship Id="rId5" Type="http://schemas.openxmlformats.org/officeDocument/2006/relationships/image" Target="../media/image3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42.png"/><Relationship Id="rId7" Type="http://schemas.openxmlformats.org/officeDocument/2006/relationships/image" Target="../media/image22.png"/><Relationship Id="rId8"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jpg"/><Relationship Id="rId4" Type="http://schemas.openxmlformats.org/officeDocument/2006/relationships/image" Target="../media/image4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jp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28.jpg"/><Relationship Id="rId7" Type="http://schemas.openxmlformats.org/officeDocument/2006/relationships/image" Target="../media/image4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4.jpg"/><Relationship Id="rId4" Type="http://schemas.openxmlformats.org/officeDocument/2006/relationships/image" Target="../media/image46.jpg"/><Relationship Id="rId5" Type="http://schemas.openxmlformats.org/officeDocument/2006/relationships/image" Target="../media/image35.jpg"/><Relationship Id="rId6" Type="http://schemas.openxmlformats.org/officeDocument/2006/relationships/image" Target="../media/image5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36.png"/><Relationship Id="rId6" Type="http://schemas.openxmlformats.org/officeDocument/2006/relationships/image" Target="../media/image45.png"/><Relationship Id="rId7"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Fall 2026 Intro to Cognition and Perception Slides</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All adapted from slides created by Dr. Sahil Luthra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How to Study the Mind Recap</a:t>
            </a:r>
            <a:endParaRPr/>
          </a:p>
        </p:txBody>
      </p:sp>
      <p:sp>
        <p:nvSpPr>
          <p:cNvPr id="67" name="Google Shape;67;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08/26/26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a cognitive scientist study the mind?</a:t>
            </a:r>
            <a:endParaRPr/>
          </a:p>
        </p:txBody>
      </p:sp>
      <p:sp>
        <p:nvSpPr>
          <p:cNvPr id="73" name="Google Shape;73;p16"/>
          <p:cNvSpPr/>
          <p:nvPr/>
        </p:nvSpPr>
        <p:spPr>
          <a:xfrm>
            <a:off x="2916422" y="1084325"/>
            <a:ext cx="5689800" cy="2552100"/>
          </a:xfrm>
          <a:prstGeom prst="rect">
            <a:avLst/>
          </a:prstGeom>
          <a:noFill/>
          <a:ln>
            <a:noFill/>
          </a:ln>
        </p:spPr>
        <p:txBody>
          <a:bodyPr anchorCtr="0" anchor="t" bIns="34125" lIns="68275" spcFirstLastPara="1" rIns="68275" wrap="square" tIns="34125">
            <a:noAutofit/>
          </a:bodyPr>
          <a:lstStyle/>
          <a:p>
            <a:pPr indent="0" lvl="0" marL="0" marR="0" rtl="0" algn="l">
              <a:spcBef>
                <a:spcPts val="0"/>
              </a:spcBef>
              <a:spcAft>
                <a:spcPts val="0"/>
              </a:spcAft>
              <a:buNone/>
            </a:pPr>
            <a:r>
              <a:t/>
            </a:r>
            <a:endParaRPr sz="1793"/>
          </a:p>
          <a:p>
            <a:pPr indent="0" lvl="0" marL="0" marR="0" rtl="0" algn="l">
              <a:spcBef>
                <a:spcPts val="0"/>
              </a:spcBef>
              <a:spcAft>
                <a:spcPts val="0"/>
              </a:spcAft>
              <a:buNone/>
            </a:pPr>
            <a:r>
              <a:t/>
            </a:r>
            <a:endParaRPr sz="1793"/>
          </a:p>
          <a:p>
            <a:pPr indent="0" lvl="0" marL="0" marR="0" rtl="0" algn="l">
              <a:spcBef>
                <a:spcPts val="0"/>
              </a:spcBef>
              <a:spcAft>
                <a:spcPts val="0"/>
              </a:spcAft>
              <a:buNone/>
            </a:pPr>
            <a:r>
              <a:rPr lang="en" sz="1793">
                <a:solidFill>
                  <a:srgbClr val="000000"/>
                </a:solidFill>
                <a:latin typeface="Arial"/>
                <a:ea typeface="Arial"/>
                <a:cs typeface="Arial"/>
                <a:sym typeface="Arial"/>
              </a:rPr>
              <a:t>Traditionally, cognitive science focuses on the </a:t>
            </a:r>
            <a:r>
              <a:rPr b="1" lang="en" sz="1793">
                <a:solidFill>
                  <a:srgbClr val="4472C4"/>
                </a:solidFill>
                <a:latin typeface="Arial"/>
                <a:ea typeface="Arial"/>
                <a:cs typeface="Arial"/>
                <a:sym typeface="Arial"/>
              </a:rPr>
              <a:t>computational</a:t>
            </a:r>
            <a:r>
              <a:rPr b="1" lang="en" sz="1793">
                <a:solidFill>
                  <a:srgbClr val="000000"/>
                </a:solidFill>
                <a:latin typeface="Arial"/>
                <a:ea typeface="Arial"/>
                <a:cs typeface="Arial"/>
                <a:sym typeface="Arial"/>
              </a:rPr>
              <a:t> </a:t>
            </a:r>
            <a:r>
              <a:rPr lang="en" sz="1793">
                <a:solidFill>
                  <a:srgbClr val="000000"/>
                </a:solidFill>
                <a:latin typeface="Arial"/>
                <a:ea typeface="Arial"/>
                <a:cs typeface="Arial"/>
                <a:sym typeface="Arial"/>
              </a:rPr>
              <a:t>and </a:t>
            </a:r>
            <a:r>
              <a:rPr b="1" lang="en" sz="1793">
                <a:solidFill>
                  <a:srgbClr val="ED7D31"/>
                </a:solidFill>
                <a:latin typeface="Arial"/>
                <a:ea typeface="Arial"/>
                <a:cs typeface="Arial"/>
                <a:sym typeface="Arial"/>
              </a:rPr>
              <a:t>algorithmic</a:t>
            </a:r>
            <a:r>
              <a:rPr b="1" lang="en" sz="1793">
                <a:solidFill>
                  <a:srgbClr val="000000"/>
                </a:solidFill>
                <a:latin typeface="Arial"/>
                <a:ea typeface="Arial"/>
                <a:cs typeface="Arial"/>
                <a:sym typeface="Arial"/>
              </a:rPr>
              <a:t> </a:t>
            </a:r>
            <a:r>
              <a:rPr lang="en" sz="1793">
                <a:solidFill>
                  <a:srgbClr val="000000"/>
                </a:solidFill>
                <a:latin typeface="Arial"/>
                <a:ea typeface="Arial"/>
                <a:cs typeface="Arial"/>
                <a:sym typeface="Arial"/>
              </a:rPr>
              <a:t>levels of analy</a:t>
            </a:r>
            <a:r>
              <a:rPr lang="en" sz="1793"/>
              <a:t>sis.</a:t>
            </a:r>
            <a:endParaRPr sz="1046"/>
          </a:p>
          <a:p>
            <a:pPr indent="0" lvl="0" marL="0" marR="0" rtl="0" algn="l">
              <a:spcBef>
                <a:spcPts val="0"/>
              </a:spcBef>
              <a:spcAft>
                <a:spcPts val="0"/>
              </a:spcAft>
              <a:buNone/>
            </a:pPr>
            <a:r>
              <a:t/>
            </a:r>
            <a:endParaRPr sz="1793">
              <a:solidFill>
                <a:srgbClr val="00B150"/>
              </a:solidFill>
              <a:latin typeface="Arial"/>
              <a:ea typeface="Arial"/>
              <a:cs typeface="Arial"/>
              <a:sym typeface="Arial"/>
            </a:endParaRPr>
          </a:p>
          <a:p>
            <a:pPr indent="0" lvl="0" marL="0" marR="0" rtl="0" algn="l">
              <a:spcBef>
                <a:spcPts val="0"/>
              </a:spcBef>
              <a:spcAft>
                <a:spcPts val="0"/>
              </a:spcAft>
              <a:buNone/>
            </a:pPr>
            <a:r>
              <a:t/>
            </a:r>
            <a:endParaRPr b="1" sz="1793">
              <a:solidFill>
                <a:srgbClr val="00B150"/>
              </a:solidFill>
              <a:latin typeface="Arial"/>
              <a:ea typeface="Arial"/>
              <a:cs typeface="Arial"/>
              <a:sym typeface="Arial"/>
            </a:endParaRPr>
          </a:p>
        </p:txBody>
      </p:sp>
      <p:sp>
        <p:nvSpPr>
          <p:cNvPr id="74" name="Google Shape;74;p16"/>
          <p:cNvSpPr/>
          <p:nvPr/>
        </p:nvSpPr>
        <p:spPr>
          <a:xfrm>
            <a:off x="280325" y="1196514"/>
            <a:ext cx="2177400" cy="619200"/>
          </a:xfrm>
          <a:prstGeom prst="rect">
            <a:avLst/>
          </a:prstGeom>
          <a:solidFill>
            <a:srgbClr val="4285F4"/>
          </a:solidFill>
          <a:ln cap="flat" cmpd="sng" w="18975">
            <a:solidFill>
              <a:srgbClr val="3061B2"/>
            </a:solidFill>
            <a:prstDash val="solid"/>
            <a:round/>
            <a:headEnd len="sm" w="sm" type="none"/>
            <a:tailEnd len="sm" w="sm" type="none"/>
          </a:ln>
        </p:spPr>
        <p:txBody>
          <a:bodyPr anchorCtr="0" anchor="ctr" bIns="45525" lIns="91050" spcFirstLastPara="1" rIns="91050" wrap="square" tIns="45525">
            <a:noAutofit/>
          </a:bodyPr>
          <a:lstStyle/>
          <a:p>
            <a:pPr indent="0" lvl="0" marL="0" marR="0" rtl="0" algn="ctr">
              <a:lnSpc>
                <a:spcPct val="100000"/>
              </a:lnSpc>
              <a:spcBef>
                <a:spcPts val="0"/>
              </a:spcBef>
              <a:spcAft>
                <a:spcPts val="0"/>
              </a:spcAft>
              <a:buClr>
                <a:srgbClr val="FFFFFF"/>
              </a:buClr>
              <a:buSzPts val="1793"/>
              <a:buFont typeface="Arial"/>
              <a:buNone/>
            </a:pPr>
            <a:r>
              <a:rPr b="1" i="0" lang="en" sz="1793" u="none" cap="none" strike="noStrike">
                <a:solidFill>
                  <a:srgbClr val="FFFFFF"/>
                </a:solidFill>
                <a:latin typeface="Arial"/>
                <a:ea typeface="Arial"/>
                <a:cs typeface="Arial"/>
                <a:sym typeface="Arial"/>
              </a:rPr>
              <a:t>Computational</a:t>
            </a:r>
            <a:r>
              <a:rPr b="0" i="0" lang="en" sz="1793" u="none" cap="none" strike="noStrike">
                <a:solidFill>
                  <a:srgbClr val="FFFFFF"/>
                </a:solidFill>
                <a:latin typeface="Arial"/>
                <a:ea typeface="Arial"/>
                <a:cs typeface="Arial"/>
                <a:sym typeface="Arial"/>
              </a:rPr>
              <a:t> </a:t>
            </a:r>
            <a:r>
              <a:rPr i="0" lang="en" sz="1793" u="none" cap="none" strike="noStrike">
                <a:solidFill>
                  <a:srgbClr val="FFFFFF"/>
                </a:solidFill>
                <a:latin typeface="Arial"/>
                <a:ea typeface="Arial"/>
                <a:cs typeface="Arial"/>
                <a:sym typeface="Arial"/>
              </a:rPr>
              <a:t>(Representations)</a:t>
            </a:r>
            <a:endParaRPr sz="598">
              <a:solidFill>
                <a:srgbClr val="000000"/>
              </a:solidFill>
              <a:latin typeface="Calibri"/>
              <a:ea typeface="Calibri"/>
              <a:cs typeface="Calibri"/>
              <a:sym typeface="Calibri"/>
            </a:endParaRPr>
          </a:p>
        </p:txBody>
      </p:sp>
      <p:sp>
        <p:nvSpPr>
          <p:cNvPr id="75" name="Google Shape;75;p16"/>
          <p:cNvSpPr/>
          <p:nvPr/>
        </p:nvSpPr>
        <p:spPr>
          <a:xfrm>
            <a:off x="280325" y="2052158"/>
            <a:ext cx="2177400" cy="618600"/>
          </a:xfrm>
          <a:prstGeom prst="rect">
            <a:avLst/>
          </a:prstGeom>
          <a:solidFill>
            <a:srgbClr val="ED7D31"/>
          </a:solidFill>
          <a:ln cap="flat" cmpd="sng" w="18975">
            <a:solidFill>
              <a:srgbClr val="EF8600"/>
            </a:solidFill>
            <a:prstDash val="solid"/>
            <a:round/>
            <a:headEnd len="sm" w="sm" type="none"/>
            <a:tailEnd len="sm" w="sm" type="none"/>
          </a:ln>
        </p:spPr>
        <p:txBody>
          <a:bodyPr anchorCtr="0" anchor="ctr" bIns="45525" lIns="91050" spcFirstLastPara="1" rIns="91050" wrap="square" tIns="45525">
            <a:noAutofit/>
          </a:bodyPr>
          <a:lstStyle/>
          <a:p>
            <a:pPr indent="0" lvl="0" marL="0" marR="0" rtl="0" algn="ctr">
              <a:lnSpc>
                <a:spcPct val="100000"/>
              </a:lnSpc>
              <a:spcBef>
                <a:spcPts val="0"/>
              </a:spcBef>
              <a:spcAft>
                <a:spcPts val="0"/>
              </a:spcAft>
              <a:buClr>
                <a:srgbClr val="FFFFFF"/>
              </a:buClr>
              <a:buSzPts val="1793"/>
              <a:buFont typeface="Arial"/>
              <a:buNone/>
            </a:pPr>
            <a:r>
              <a:rPr b="1" i="0" lang="en" sz="1793" u="none" cap="none" strike="noStrike">
                <a:solidFill>
                  <a:srgbClr val="FFFFFF"/>
                </a:solidFill>
                <a:latin typeface="Arial"/>
                <a:ea typeface="Arial"/>
                <a:cs typeface="Arial"/>
                <a:sym typeface="Arial"/>
              </a:rPr>
              <a:t>Algorithmic</a:t>
            </a:r>
            <a:r>
              <a:rPr b="0" i="0" lang="en" sz="1793" u="none" cap="none" strike="noStrike">
                <a:solidFill>
                  <a:srgbClr val="FFFFFF"/>
                </a:solidFill>
                <a:latin typeface="Arial"/>
                <a:ea typeface="Arial"/>
                <a:cs typeface="Arial"/>
                <a:sym typeface="Arial"/>
              </a:rPr>
              <a:t> (Processes)</a:t>
            </a:r>
            <a:endParaRPr sz="598">
              <a:solidFill>
                <a:srgbClr val="000000"/>
              </a:solidFill>
              <a:latin typeface="Calibri"/>
              <a:ea typeface="Calibri"/>
              <a:cs typeface="Calibri"/>
              <a:sym typeface="Calibri"/>
            </a:endParaRPr>
          </a:p>
        </p:txBody>
      </p:sp>
      <p:sp>
        <p:nvSpPr>
          <p:cNvPr id="76" name="Google Shape;76;p16"/>
          <p:cNvSpPr/>
          <p:nvPr/>
        </p:nvSpPr>
        <p:spPr>
          <a:xfrm>
            <a:off x="280325" y="2906799"/>
            <a:ext cx="2177400" cy="608100"/>
          </a:xfrm>
          <a:prstGeom prst="rect">
            <a:avLst/>
          </a:prstGeom>
          <a:solidFill>
            <a:srgbClr val="70AD47"/>
          </a:solidFill>
          <a:ln cap="flat" cmpd="sng" w="18975">
            <a:solidFill>
              <a:srgbClr val="00B050"/>
            </a:solidFill>
            <a:prstDash val="solid"/>
            <a:round/>
            <a:headEnd len="sm" w="sm" type="none"/>
            <a:tailEnd len="sm" w="sm" type="none"/>
          </a:ln>
        </p:spPr>
        <p:txBody>
          <a:bodyPr anchorCtr="0" anchor="ctr" bIns="45525" lIns="91050" spcFirstLastPara="1" rIns="91050" wrap="square" tIns="45525">
            <a:noAutofit/>
          </a:bodyPr>
          <a:lstStyle/>
          <a:p>
            <a:pPr indent="0" lvl="0" marL="0" marR="0" rtl="0" algn="ctr">
              <a:lnSpc>
                <a:spcPct val="100000"/>
              </a:lnSpc>
              <a:spcBef>
                <a:spcPts val="0"/>
              </a:spcBef>
              <a:spcAft>
                <a:spcPts val="0"/>
              </a:spcAft>
              <a:buClr>
                <a:srgbClr val="FFFFFF"/>
              </a:buClr>
              <a:buSzPts val="1793"/>
              <a:buFont typeface="Arial"/>
              <a:buNone/>
            </a:pPr>
            <a:r>
              <a:rPr b="1" i="0" lang="en" sz="1793" u="none" cap="none" strike="noStrike">
                <a:solidFill>
                  <a:srgbClr val="FFFFFF"/>
                </a:solidFill>
                <a:latin typeface="Arial"/>
                <a:ea typeface="Arial"/>
                <a:cs typeface="Arial"/>
                <a:sym typeface="Arial"/>
              </a:rPr>
              <a:t>Implementational</a:t>
            </a:r>
            <a:endParaRPr sz="1046"/>
          </a:p>
          <a:p>
            <a:pPr indent="0" lvl="0" marL="0" marR="0" rtl="0" algn="ctr">
              <a:lnSpc>
                <a:spcPct val="100000"/>
              </a:lnSpc>
              <a:spcBef>
                <a:spcPts val="0"/>
              </a:spcBef>
              <a:spcAft>
                <a:spcPts val="0"/>
              </a:spcAft>
              <a:buClr>
                <a:srgbClr val="FFFFFF"/>
              </a:buClr>
              <a:buSzPts val="1793"/>
              <a:buFont typeface="Arial"/>
              <a:buNone/>
            </a:pPr>
            <a:r>
              <a:rPr lang="en" sz="1793">
                <a:solidFill>
                  <a:srgbClr val="FFFFFF"/>
                </a:solidFill>
                <a:latin typeface="Arial"/>
                <a:ea typeface="Arial"/>
                <a:cs typeface="Arial"/>
                <a:sym typeface="Arial"/>
              </a:rPr>
              <a:t>(Brain)</a:t>
            </a:r>
            <a:endParaRPr sz="598">
              <a:solidFill>
                <a:srgbClr val="000000"/>
              </a:solidFill>
              <a:latin typeface="Calibri"/>
              <a:ea typeface="Calibri"/>
              <a:cs typeface="Calibri"/>
              <a:sym typeface="Calibri"/>
            </a:endParaRPr>
          </a:p>
        </p:txBody>
      </p:sp>
      <p:sp>
        <p:nvSpPr>
          <p:cNvPr id="77" name="Google Shape;77;p16"/>
          <p:cNvSpPr/>
          <p:nvPr/>
        </p:nvSpPr>
        <p:spPr>
          <a:xfrm>
            <a:off x="1444780" y="3531806"/>
            <a:ext cx="1013100" cy="210000"/>
          </a:xfrm>
          <a:prstGeom prst="rect">
            <a:avLst/>
          </a:prstGeom>
          <a:noFill/>
          <a:ln>
            <a:noFill/>
          </a:ln>
        </p:spPr>
        <p:txBody>
          <a:bodyPr anchorCtr="0" anchor="t" bIns="34125" lIns="68275" spcFirstLastPara="1" rIns="68275" wrap="square" tIns="34125">
            <a:noAutofit/>
          </a:bodyPr>
          <a:lstStyle/>
          <a:p>
            <a:pPr indent="0" lvl="0" marL="0" marR="0" rtl="0" algn="ctr">
              <a:lnSpc>
                <a:spcPct val="115000"/>
              </a:lnSpc>
              <a:spcBef>
                <a:spcPts val="0"/>
              </a:spcBef>
              <a:spcAft>
                <a:spcPts val="0"/>
              </a:spcAft>
              <a:buClr>
                <a:srgbClr val="595959"/>
              </a:buClr>
              <a:buSzPts val="1046"/>
              <a:buFont typeface="Arial"/>
              <a:buNone/>
            </a:pPr>
            <a:r>
              <a:rPr b="0" i="0" lang="en" sz="1046" u="none" cap="none" strike="noStrike">
                <a:solidFill>
                  <a:srgbClr val="595959"/>
                </a:solidFill>
                <a:latin typeface="Arial"/>
                <a:ea typeface="Arial"/>
                <a:cs typeface="Arial"/>
                <a:sym typeface="Arial"/>
              </a:rPr>
              <a:t>(Marr, 1982)</a:t>
            </a:r>
            <a:r>
              <a:rPr b="1" i="0" lang="en" sz="1046" u="none" cap="none" strike="noStrike">
                <a:solidFill>
                  <a:srgbClr val="000000"/>
                </a:solidFill>
                <a:latin typeface="Arial"/>
                <a:ea typeface="Arial"/>
                <a:cs typeface="Arial"/>
                <a:sym typeface="Arial"/>
              </a:rPr>
              <a:t> </a:t>
            </a:r>
            <a:endParaRPr b="1" i="0" sz="1046" u="none" cap="none" strike="noStrike">
              <a:solidFill>
                <a:srgbClr val="595959"/>
              </a:solidFill>
              <a:latin typeface="Arial"/>
              <a:ea typeface="Arial"/>
              <a:cs typeface="Arial"/>
              <a:sym typeface="Arial"/>
            </a:endParaRPr>
          </a:p>
        </p:txBody>
      </p:sp>
      <p:sp>
        <p:nvSpPr>
          <p:cNvPr id="78" name="Google Shape;78;p16"/>
          <p:cNvSpPr/>
          <p:nvPr/>
        </p:nvSpPr>
        <p:spPr>
          <a:xfrm>
            <a:off x="2684425" y="2670750"/>
            <a:ext cx="6393600" cy="123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000000"/>
                </a:solidFill>
                <a:latin typeface="Arial"/>
                <a:ea typeface="Arial"/>
                <a:cs typeface="Arial"/>
                <a:sym typeface="Arial"/>
              </a:rPr>
              <a:t>The mind creates abstract </a:t>
            </a:r>
            <a:r>
              <a:rPr b="1" lang="en" sz="1800">
                <a:solidFill>
                  <a:srgbClr val="4472C4"/>
                </a:solidFill>
                <a:latin typeface="Arial"/>
                <a:ea typeface="Arial"/>
                <a:cs typeface="Arial"/>
                <a:sym typeface="Arial"/>
              </a:rPr>
              <a:t>representations </a:t>
            </a:r>
            <a:r>
              <a:rPr lang="en" sz="1800">
                <a:solidFill>
                  <a:srgbClr val="000000"/>
                </a:solidFill>
                <a:latin typeface="Arial"/>
                <a:ea typeface="Arial"/>
                <a:cs typeface="Arial"/>
                <a:sym typeface="Arial"/>
              </a:rPr>
              <a:t>and </a:t>
            </a:r>
            <a:endParaRPr sz="400"/>
          </a:p>
          <a:p>
            <a:pPr indent="0" lvl="0" marL="0" marR="0" rtl="0" algn="ctr">
              <a:spcBef>
                <a:spcPts val="0"/>
              </a:spcBef>
              <a:spcAft>
                <a:spcPts val="0"/>
              </a:spcAft>
              <a:buNone/>
            </a:pPr>
            <a:r>
              <a:rPr lang="en" sz="1800">
                <a:solidFill>
                  <a:srgbClr val="000000"/>
                </a:solidFill>
                <a:latin typeface="Arial"/>
                <a:ea typeface="Arial"/>
                <a:cs typeface="Arial"/>
                <a:sym typeface="Arial"/>
              </a:rPr>
              <a:t>transforms representations through </a:t>
            </a:r>
            <a:r>
              <a:rPr b="1" lang="en" sz="1800">
                <a:solidFill>
                  <a:srgbClr val="ED7D31"/>
                </a:solidFill>
                <a:latin typeface="Arial"/>
                <a:ea typeface="Arial"/>
                <a:cs typeface="Arial"/>
                <a:sym typeface="Arial"/>
              </a:rPr>
              <a:t>mental</a:t>
            </a:r>
            <a:r>
              <a:rPr lang="en" sz="1800">
                <a:solidFill>
                  <a:srgbClr val="ED7D31"/>
                </a:solidFill>
                <a:latin typeface="Arial"/>
                <a:ea typeface="Arial"/>
                <a:cs typeface="Arial"/>
                <a:sym typeface="Arial"/>
              </a:rPr>
              <a:t> </a:t>
            </a:r>
            <a:r>
              <a:rPr b="1" lang="en" sz="1800">
                <a:solidFill>
                  <a:srgbClr val="ED7D31"/>
                </a:solidFill>
                <a:latin typeface="Arial"/>
                <a:ea typeface="Arial"/>
                <a:cs typeface="Arial"/>
                <a:sym typeface="Arial"/>
              </a:rPr>
              <a:t>processes 	</a:t>
            </a:r>
            <a:endParaRPr sz="400"/>
          </a:p>
          <a:p>
            <a:pPr indent="0" lvl="0" marL="0" marR="0" rtl="0" algn="r">
              <a:spcBef>
                <a:spcPts val="0"/>
              </a:spcBef>
              <a:spcAft>
                <a:spcPts val="0"/>
              </a:spcAft>
              <a:buNone/>
            </a:pPr>
            <a:r>
              <a:rPr lang="en" sz="1800">
                <a:solidFill>
                  <a:srgbClr val="000000"/>
                </a:solidFill>
                <a:latin typeface="Arial"/>
                <a:ea typeface="Arial"/>
                <a:cs typeface="Arial"/>
                <a:sym typeface="Arial"/>
              </a:rPr>
              <a:t>that are instantiated in the </a:t>
            </a:r>
            <a:r>
              <a:rPr b="1" lang="en" sz="1800">
                <a:solidFill>
                  <a:srgbClr val="70AD47"/>
                </a:solidFill>
                <a:latin typeface="Arial"/>
                <a:ea typeface="Arial"/>
                <a:cs typeface="Arial"/>
                <a:sym typeface="Arial"/>
              </a:rPr>
              <a:t>brain</a:t>
            </a:r>
            <a:endParaRPr sz="1800">
              <a:solidFill>
                <a:srgbClr val="70AD47"/>
              </a:solidFill>
              <a:latin typeface="Arial"/>
              <a:ea typeface="Arial"/>
              <a:cs typeface="Arial"/>
              <a:sym typeface="Arial"/>
            </a:endParaRPr>
          </a:p>
        </p:txBody>
      </p:sp>
      <p:sp>
        <p:nvSpPr>
          <p:cNvPr id="79" name="Google Shape;79;p16"/>
          <p:cNvSpPr txBox="1"/>
          <p:nvPr/>
        </p:nvSpPr>
        <p:spPr>
          <a:xfrm>
            <a:off x="730875" y="3961775"/>
            <a:ext cx="8012400" cy="9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If cognitive science focuses primarily on the more abstract levels of analysis, direct observation is very difficult – if not impossible!</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nvSpPr>
        <p:spPr>
          <a:xfrm>
            <a:off x="90301" y="561350"/>
            <a:ext cx="8963400" cy="1009800"/>
          </a:xfrm>
          <a:prstGeom prst="rect">
            <a:avLst/>
          </a:prstGeom>
          <a:noFill/>
          <a:ln>
            <a:noFill/>
          </a:ln>
        </p:spPr>
        <p:txBody>
          <a:bodyPr anchorCtr="0" anchor="ctr" bIns="34800" lIns="69650" spcFirstLastPara="1" rIns="69650" wrap="square" tIns="34800">
            <a:normAutofit/>
          </a:bodyPr>
          <a:lstStyle/>
          <a:p>
            <a:pPr indent="0" lvl="0" marL="0" rtl="0" algn="ctr">
              <a:lnSpc>
                <a:spcPct val="90000"/>
              </a:lnSpc>
              <a:spcBef>
                <a:spcPts val="0"/>
              </a:spcBef>
              <a:spcAft>
                <a:spcPts val="0"/>
              </a:spcAft>
              <a:buNone/>
            </a:pPr>
            <a:r>
              <a:rPr lang="en" sz="3352">
                <a:solidFill>
                  <a:srgbClr val="000000"/>
                </a:solidFill>
              </a:rPr>
              <a:t>If the mind can’t be directly observed,</a:t>
            </a:r>
            <a:br>
              <a:rPr lang="en" sz="3352">
                <a:solidFill>
                  <a:srgbClr val="000000"/>
                </a:solidFill>
              </a:rPr>
            </a:br>
            <a:r>
              <a:rPr lang="en" sz="3352">
                <a:solidFill>
                  <a:srgbClr val="000000"/>
                </a:solidFill>
              </a:rPr>
              <a:t>how do we study it?</a:t>
            </a:r>
            <a:endParaRPr sz="3352">
              <a:solidFill>
                <a:srgbClr val="000000"/>
              </a:solidFill>
              <a:latin typeface="Calibri"/>
              <a:ea typeface="Calibri"/>
              <a:cs typeface="Calibri"/>
              <a:sym typeface="Calibri"/>
            </a:endParaRPr>
          </a:p>
        </p:txBody>
      </p:sp>
      <p:sp>
        <p:nvSpPr>
          <p:cNvPr id="85" name="Google Shape;85;p17"/>
          <p:cNvSpPr txBox="1"/>
          <p:nvPr/>
        </p:nvSpPr>
        <p:spPr>
          <a:xfrm>
            <a:off x="90301" y="2561461"/>
            <a:ext cx="8963400" cy="1695300"/>
          </a:xfrm>
          <a:prstGeom prst="rect">
            <a:avLst/>
          </a:prstGeom>
          <a:noFill/>
          <a:ln>
            <a:noFill/>
          </a:ln>
        </p:spPr>
        <p:txBody>
          <a:bodyPr anchorCtr="0" anchor="ctr" bIns="34800" lIns="69650" spcFirstLastPara="1" rIns="69650" wrap="square" tIns="34800">
            <a:normAutofit/>
          </a:bodyPr>
          <a:lstStyle/>
          <a:p>
            <a:pPr indent="0" lvl="0" marL="0" marR="0" rtl="0" algn="ctr">
              <a:lnSpc>
                <a:spcPct val="90000"/>
              </a:lnSpc>
              <a:spcBef>
                <a:spcPts val="0"/>
              </a:spcBef>
              <a:spcAft>
                <a:spcPts val="0"/>
              </a:spcAft>
              <a:buClr>
                <a:srgbClr val="000000"/>
              </a:buClr>
              <a:buSzPts val="3352"/>
              <a:buFont typeface="Arial"/>
              <a:buNone/>
            </a:pPr>
            <a:r>
              <a:rPr lang="en" sz="3352">
                <a:solidFill>
                  <a:srgbClr val="000000"/>
                </a:solidFill>
                <a:latin typeface="Arial"/>
                <a:ea typeface="Arial"/>
                <a:cs typeface="Arial"/>
                <a:sym typeface="Arial"/>
              </a:rPr>
              <a:t>Mental processes must be </a:t>
            </a:r>
            <a:r>
              <a:rPr b="1" lang="en" sz="3352">
                <a:solidFill>
                  <a:srgbClr val="000000"/>
                </a:solidFill>
                <a:latin typeface="Arial"/>
                <a:ea typeface="Arial"/>
                <a:cs typeface="Arial"/>
                <a:sym typeface="Arial"/>
              </a:rPr>
              <a:t>inferred from </a:t>
            </a:r>
            <a:r>
              <a:rPr lang="en" sz="3352">
                <a:solidFill>
                  <a:srgbClr val="000000"/>
                </a:solidFill>
                <a:latin typeface="Arial"/>
                <a:ea typeface="Arial"/>
                <a:cs typeface="Arial"/>
                <a:sym typeface="Arial"/>
              </a:rPr>
              <a:t>observable phenomena </a:t>
            </a:r>
            <a:br>
              <a:rPr lang="en" sz="3352">
                <a:solidFill>
                  <a:srgbClr val="000000"/>
                </a:solidFill>
                <a:latin typeface="Arial"/>
                <a:ea typeface="Arial"/>
                <a:cs typeface="Arial"/>
                <a:sym typeface="Arial"/>
              </a:rPr>
            </a:br>
            <a:r>
              <a:rPr lang="en" sz="3352">
                <a:solidFill>
                  <a:srgbClr val="000000"/>
                </a:solidFill>
                <a:latin typeface="Arial"/>
                <a:ea typeface="Arial"/>
                <a:cs typeface="Arial"/>
                <a:sym typeface="Arial"/>
              </a:rPr>
              <a:t>(behavior, brain responses, etc.)</a:t>
            </a:r>
            <a:endParaRPr sz="1066"/>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p:nvPr/>
        </p:nvSpPr>
        <p:spPr>
          <a:xfrm>
            <a:off x="7951259" y="1426494"/>
            <a:ext cx="374700" cy="1887000"/>
          </a:xfrm>
          <a:prstGeom prst="rtTriangle">
            <a:avLst/>
          </a:prstGeom>
          <a:solidFill>
            <a:schemeClr val="lt2"/>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1" name="Google Shape;91;p18"/>
          <p:cNvSpPr/>
          <p:nvPr/>
        </p:nvSpPr>
        <p:spPr>
          <a:xfrm>
            <a:off x="7513316" y="1428784"/>
            <a:ext cx="438000" cy="1882800"/>
          </a:xfrm>
          <a:prstGeom prst="rect">
            <a:avLst/>
          </a:prstGeom>
          <a:solidFill>
            <a:schemeClr val="lt2"/>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2" name="Google Shape;92;p18"/>
          <p:cNvSpPr/>
          <p:nvPr/>
        </p:nvSpPr>
        <p:spPr>
          <a:xfrm>
            <a:off x="7531442" y="1097008"/>
            <a:ext cx="347700" cy="329400"/>
          </a:xfrm>
          <a:prstGeom prst="flowChartConnector">
            <a:avLst/>
          </a:prstGeom>
          <a:solidFill>
            <a:srgbClr val="00B150"/>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3" name="Google Shape;93;p18"/>
          <p:cNvSpPr/>
          <p:nvPr/>
        </p:nvSpPr>
        <p:spPr>
          <a:xfrm>
            <a:off x="3708832" y="1427627"/>
            <a:ext cx="3059700" cy="1887000"/>
          </a:xfrm>
          <a:prstGeom prst="rtTriangle">
            <a:avLst/>
          </a:prstGeom>
          <a:solidFill>
            <a:schemeClr val="lt2"/>
          </a:solidFill>
          <a:ln cap="flat" cmpd="sng" w="9000">
            <a:solidFill>
              <a:schemeClr val="dk2"/>
            </a:solidFill>
            <a:prstDash val="solid"/>
            <a:round/>
            <a:headEnd len="sm" w="sm" type="none"/>
            <a:tailEnd len="sm" w="sm" type="none"/>
          </a:ln>
        </p:spPr>
        <p:txBody>
          <a:bodyPr anchorCtr="0" anchor="ctr" bIns="86325" lIns="86325" spcFirstLastPara="1" rIns="86325" wrap="square" tIns="86325">
            <a:noAutofit/>
          </a:bodyPr>
          <a:lstStyle/>
          <a:p>
            <a:pPr indent="0" lvl="0" marL="0" rtl="0" algn="ctr">
              <a:spcBef>
                <a:spcPts val="0"/>
              </a:spcBef>
              <a:spcAft>
                <a:spcPts val="0"/>
              </a:spcAft>
              <a:buNone/>
            </a:pPr>
            <a:r>
              <a:t/>
            </a:r>
            <a:endParaRPr sz="1322"/>
          </a:p>
        </p:txBody>
      </p:sp>
      <p:sp>
        <p:nvSpPr>
          <p:cNvPr id="94" name="Google Shape;94;p18"/>
          <p:cNvSpPr/>
          <p:nvPr/>
        </p:nvSpPr>
        <p:spPr>
          <a:xfrm>
            <a:off x="3270840" y="1429894"/>
            <a:ext cx="438000" cy="1882800"/>
          </a:xfrm>
          <a:prstGeom prst="rect">
            <a:avLst/>
          </a:prstGeom>
          <a:solidFill>
            <a:schemeClr val="lt2"/>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5" name="Google Shape;95;p18"/>
          <p:cNvSpPr/>
          <p:nvPr/>
        </p:nvSpPr>
        <p:spPr>
          <a:xfrm>
            <a:off x="947748" y="1404986"/>
            <a:ext cx="1899600" cy="1887000"/>
          </a:xfrm>
          <a:prstGeom prst="rtTriangle">
            <a:avLst/>
          </a:prstGeom>
          <a:solidFill>
            <a:schemeClr val="lt2"/>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6" name="Google Shape;96;p18"/>
          <p:cNvSpPr/>
          <p:nvPr/>
        </p:nvSpPr>
        <p:spPr>
          <a:xfrm>
            <a:off x="509800" y="1407276"/>
            <a:ext cx="438000" cy="1882800"/>
          </a:xfrm>
          <a:prstGeom prst="rect">
            <a:avLst/>
          </a:prstGeom>
          <a:solidFill>
            <a:schemeClr val="lt2"/>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7" name="Google Shape;97;p18"/>
          <p:cNvSpPr/>
          <p:nvPr/>
        </p:nvSpPr>
        <p:spPr>
          <a:xfrm>
            <a:off x="527926" y="1075500"/>
            <a:ext cx="347700" cy="329400"/>
          </a:xfrm>
          <a:prstGeom prst="flowChartConnector">
            <a:avLst/>
          </a:prstGeom>
          <a:solidFill>
            <a:srgbClr val="4472C4"/>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8" name="Google Shape;98;p18"/>
          <p:cNvSpPr/>
          <p:nvPr/>
        </p:nvSpPr>
        <p:spPr>
          <a:xfrm>
            <a:off x="3316022" y="1095875"/>
            <a:ext cx="347700" cy="329400"/>
          </a:xfrm>
          <a:prstGeom prst="flowChartConnector">
            <a:avLst/>
          </a:prstGeom>
          <a:solidFill>
            <a:srgbClr val="ED7D31"/>
          </a:solidFill>
          <a:ln cap="flat" cmpd="sng" w="6575">
            <a:solidFill>
              <a:schemeClr val="dk2"/>
            </a:solidFill>
            <a:prstDash val="solid"/>
            <a:round/>
            <a:headEnd len="sm" w="sm" type="none"/>
            <a:tailEnd len="sm" w="sm" type="none"/>
          </a:ln>
        </p:spPr>
        <p:txBody>
          <a:bodyPr anchorCtr="0" anchor="ctr" bIns="63325" lIns="63325" spcFirstLastPara="1" rIns="63325" wrap="square" tIns="63325">
            <a:noAutofit/>
          </a:bodyPr>
          <a:lstStyle/>
          <a:p>
            <a:pPr indent="0" lvl="0" marL="0" rtl="0" algn="ctr">
              <a:spcBef>
                <a:spcPts val="0"/>
              </a:spcBef>
              <a:spcAft>
                <a:spcPts val="0"/>
              </a:spcAft>
              <a:buNone/>
            </a:pPr>
            <a:r>
              <a:t/>
            </a:r>
            <a:endParaRPr sz="970"/>
          </a:p>
        </p:txBody>
      </p:sp>
      <p:sp>
        <p:nvSpPr>
          <p:cNvPr id="99" name="Google Shape;99;p18"/>
          <p:cNvSpPr txBox="1"/>
          <p:nvPr/>
        </p:nvSpPr>
        <p:spPr>
          <a:xfrm>
            <a:off x="666250" y="400275"/>
            <a:ext cx="7340400" cy="5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Consider a very straightforward experiment</a:t>
            </a:r>
            <a:endParaRPr sz="1800">
              <a:solidFill>
                <a:schemeClr val="dk2"/>
              </a:solidFill>
            </a:endParaRPr>
          </a:p>
        </p:txBody>
      </p:sp>
      <p:sp>
        <p:nvSpPr>
          <p:cNvPr id="100" name="Google Shape;100;p18"/>
          <p:cNvSpPr txBox="1"/>
          <p:nvPr/>
        </p:nvSpPr>
        <p:spPr>
          <a:xfrm>
            <a:off x="379425" y="3503325"/>
            <a:ext cx="85530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If we’re testing the effect of ramp characteristics on the time it takes for the marbles to reach the ground, we have directly observable phenomena. </a:t>
            </a:r>
            <a:endParaRPr sz="1800">
              <a:solidFill>
                <a:schemeClr val="dk2"/>
              </a:solidFill>
            </a:endParaRPr>
          </a:p>
        </p:txBody>
      </p:sp>
      <p:sp>
        <p:nvSpPr>
          <p:cNvPr id="101" name="Google Shape;101;p18"/>
          <p:cNvSpPr txBox="1"/>
          <p:nvPr/>
        </p:nvSpPr>
        <p:spPr>
          <a:xfrm>
            <a:off x="1985625" y="4272550"/>
            <a:ext cx="6506100" cy="5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But the world is not always so forgiving!</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311700" y="778975"/>
            <a:ext cx="8520600" cy="19596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3352"/>
              <a:buFont typeface="Arial"/>
              <a:buNone/>
            </a:pPr>
            <a:r>
              <a:rPr lang="en" sz="3352">
                <a:solidFill>
                  <a:schemeClr val="dk1"/>
                </a:solidFill>
              </a:rPr>
              <a:t>Mental processes must be </a:t>
            </a:r>
            <a:r>
              <a:rPr b="1" lang="en" sz="3352">
                <a:solidFill>
                  <a:schemeClr val="dk1"/>
                </a:solidFill>
              </a:rPr>
              <a:t>inferred from </a:t>
            </a:r>
            <a:r>
              <a:rPr lang="en" sz="3352">
                <a:solidFill>
                  <a:schemeClr val="dk1"/>
                </a:solidFill>
              </a:rPr>
              <a:t>observable phenomena </a:t>
            </a:r>
            <a:br>
              <a:rPr lang="en" sz="3352">
                <a:solidFill>
                  <a:schemeClr val="dk1"/>
                </a:solidFill>
              </a:rPr>
            </a:br>
            <a:r>
              <a:rPr lang="en" sz="3352">
                <a:solidFill>
                  <a:schemeClr val="dk1"/>
                </a:solidFill>
              </a:rPr>
              <a:t>(behavior, brain responses, etc.)</a:t>
            </a:r>
            <a:endParaRPr sz="1066">
              <a:solidFill>
                <a:schemeClr val="dk1"/>
              </a:solidFill>
            </a:endParaRPr>
          </a:p>
          <a:p>
            <a:pPr indent="0" lvl="0" marL="0" rtl="0" algn="l">
              <a:spcBef>
                <a:spcPts val="0"/>
              </a:spcBef>
              <a:spcAft>
                <a:spcPts val="1200"/>
              </a:spcAft>
              <a:buNone/>
            </a:pPr>
            <a:r>
              <a:t/>
            </a:r>
            <a:endParaRPr/>
          </a:p>
        </p:txBody>
      </p:sp>
      <p:sp>
        <p:nvSpPr>
          <p:cNvPr id="107" name="Google Shape;107;p19"/>
          <p:cNvSpPr txBox="1"/>
          <p:nvPr>
            <p:ph idx="1" type="body"/>
          </p:nvPr>
        </p:nvSpPr>
        <p:spPr>
          <a:xfrm>
            <a:off x="311700" y="2738575"/>
            <a:ext cx="8520600" cy="1959600"/>
          </a:xfrm>
          <a:prstGeom prst="rect">
            <a:avLst/>
          </a:prstGeom>
        </p:spPr>
        <p:txBody>
          <a:bodyPr anchorCtr="0" anchor="t" bIns="91425" lIns="91425" spcFirstLastPara="1" rIns="91425" wrap="square" tIns="91425">
            <a:normAutofit fontScale="85000" lnSpcReduction="20000"/>
          </a:bodyPr>
          <a:lstStyle/>
          <a:p>
            <a:pPr indent="0" lvl="0" marL="0" rtl="0" algn="ctr">
              <a:lnSpc>
                <a:spcPct val="90000"/>
              </a:lnSpc>
              <a:spcBef>
                <a:spcPts val="0"/>
              </a:spcBef>
              <a:spcAft>
                <a:spcPts val="0"/>
              </a:spcAft>
              <a:buClr>
                <a:schemeClr val="dk1"/>
              </a:buClr>
              <a:buSzPct val="100000"/>
              <a:buFont typeface="Arial"/>
              <a:buNone/>
            </a:pPr>
            <a:r>
              <a:rPr lang="en" sz="3352">
                <a:solidFill>
                  <a:schemeClr val="dk1"/>
                </a:solidFill>
              </a:rPr>
              <a:t>In other words, we study the things that arise </a:t>
            </a:r>
            <a:r>
              <a:rPr b="1" lang="en" sz="3352">
                <a:solidFill>
                  <a:schemeClr val="dk1"/>
                </a:solidFill>
              </a:rPr>
              <a:t>as a result of the mind.</a:t>
            </a:r>
            <a:endParaRPr b="1" sz="3352">
              <a:solidFill>
                <a:schemeClr val="dk1"/>
              </a:solidFill>
            </a:endParaRPr>
          </a:p>
          <a:p>
            <a:pPr indent="0" lvl="0" marL="0" rtl="0" algn="ctr">
              <a:lnSpc>
                <a:spcPct val="90000"/>
              </a:lnSpc>
              <a:spcBef>
                <a:spcPts val="0"/>
              </a:spcBef>
              <a:spcAft>
                <a:spcPts val="0"/>
              </a:spcAft>
              <a:buClr>
                <a:schemeClr val="dk1"/>
              </a:buClr>
              <a:buSzPct val="100000"/>
              <a:buFont typeface="Arial"/>
              <a:buNone/>
            </a:pPr>
            <a:r>
              <a:t/>
            </a:r>
            <a:endParaRPr sz="3352">
              <a:solidFill>
                <a:schemeClr val="dk1"/>
              </a:solidFill>
            </a:endParaRPr>
          </a:p>
          <a:p>
            <a:pPr indent="0" lvl="0" marL="0" rtl="0" algn="ctr">
              <a:lnSpc>
                <a:spcPct val="90000"/>
              </a:lnSpc>
              <a:spcBef>
                <a:spcPts val="0"/>
              </a:spcBef>
              <a:spcAft>
                <a:spcPts val="0"/>
              </a:spcAft>
              <a:buClr>
                <a:schemeClr val="dk1"/>
              </a:buClr>
              <a:buSzPct val="100000"/>
              <a:buFont typeface="Arial"/>
              <a:buNone/>
            </a:pPr>
            <a:r>
              <a:rPr lang="en" sz="3352">
                <a:solidFill>
                  <a:schemeClr val="dk1"/>
                </a:solidFill>
              </a:rPr>
              <a:t>The same way gravity might not be directly observable, we can study its effects.</a:t>
            </a:r>
            <a:endParaRPr sz="3352">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A two-part illustration, labeled A and B, shows a reaction time experiment with a person seated in front of a computer, fingers positioned over the keyboard. Part A: The instructions read, Press J when the light goes on. The computer monitor displays a single circular light, which is lit up. Part B: The instructions read, Press J for left light, K for right. The monitor now shows two circular lights side by side, labeled L below the left light and R below the right light. The left light is brighter and flashing, while the right light remains unlit." id="113" name="Google Shape;113;p20"/>
          <p:cNvPicPr preferRelativeResize="0"/>
          <p:nvPr/>
        </p:nvPicPr>
        <p:blipFill rotWithShape="1">
          <a:blip r:embed="rId3">
            <a:alphaModFix/>
          </a:blip>
          <a:srcRect b="0" l="0" r="50551" t="0"/>
          <a:stretch/>
        </p:blipFill>
        <p:spPr>
          <a:xfrm>
            <a:off x="628650" y="1163322"/>
            <a:ext cx="2311772" cy="1794791"/>
          </a:xfrm>
          <a:prstGeom prst="rect">
            <a:avLst/>
          </a:prstGeom>
          <a:noFill/>
          <a:ln>
            <a:noFill/>
          </a:ln>
        </p:spPr>
      </p:pic>
      <p:pic>
        <p:nvPicPr>
          <p:cNvPr descr="A two-part illustration, labeled A and B, shows a reaction time experiment with a person seated in front of a computer, fingers positioned over the keyboard. Part A: The instructions read, Press J when the light goes on. The computer monitor displays a single circular light, which is lit up. Part B: The instructions read, Press J for left light, K for right. The monitor now shows two circular lights side by side, labeled L below the left light and R below the right light. The left light is brighter and flashing, while the right light remains unlit." id="114" name="Google Shape;114;p20"/>
          <p:cNvPicPr preferRelativeResize="0"/>
          <p:nvPr/>
        </p:nvPicPr>
        <p:blipFill rotWithShape="1">
          <a:blip r:embed="rId3">
            <a:alphaModFix/>
          </a:blip>
          <a:srcRect b="0" l="48456" r="0" t="0"/>
          <a:stretch/>
        </p:blipFill>
        <p:spPr>
          <a:xfrm>
            <a:off x="579707" y="3063861"/>
            <a:ext cx="2409672" cy="1794791"/>
          </a:xfrm>
          <a:prstGeom prst="rect">
            <a:avLst/>
          </a:prstGeom>
          <a:noFill/>
          <a:ln>
            <a:noFill/>
          </a:ln>
        </p:spPr>
      </p:pic>
      <p:sp>
        <p:nvSpPr>
          <p:cNvPr id="115" name="Google Shape;115;p20"/>
          <p:cNvSpPr txBox="1"/>
          <p:nvPr>
            <p:ph type="title"/>
          </p:nvPr>
        </p:nvSpPr>
        <p:spPr>
          <a:xfrm>
            <a:off x="656753" y="16911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300"/>
              <a:buFont typeface="Arial"/>
              <a:buNone/>
            </a:pPr>
            <a:r>
              <a:rPr lang="en">
                <a:latin typeface="Arial"/>
                <a:ea typeface="Arial"/>
                <a:cs typeface="Arial"/>
                <a:sym typeface="Arial"/>
              </a:rPr>
              <a:t>Clever experiments can </a:t>
            </a:r>
            <a:br>
              <a:rPr lang="en">
                <a:latin typeface="Arial"/>
                <a:ea typeface="Arial"/>
                <a:cs typeface="Arial"/>
                <a:sym typeface="Arial"/>
              </a:rPr>
            </a:br>
            <a:r>
              <a:rPr b="1" lang="en">
                <a:latin typeface="Arial"/>
                <a:ea typeface="Arial"/>
                <a:cs typeface="Arial"/>
                <a:sym typeface="Arial"/>
              </a:rPr>
              <a:t>isolate mental processes of interest</a:t>
            </a:r>
            <a:endParaRPr>
              <a:latin typeface="Arial"/>
              <a:ea typeface="Arial"/>
              <a:cs typeface="Arial"/>
              <a:sym typeface="Arial"/>
            </a:endParaRPr>
          </a:p>
        </p:txBody>
      </p:sp>
      <p:pic>
        <p:nvPicPr>
          <p:cNvPr descr="Two flow diagrams, labeled A and B, illustrate the sequence of events from the presentation of a stimulus to the behavioral response in a reaction time experiment. Diagram A: The sequence flows vertically from top to bottom, beginning with the stimulus, Light flashes, followed by the mental response, Perceive the light, and ending with the behavioral response, Press button. A dashed arrow labeled Reaction Time connects light flashes to press button. Diagram B: The sequence flows from top to bottom, starting with the stimulus, Left light flashes, then the mental responses, Perceive left light and Decide which button to push, and concluding with the behavioral response, Press left button. A dashed arrow labeled Reaction Time connects Left light flashes to Press left button." id="116" name="Google Shape;116;p20"/>
          <p:cNvPicPr preferRelativeResize="0"/>
          <p:nvPr/>
        </p:nvPicPr>
        <p:blipFill rotWithShape="1">
          <a:blip r:embed="rId4">
            <a:alphaModFix/>
          </a:blip>
          <a:srcRect b="0" l="82482" r="0" t="0"/>
          <a:stretch/>
        </p:blipFill>
        <p:spPr>
          <a:xfrm>
            <a:off x="7453859" y="1737863"/>
            <a:ext cx="815595" cy="2537461"/>
          </a:xfrm>
          <a:prstGeom prst="rect">
            <a:avLst/>
          </a:prstGeom>
          <a:noFill/>
          <a:ln>
            <a:noFill/>
          </a:ln>
        </p:spPr>
      </p:pic>
      <p:pic>
        <p:nvPicPr>
          <p:cNvPr descr="Two flow diagrams, labeled A and B, illustrate the sequence of events from the presentation of a stimulus to the behavioral response in a reaction time experiment. Diagram A: The sequence flows vertically from top to bottom, beginning with the stimulus, Light flashes, followed by the mental response, Perceive the light, and ending with the behavioral response, Press button. A dashed arrow labeled Reaction Time connects light flashes to press button. Diagram B: The sequence flows from top to bottom, starting with the stimulus, Left light flashes, then the mental responses, Perceive left light and Decide which button to push, and concluding with the behavioral response, Press left button. A dashed arrow labeled Reaction Time connects Left light flashes to Press left button." id="117" name="Google Shape;117;p20"/>
          <p:cNvPicPr preferRelativeResize="0"/>
          <p:nvPr/>
        </p:nvPicPr>
        <p:blipFill rotWithShape="1">
          <a:blip r:embed="rId4">
            <a:alphaModFix/>
          </a:blip>
          <a:srcRect b="0" l="40221" r="17520" t="0"/>
          <a:stretch/>
        </p:blipFill>
        <p:spPr>
          <a:xfrm>
            <a:off x="5193428" y="1696563"/>
            <a:ext cx="1967459" cy="2537461"/>
          </a:xfrm>
          <a:prstGeom prst="rect">
            <a:avLst/>
          </a:prstGeom>
          <a:noFill/>
          <a:ln>
            <a:noFill/>
          </a:ln>
        </p:spPr>
      </p:pic>
      <p:sp>
        <p:nvSpPr>
          <p:cNvPr id="118" name="Google Shape;118;p20"/>
          <p:cNvSpPr txBox="1"/>
          <p:nvPr/>
        </p:nvSpPr>
        <p:spPr>
          <a:xfrm>
            <a:off x="7498829" y="4267377"/>
            <a:ext cx="1207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Donders (1868)</a:t>
            </a:r>
            <a:endParaRPr sz="1100"/>
          </a:p>
        </p:txBody>
      </p:sp>
      <p:sp>
        <p:nvSpPr>
          <p:cNvPr id="119" name="Google Shape;119;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pic>
        <p:nvPicPr>
          <p:cNvPr descr="Two flow diagrams, labeled A and B, illustrate the sequence of events from the presentation of a stimulus to the behavioral response in a reaction time experiment. Diagram A: The sequence flows vertically from top to bottom, beginning with the stimulus, Light flashes, followed by the mental response, Perceive the light, and ending with the behavioral response, Press button. A dashed arrow labeled Reaction Time connects light flashes to press button. Diagram B: The sequence flows from top to bottom, starting with the stimulus, Left light flashes, then the mental responses, Perceive left light and Decide which button to push, and concluding with the behavioral response, Press left button. A dashed arrow labeled Reaction Time connects Left light flashes to Press left button." id="120" name="Google Shape;120;p20"/>
          <p:cNvPicPr preferRelativeResize="0"/>
          <p:nvPr/>
        </p:nvPicPr>
        <p:blipFill rotWithShape="1">
          <a:blip r:embed="rId4">
            <a:alphaModFix/>
          </a:blip>
          <a:srcRect b="0" l="0" r="61709" t="0"/>
          <a:stretch/>
        </p:blipFill>
        <p:spPr>
          <a:xfrm>
            <a:off x="3350525" y="1737863"/>
            <a:ext cx="1782696" cy="2537461"/>
          </a:xfrm>
          <a:prstGeom prst="rect">
            <a:avLst/>
          </a:prstGeom>
          <a:noFill/>
          <a:ln>
            <a:noFill/>
          </a:ln>
        </p:spPr>
      </p:pic>
      <p:sp>
        <p:nvSpPr>
          <p:cNvPr id="121" name="Google Shape;121;p20"/>
          <p:cNvSpPr txBox="1"/>
          <p:nvPr/>
        </p:nvSpPr>
        <p:spPr>
          <a:xfrm>
            <a:off x="3880125" y="4618050"/>
            <a:ext cx="1253100" cy="3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~200 ms</a:t>
            </a:r>
            <a:endParaRPr sz="1800">
              <a:solidFill>
                <a:schemeClr val="dk2"/>
              </a:solidFill>
            </a:endParaRPr>
          </a:p>
        </p:txBody>
      </p:sp>
      <p:sp>
        <p:nvSpPr>
          <p:cNvPr id="122" name="Google Shape;122;p20"/>
          <p:cNvSpPr txBox="1"/>
          <p:nvPr/>
        </p:nvSpPr>
        <p:spPr>
          <a:xfrm>
            <a:off x="6148725" y="4698875"/>
            <a:ext cx="14082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~300 ms</a:t>
            </a:r>
            <a:endParaRPr sz="1800">
              <a:solidFill>
                <a:schemeClr val="dk2"/>
              </a:solidFill>
            </a:endParaRPr>
          </a:p>
        </p:txBody>
      </p:sp>
      <p:sp>
        <p:nvSpPr>
          <p:cNvPr id="123" name="Google Shape;123;p20"/>
          <p:cNvSpPr txBox="1"/>
          <p:nvPr/>
        </p:nvSpPr>
        <p:spPr>
          <a:xfrm>
            <a:off x="170450" y="1369675"/>
            <a:ext cx="8859300" cy="1382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dk1"/>
                </a:solidFill>
              </a:rPr>
              <a:t>If there’s a 100 ms difference between the choice condition and non-choice condition, we can infer that making a choice takes roughly 100 ms</a:t>
            </a:r>
            <a:endParaRPr sz="2800">
              <a:solidFill>
                <a:schemeClr val="dk1"/>
              </a:solidFill>
            </a:endParaRPr>
          </a:p>
        </p:txBody>
      </p:sp>
      <p:sp>
        <p:nvSpPr>
          <p:cNvPr id="124" name="Google Shape;124;p20"/>
          <p:cNvSpPr txBox="1"/>
          <p:nvPr/>
        </p:nvSpPr>
        <p:spPr>
          <a:xfrm>
            <a:off x="284700" y="2893225"/>
            <a:ext cx="8859300" cy="1382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dk1"/>
                </a:solidFill>
              </a:rPr>
              <a:t>But we never “see” that decision happen; we only see the effect it has on timing!</a:t>
            </a:r>
            <a:endParaRPr sz="2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Perception Recap</a:t>
            </a:r>
            <a:endParaRPr/>
          </a:p>
        </p:txBody>
      </p:sp>
      <p:sp>
        <p:nvSpPr>
          <p:cNvPr id="130" name="Google Shape;130;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9/2/2026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Perception is ambiguous</a:t>
            </a:r>
            <a:endParaRPr/>
          </a:p>
        </p:txBody>
      </p:sp>
      <p:pic>
        <p:nvPicPr>
          <p:cNvPr descr="An illustration shows various objects that create the same image on the retina. A cross-section of the eye is on the left and a book with a red boundary is on the right. A smaller image is formed on the retina, at the back of the eye. Rays from all corners of the image extend to meet at the lens and then diverge to reach the book on the right, further extrapolate to form a large, titled trapezoid, and further extrapolate to form a large, rectangular object. These three objects create the same image on the retina. " id="136" name="Google Shape;136;p22"/>
          <p:cNvPicPr preferRelativeResize="0"/>
          <p:nvPr/>
        </p:nvPicPr>
        <p:blipFill rotWithShape="1">
          <a:blip r:embed="rId3">
            <a:alphaModFix/>
          </a:blip>
          <a:srcRect b="0" l="0" r="0" t="0"/>
          <a:stretch/>
        </p:blipFill>
        <p:spPr>
          <a:xfrm>
            <a:off x="311700" y="1017724"/>
            <a:ext cx="6928250" cy="2485850"/>
          </a:xfrm>
          <a:prstGeom prst="rect">
            <a:avLst/>
          </a:prstGeom>
          <a:noFill/>
          <a:ln>
            <a:noFill/>
          </a:ln>
        </p:spPr>
      </p:pic>
      <p:sp>
        <p:nvSpPr>
          <p:cNvPr id="137" name="Google Shape;137;p22"/>
          <p:cNvSpPr/>
          <p:nvPr/>
        </p:nvSpPr>
        <p:spPr>
          <a:xfrm>
            <a:off x="7432875" y="1596150"/>
            <a:ext cx="1609500" cy="2360400"/>
          </a:xfrm>
          <a:prstGeom prst="rect">
            <a:avLst/>
          </a:prstGeom>
          <a:solidFill>
            <a:srgbClr val="CBD4ED"/>
          </a:solidFill>
          <a:ln cap="flat" cmpd="sng" w="2857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2"/>
          <p:cNvSpPr txBox="1"/>
          <p:nvPr/>
        </p:nvSpPr>
        <p:spPr>
          <a:xfrm>
            <a:off x="688011" y="3503567"/>
            <a:ext cx="53583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2800">
                <a:solidFill>
                  <a:srgbClr val="000000"/>
                </a:solidFill>
                <a:latin typeface="Arial"/>
                <a:ea typeface="Arial"/>
                <a:cs typeface="Arial"/>
                <a:sym typeface="Arial"/>
              </a:rPr>
              <a:t>Inverse projection problem: </a:t>
            </a:r>
            <a:r>
              <a:rPr lang="en" sz="2800">
                <a:solidFill>
                  <a:srgbClr val="000000"/>
                </a:solidFill>
                <a:latin typeface="Arial"/>
                <a:ea typeface="Arial"/>
                <a:cs typeface="Arial"/>
                <a:sym typeface="Arial"/>
              </a:rPr>
              <a:t>Multiple 3D objects can give rise to same 2D image on retina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4" name="Google Shape;14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3"/>
          <p:cNvPicPr preferRelativeResize="0"/>
          <p:nvPr/>
        </p:nvPicPr>
        <p:blipFill>
          <a:blip r:embed="rId3">
            <a:alphaModFix/>
          </a:blip>
          <a:stretch>
            <a:fillRect/>
          </a:stretch>
        </p:blipFill>
        <p:spPr>
          <a:xfrm>
            <a:off x="66488" y="0"/>
            <a:ext cx="9011026"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311700" y="2764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chemeClr val="dk1"/>
                </a:solidFill>
              </a:rPr>
              <a:t>The eyeball doesn’t automatically “know” what it’s looking at. </a:t>
            </a:r>
            <a:endParaRPr sz="2200">
              <a:solidFill>
                <a:schemeClr val="dk1"/>
              </a:solidFill>
            </a:endParaRPr>
          </a:p>
          <a:p>
            <a:pPr indent="0" lvl="0" marL="0" rtl="0" algn="l">
              <a:spcBef>
                <a:spcPts val="1200"/>
              </a:spcBef>
              <a:spcAft>
                <a:spcPts val="0"/>
              </a:spcAft>
              <a:buNone/>
            </a:pPr>
            <a:r>
              <a:t/>
            </a:r>
            <a:endParaRPr sz="2200">
              <a:solidFill>
                <a:schemeClr val="dk1"/>
              </a:solidFill>
            </a:endParaRPr>
          </a:p>
          <a:p>
            <a:pPr indent="0" lvl="0" marL="0" rtl="0" algn="l">
              <a:spcBef>
                <a:spcPts val="1200"/>
              </a:spcBef>
              <a:spcAft>
                <a:spcPts val="0"/>
              </a:spcAft>
              <a:buNone/>
            </a:pPr>
            <a:r>
              <a:rPr lang="en" sz="2200">
                <a:solidFill>
                  <a:schemeClr val="dk1"/>
                </a:solidFill>
              </a:rPr>
              <a:t>From its perspective, light is exciting cells on the retina, which means it could be multiple things.</a:t>
            </a:r>
            <a:endParaRPr sz="2200">
              <a:solidFill>
                <a:schemeClr val="dk1"/>
              </a:solidFill>
            </a:endParaRPr>
          </a:p>
          <a:p>
            <a:pPr indent="0" lvl="0" marL="0" rtl="0" algn="l">
              <a:spcBef>
                <a:spcPts val="1200"/>
              </a:spcBef>
              <a:spcAft>
                <a:spcPts val="0"/>
              </a:spcAft>
              <a:buNone/>
            </a:pPr>
            <a:r>
              <a:t/>
            </a:r>
            <a:endParaRPr sz="2200">
              <a:solidFill>
                <a:schemeClr val="dk1"/>
              </a:solidFill>
            </a:endParaRPr>
          </a:p>
          <a:p>
            <a:pPr indent="0" lvl="0" marL="0" rtl="0" algn="l">
              <a:spcBef>
                <a:spcPts val="1200"/>
              </a:spcBef>
              <a:spcAft>
                <a:spcPts val="1200"/>
              </a:spcAft>
              <a:buNone/>
            </a:pPr>
            <a:r>
              <a:t/>
            </a:r>
            <a:endParaRPr sz="2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 non-visual example</a:t>
            </a:r>
            <a:endParaRPr b="1"/>
          </a:p>
        </p:txBody>
      </p:sp>
      <p:sp>
        <p:nvSpPr>
          <p:cNvPr id="156" name="Google Shape;15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solidFill>
                  <a:schemeClr val="dk1"/>
                </a:solidFill>
              </a:rPr>
              <a:t>How to recognize speech.</a:t>
            </a:r>
            <a:endParaRPr sz="3300">
              <a:solidFill>
                <a:schemeClr val="dk1"/>
              </a:solidFill>
            </a:endParaRPr>
          </a:p>
          <a:p>
            <a:pPr indent="0" lvl="0" marL="0" rtl="0" algn="l">
              <a:spcBef>
                <a:spcPts val="1200"/>
              </a:spcBef>
              <a:spcAft>
                <a:spcPts val="0"/>
              </a:spcAft>
              <a:buNone/>
            </a:pPr>
            <a:r>
              <a:t/>
            </a:r>
            <a:endParaRPr sz="3300">
              <a:solidFill>
                <a:schemeClr val="dk1"/>
              </a:solidFill>
            </a:endParaRPr>
          </a:p>
          <a:p>
            <a:pPr indent="0" lvl="0" marL="0" rtl="0" algn="l">
              <a:spcBef>
                <a:spcPts val="1200"/>
              </a:spcBef>
              <a:spcAft>
                <a:spcPts val="1200"/>
              </a:spcAft>
              <a:buNone/>
            </a:pPr>
            <a:r>
              <a:rPr lang="en" sz="3300">
                <a:solidFill>
                  <a:schemeClr val="dk1"/>
                </a:solidFill>
              </a:rPr>
              <a:t>How to wreck a nice beach.</a:t>
            </a:r>
            <a:endParaRPr sz="3300">
              <a:solidFill>
                <a:schemeClr val="dk1"/>
              </a:solidFill>
            </a:endParaRPr>
          </a:p>
        </p:txBody>
      </p:sp>
      <p:sp>
        <p:nvSpPr>
          <p:cNvPr id="157" name="Google Shape;157;p25"/>
          <p:cNvSpPr txBox="1"/>
          <p:nvPr/>
        </p:nvSpPr>
        <p:spPr>
          <a:xfrm>
            <a:off x="688000" y="3503575"/>
            <a:ext cx="77409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2800">
                <a:solidFill>
                  <a:srgbClr val="000000"/>
                </a:solidFill>
                <a:latin typeface="Arial"/>
                <a:ea typeface="Arial"/>
                <a:cs typeface="Arial"/>
                <a:sym typeface="Arial"/>
              </a:rPr>
              <a:t>Inverse projection problem (rephrased): </a:t>
            </a:r>
            <a:r>
              <a:rPr lang="en" sz="2800">
                <a:solidFill>
                  <a:srgbClr val="000000"/>
                </a:solidFill>
                <a:latin typeface="Arial"/>
                <a:ea typeface="Arial"/>
                <a:cs typeface="Arial"/>
                <a:sym typeface="Arial"/>
              </a:rPr>
              <a:t>Multiple </a:t>
            </a:r>
            <a:r>
              <a:rPr lang="en" sz="2800"/>
              <a:t>phrases</a:t>
            </a:r>
            <a:r>
              <a:rPr lang="en" sz="2800">
                <a:solidFill>
                  <a:srgbClr val="000000"/>
                </a:solidFill>
                <a:latin typeface="Arial"/>
                <a:ea typeface="Arial"/>
                <a:cs typeface="Arial"/>
                <a:sym typeface="Arial"/>
              </a:rPr>
              <a:t> can give rise to</a:t>
            </a:r>
            <a:r>
              <a:rPr lang="en" sz="2800"/>
              <a:t> the same acoustic signals in the ear.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 non-visual example (this time with a visual)</a:t>
            </a:r>
            <a:endParaRPr b="1"/>
          </a:p>
        </p:txBody>
      </p:sp>
      <p:pic>
        <p:nvPicPr>
          <p:cNvPr id="163" name="Google Shape;163;p26" title="beach.png"/>
          <p:cNvPicPr preferRelativeResize="0"/>
          <p:nvPr/>
        </p:nvPicPr>
        <p:blipFill>
          <a:blip r:embed="rId3">
            <a:alphaModFix/>
          </a:blip>
          <a:stretch>
            <a:fillRect/>
          </a:stretch>
        </p:blipFill>
        <p:spPr>
          <a:xfrm>
            <a:off x="0" y="1152475"/>
            <a:ext cx="4409073" cy="2938647"/>
          </a:xfrm>
          <a:prstGeom prst="rect">
            <a:avLst/>
          </a:prstGeom>
          <a:noFill/>
          <a:ln>
            <a:noFill/>
          </a:ln>
        </p:spPr>
      </p:pic>
      <p:pic>
        <p:nvPicPr>
          <p:cNvPr id="164" name="Google Shape;164;p26" title="speech.png"/>
          <p:cNvPicPr preferRelativeResize="0"/>
          <p:nvPr/>
        </p:nvPicPr>
        <p:blipFill>
          <a:blip r:embed="rId4">
            <a:alphaModFix/>
          </a:blip>
          <a:stretch>
            <a:fillRect/>
          </a:stretch>
        </p:blipFill>
        <p:spPr>
          <a:xfrm>
            <a:off x="4734925" y="1152475"/>
            <a:ext cx="4409073" cy="2938650"/>
          </a:xfrm>
          <a:prstGeom prst="rect">
            <a:avLst/>
          </a:prstGeom>
          <a:noFill/>
          <a:ln>
            <a:noFill/>
          </a:ln>
        </p:spPr>
      </p:pic>
      <p:sp>
        <p:nvSpPr>
          <p:cNvPr id="165" name="Google Shape;165;p26"/>
          <p:cNvSpPr/>
          <p:nvPr/>
        </p:nvSpPr>
        <p:spPr>
          <a:xfrm>
            <a:off x="2340075" y="1264750"/>
            <a:ext cx="703500" cy="1427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6"/>
          <p:cNvSpPr/>
          <p:nvPr/>
        </p:nvSpPr>
        <p:spPr>
          <a:xfrm rot="-5400000">
            <a:off x="1281500" y="2106750"/>
            <a:ext cx="913200" cy="2651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6"/>
          <p:cNvSpPr/>
          <p:nvPr/>
        </p:nvSpPr>
        <p:spPr>
          <a:xfrm>
            <a:off x="3483100" y="1352675"/>
            <a:ext cx="547800" cy="24822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6"/>
          <p:cNvSpPr/>
          <p:nvPr/>
        </p:nvSpPr>
        <p:spPr>
          <a:xfrm>
            <a:off x="2977050" y="2969875"/>
            <a:ext cx="506100" cy="5727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6"/>
          <p:cNvSpPr/>
          <p:nvPr/>
        </p:nvSpPr>
        <p:spPr>
          <a:xfrm>
            <a:off x="703375" y="3259925"/>
            <a:ext cx="331400" cy="108200"/>
          </a:xfrm>
          <a:custGeom>
            <a:rect b="b" l="l" r="r" t="t"/>
            <a:pathLst>
              <a:path extrusionOk="0" h="4328" w="13256">
                <a:moveTo>
                  <a:pt x="0" y="0"/>
                </a:moveTo>
                <a:cubicBezTo>
                  <a:pt x="4648" y="0"/>
                  <a:pt x="8608" y="4328"/>
                  <a:pt x="13256" y="4328"/>
                </a:cubicBezTo>
              </a:path>
            </a:pathLst>
          </a:custGeom>
          <a:noFill/>
          <a:ln cap="flat" cmpd="sng" w="28575">
            <a:solidFill>
              <a:srgbClr val="FF0000"/>
            </a:solidFill>
            <a:prstDash val="solid"/>
            <a:round/>
            <a:headEnd len="med" w="med" type="none"/>
            <a:tailEnd len="med" w="med" type="none"/>
          </a:ln>
        </p:spPr>
      </p:sp>
      <p:sp>
        <p:nvSpPr>
          <p:cNvPr id="170" name="Google Shape;170;p26"/>
          <p:cNvSpPr/>
          <p:nvPr/>
        </p:nvSpPr>
        <p:spPr>
          <a:xfrm>
            <a:off x="1115950" y="3131425"/>
            <a:ext cx="581650" cy="287300"/>
          </a:xfrm>
          <a:custGeom>
            <a:rect b="b" l="l" r="r" t="t"/>
            <a:pathLst>
              <a:path extrusionOk="0" h="11492" w="23266">
                <a:moveTo>
                  <a:pt x="0" y="0"/>
                </a:moveTo>
                <a:cubicBezTo>
                  <a:pt x="1896" y="4737"/>
                  <a:pt x="5645" y="9690"/>
                  <a:pt x="10551" y="11091"/>
                </a:cubicBezTo>
                <a:cubicBezTo>
                  <a:pt x="14829" y="12313"/>
                  <a:pt x="20120" y="10179"/>
                  <a:pt x="23266" y="7033"/>
                </a:cubicBezTo>
              </a:path>
            </a:pathLst>
          </a:custGeom>
          <a:noFill/>
          <a:ln cap="flat" cmpd="sng" w="28575">
            <a:solidFill>
              <a:srgbClr val="FF0000"/>
            </a:solidFill>
            <a:prstDash val="solid"/>
            <a:round/>
            <a:headEnd len="med" w="med" type="none"/>
            <a:tailEnd len="med" w="med" type="none"/>
          </a:ln>
        </p:spPr>
      </p:sp>
      <p:sp>
        <p:nvSpPr>
          <p:cNvPr id="171" name="Google Shape;171;p26"/>
          <p:cNvSpPr/>
          <p:nvPr/>
        </p:nvSpPr>
        <p:spPr>
          <a:xfrm>
            <a:off x="1826100" y="3124650"/>
            <a:ext cx="784550" cy="94675"/>
          </a:xfrm>
          <a:custGeom>
            <a:rect b="b" l="l" r="r" t="t"/>
            <a:pathLst>
              <a:path extrusionOk="0" h="3787" w="31382">
                <a:moveTo>
                  <a:pt x="0" y="0"/>
                </a:moveTo>
                <a:cubicBezTo>
                  <a:pt x="10537" y="0"/>
                  <a:pt x="20845" y="3787"/>
                  <a:pt x="31382" y="3787"/>
                </a:cubicBezTo>
              </a:path>
            </a:pathLst>
          </a:custGeom>
          <a:noFill/>
          <a:ln cap="flat" cmpd="sng" w="28575">
            <a:solidFill>
              <a:srgbClr val="FF0000"/>
            </a:solidFill>
            <a:prstDash val="solid"/>
            <a:round/>
            <a:headEnd len="med" w="med" type="none"/>
            <a:tailEnd len="med" w="med" type="none"/>
          </a:ln>
        </p:spPr>
      </p:sp>
      <p:sp>
        <p:nvSpPr>
          <p:cNvPr id="172" name="Google Shape;172;p26"/>
          <p:cNvSpPr/>
          <p:nvPr/>
        </p:nvSpPr>
        <p:spPr>
          <a:xfrm>
            <a:off x="1868775" y="3528950"/>
            <a:ext cx="695375" cy="52150"/>
          </a:xfrm>
          <a:custGeom>
            <a:rect b="b" l="l" r="r" t="t"/>
            <a:pathLst>
              <a:path extrusionOk="0" h="2086" w="27815">
                <a:moveTo>
                  <a:pt x="0" y="2086"/>
                </a:moveTo>
                <a:cubicBezTo>
                  <a:pt x="9298" y="2086"/>
                  <a:pt x="18517" y="0"/>
                  <a:pt x="27815" y="0"/>
                </a:cubicBezTo>
              </a:path>
            </a:pathLst>
          </a:custGeom>
          <a:noFill/>
          <a:ln cap="flat" cmpd="sng" w="28575">
            <a:solidFill>
              <a:srgbClr val="FF0000"/>
            </a:solidFill>
            <a:prstDash val="solid"/>
            <a:round/>
            <a:headEnd len="med" w="med" type="none"/>
            <a:tailEnd len="med" w="med" type="none"/>
          </a:ln>
        </p:spPr>
      </p:sp>
      <p:sp>
        <p:nvSpPr>
          <p:cNvPr id="173" name="Google Shape;173;p26"/>
          <p:cNvSpPr/>
          <p:nvPr/>
        </p:nvSpPr>
        <p:spPr>
          <a:xfrm>
            <a:off x="7057813" y="1210725"/>
            <a:ext cx="703500" cy="1427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6"/>
          <p:cNvSpPr/>
          <p:nvPr/>
        </p:nvSpPr>
        <p:spPr>
          <a:xfrm rot="-5400000">
            <a:off x="5999238" y="2052725"/>
            <a:ext cx="913200" cy="2651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6"/>
          <p:cNvSpPr/>
          <p:nvPr/>
        </p:nvSpPr>
        <p:spPr>
          <a:xfrm>
            <a:off x="8200838" y="1298650"/>
            <a:ext cx="547800" cy="24822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6"/>
          <p:cNvSpPr/>
          <p:nvPr/>
        </p:nvSpPr>
        <p:spPr>
          <a:xfrm>
            <a:off x="7694788" y="2915850"/>
            <a:ext cx="506100" cy="5727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6"/>
          <p:cNvSpPr/>
          <p:nvPr/>
        </p:nvSpPr>
        <p:spPr>
          <a:xfrm>
            <a:off x="5421113" y="3205900"/>
            <a:ext cx="331400" cy="108200"/>
          </a:xfrm>
          <a:custGeom>
            <a:rect b="b" l="l" r="r" t="t"/>
            <a:pathLst>
              <a:path extrusionOk="0" h="4328" w="13256">
                <a:moveTo>
                  <a:pt x="0" y="0"/>
                </a:moveTo>
                <a:cubicBezTo>
                  <a:pt x="4648" y="0"/>
                  <a:pt x="8608" y="4328"/>
                  <a:pt x="13256" y="4328"/>
                </a:cubicBezTo>
              </a:path>
            </a:pathLst>
          </a:custGeom>
          <a:noFill/>
          <a:ln cap="flat" cmpd="sng" w="28575">
            <a:solidFill>
              <a:srgbClr val="FF0000"/>
            </a:solidFill>
            <a:prstDash val="solid"/>
            <a:round/>
            <a:headEnd len="med" w="med" type="none"/>
            <a:tailEnd len="med" w="med" type="none"/>
          </a:ln>
        </p:spPr>
      </p:sp>
      <p:sp>
        <p:nvSpPr>
          <p:cNvPr id="178" name="Google Shape;178;p26"/>
          <p:cNvSpPr/>
          <p:nvPr/>
        </p:nvSpPr>
        <p:spPr>
          <a:xfrm>
            <a:off x="5833688" y="3077400"/>
            <a:ext cx="581650" cy="287300"/>
          </a:xfrm>
          <a:custGeom>
            <a:rect b="b" l="l" r="r" t="t"/>
            <a:pathLst>
              <a:path extrusionOk="0" h="11492" w="23266">
                <a:moveTo>
                  <a:pt x="0" y="0"/>
                </a:moveTo>
                <a:cubicBezTo>
                  <a:pt x="1896" y="4737"/>
                  <a:pt x="5645" y="9690"/>
                  <a:pt x="10551" y="11091"/>
                </a:cubicBezTo>
                <a:cubicBezTo>
                  <a:pt x="14829" y="12313"/>
                  <a:pt x="20120" y="10179"/>
                  <a:pt x="23266" y="7033"/>
                </a:cubicBezTo>
              </a:path>
            </a:pathLst>
          </a:custGeom>
          <a:noFill/>
          <a:ln cap="flat" cmpd="sng" w="28575">
            <a:solidFill>
              <a:srgbClr val="FF0000"/>
            </a:solidFill>
            <a:prstDash val="solid"/>
            <a:round/>
            <a:headEnd len="med" w="med" type="none"/>
            <a:tailEnd len="med" w="med" type="none"/>
          </a:ln>
        </p:spPr>
      </p:sp>
      <p:sp>
        <p:nvSpPr>
          <p:cNvPr id="179" name="Google Shape;179;p26"/>
          <p:cNvSpPr/>
          <p:nvPr/>
        </p:nvSpPr>
        <p:spPr>
          <a:xfrm>
            <a:off x="6543838" y="3070625"/>
            <a:ext cx="784550" cy="94675"/>
          </a:xfrm>
          <a:custGeom>
            <a:rect b="b" l="l" r="r" t="t"/>
            <a:pathLst>
              <a:path extrusionOk="0" h="3787" w="31382">
                <a:moveTo>
                  <a:pt x="0" y="0"/>
                </a:moveTo>
                <a:cubicBezTo>
                  <a:pt x="10537" y="0"/>
                  <a:pt x="20845" y="3787"/>
                  <a:pt x="31382" y="3787"/>
                </a:cubicBezTo>
              </a:path>
            </a:pathLst>
          </a:custGeom>
          <a:noFill/>
          <a:ln cap="flat" cmpd="sng" w="28575">
            <a:solidFill>
              <a:srgbClr val="FF0000"/>
            </a:solidFill>
            <a:prstDash val="solid"/>
            <a:round/>
            <a:headEnd len="med" w="med" type="none"/>
            <a:tailEnd len="med" w="med" type="none"/>
          </a:ln>
        </p:spPr>
      </p:sp>
      <p:sp>
        <p:nvSpPr>
          <p:cNvPr id="180" name="Google Shape;180;p26"/>
          <p:cNvSpPr/>
          <p:nvPr/>
        </p:nvSpPr>
        <p:spPr>
          <a:xfrm>
            <a:off x="6586513" y="3474925"/>
            <a:ext cx="695375" cy="52150"/>
          </a:xfrm>
          <a:custGeom>
            <a:rect b="b" l="l" r="r" t="t"/>
            <a:pathLst>
              <a:path extrusionOk="0" h="2086" w="27815">
                <a:moveTo>
                  <a:pt x="0" y="2086"/>
                </a:moveTo>
                <a:cubicBezTo>
                  <a:pt x="9298" y="2086"/>
                  <a:pt x="18517" y="0"/>
                  <a:pt x="27815" y="0"/>
                </a:cubicBezTo>
              </a:path>
            </a:pathLst>
          </a:custGeom>
          <a:noFill/>
          <a:ln cap="flat" cmpd="sng" w="28575">
            <a:solidFill>
              <a:srgbClr val="FF0000"/>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 non-visual example (this time with a visual)</a:t>
            </a:r>
            <a:endParaRPr b="1"/>
          </a:p>
        </p:txBody>
      </p:sp>
      <p:sp>
        <p:nvSpPr>
          <p:cNvPr id="186" name="Google Shape;18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27" title="beach.png"/>
          <p:cNvPicPr preferRelativeResize="0"/>
          <p:nvPr/>
        </p:nvPicPr>
        <p:blipFill>
          <a:blip r:embed="rId3">
            <a:alphaModFix/>
          </a:blip>
          <a:stretch>
            <a:fillRect/>
          </a:stretch>
        </p:blipFill>
        <p:spPr>
          <a:xfrm>
            <a:off x="0" y="1152475"/>
            <a:ext cx="4409073" cy="2938647"/>
          </a:xfrm>
          <a:prstGeom prst="rect">
            <a:avLst/>
          </a:prstGeom>
          <a:noFill/>
          <a:ln>
            <a:noFill/>
          </a:ln>
        </p:spPr>
      </p:pic>
      <p:pic>
        <p:nvPicPr>
          <p:cNvPr id="188" name="Google Shape;188;p27" title="speech.png"/>
          <p:cNvPicPr preferRelativeResize="0"/>
          <p:nvPr/>
        </p:nvPicPr>
        <p:blipFill>
          <a:blip r:embed="rId4">
            <a:alphaModFix/>
          </a:blip>
          <a:stretch>
            <a:fillRect/>
          </a:stretch>
        </p:blipFill>
        <p:spPr>
          <a:xfrm>
            <a:off x="4734925" y="1152475"/>
            <a:ext cx="4409073" cy="2938650"/>
          </a:xfrm>
          <a:prstGeom prst="rect">
            <a:avLst/>
          </a:prstGeom>
          <a:noFill/>
          <a:ln>
            <a:noFill/>
          </a:ln>
        </p:spPr>
      </p:pic>
      <p:pic>
        <p:nvPicPr>
          <p:cNvPr id="189" name="Google Shape;189;p27" title="speech2.png"/>
          <p:cNvPicPr preferRelativeResize="0"/>
          <p:nvPr/>
        </p:nvPicPr>
        <p:blipFill>
          <a:blip r:embed="rId5">
            <a:alphaModFix/>
          </a:blip>
          <a:stretch>
            <a:fillRect/>
          </a:stretch>
        </p:blipFill>
        <p:spPr>
          <a:xfrm>
            <a:off x="-3" y="1152475"/>
            <a:ext cx="4547625" cy="3031000"/>
          </a:xfrm>
          <a:prstGeom prst="rect">
            <a:avLst/>
          </a:prstGeom>
          <a:noFill/>
          <a:ln>
            <a:noFill/>
          </a:ln>
        </p:spPr>
      </p:pic>
      <p:pic>
        <p:nvPicPr>
          <p:cNvPr id="190" name="Google Shape;190;p27" title="beach2.png"/>
          <p:cNvPicPr preferRelativeResize="0"/>
          <p:nvPr/>
        </p:nvPicPr>
        <p:blipFill>
          <a:blip r:embed="rId6">
            <a:alphaModFix/>
          </a:blip>
          <a:stretch>
            <a:fillRect/>
          </a:stretch>
        </p:blipFill>
        <p:spPr>
          <a:xfrm>
            <a:off x="4571997" y="1152475"/>
            <a:ext cx="4611200" cy="30733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non-visual example (this time with a visual)</a:t>
            </a:r>
            <a:endParaRPr/>
          </a:p>
        </p:txBody>
      </p:sp>
      <p:sp>
        <p:nvSpPr>
          <p:cNvPr id="196" name="Google Shape;19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28" title="beach.png"/>
          <p:cNvPicPr preferRelativeResize="0"/>
          <p:nvPr/>
        </p:nvPicPr>
        <p:blipFill>
          <a:blip r:embed="rId3">
            <a:alphaModFix/>
          </a:blip>
          <a:stretch>
            <a:fillRect/>
          </a:stretch>
        </p:blipFill>
        <p:spPr>
          <a:xfrm>
            <a:off x="1490750" y="1017725"/>
            <a:ext cx="6070625" cy="4046075"/>
          </a:xfrm>
          <a:prstGeom prst="rect">
            <a:avLst/>
          </a:prstGeom>
          <a:noFill/>
          <a:ln>
            <a:noFill/>
          </a:ln>
        </p:spPr>
      </p:pic>
      <p:pic>
        <p:nvPicPr>
          <p:cNvPr id="198" name="Google Shape;198;p28" title="speech.png"/>
          <p:cNvPicPr preferRelativeResize="0"/>
          <p:nvPr/>
        </p:nvPicPr>
        <p:blipFill>
          <a:blip r:embed="rId4">
            <a:alphaModFix/>
          </a:blip>
          <a:stretch>
            <a:fillRect/>
          </a:stretch>
        </p:blipFill>
        <p:spPr>
          <a:xfrm>
            <a:off x="1490751" y="1017725"/>
            <a:ext cx="6070625" cy="4046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non-visual example (this time with a visual)</a:t>
            </a:r>
            <a:endParaRPr/>
          </a:p>
        </p:txBody>
      </p:sp>
      <p:sp>
        <p:nvSpPr>
          <p:cNvPr id="204" name="Google Shape;20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29" title="speech2.png"/>
          <p:cNvPicPr preferRelativeResize="0"/>
          <p:nvPr/>
        </p:nvPicPr>
        <p:blipFill>
          <a:blip r:embed="rId3">
            <a:alphaModFix/>
          </a:blip>
          <a:stretch>
            <a:fillRect/>
          </a:stretch>
        </p:blipFill>
        <p:spPr>
          <a:xfrm>
            <a:off x="1234275" y="1017725"/>
            <a:ext cx="6190203" cy="4125774"/>
          </a:xfrm>
          <a:prstGeom prst="rect">
            <a:avLst/>
          </a:prstGeom>
          <a:noFill/>
          <a:ln>
            <a:noFill/>
          </a:ln>
        </p:spPr>
      </p:pic>
      <p:pic>
        <p:nvPicPr>
          <p:cNvPr id="206" name="Google Shape;206;p29" title="beach2.png"/>
          <p:cNvPicPr preferRelativeResize="0"/>
          <p:nvPr/>
        </p:nvPicPr>
        <p:blipFill>
          <a:blip r:embed="rId4">
            <a:alphaModFix/>
          </a:blip>
          <a:stretch>
            <a:fillRect/>
          </a:stretch>
        </p:blipFill>
        <p:spPr>
          <a:xfrm>
            <a:off x="1234276" y="1017725"/>
            <a:ext cx="6190198" cy="41257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do we solve this problem?</a:t>
            </a:r>
            <a:endParaRPr b="1"/>
          </a:p>
        </p:txBody>
      </p:sp>
      <p:sp>
        <p:nvSpPr>
          <p:cNvPr id="212" name="Google Shape;212;p30"/>
          <p:cNvSpPr txBox="1"/>
          <p:nvPr>
            <p:ph idx="1" type="body"/>
          </p:nvPr>
        </p:nvSpPr>
        <p:spPr>
          <a:xfrm>
            <a:off x="311700" y="1845650"/>
            <a:ext cx="8520600" cy="272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I can teach you 								I can teach you </a:t>
            </a:r>
            <a:endParaRPr>
              <a:solidFill>
                <a:schemeClr val="dk1"/>
              </a:solidFill>
            </a:endParaRPr>
          </a:p>
          <a:p>
            <a:pPr indent="0" lvl="0" marL="0" rtl="0" algn="l">
              <a:spcBef>
                <a:spcPts val="1200"/>
              </a:spcBef>
              <a:spcAft>
                <a:spcPts val="0"/>
              </a:spcAft>
              <a:buNone/>
            </a:pPr>
            <a:r>
              <a:rPr lang="en" sz="6700">
                <a:solidFill>
                  <a:schemeClr val="dk1"/>
                </a:solidFill>
              </a:rPr>
              <a:t>🗣️													🗣️</a:t>
            </a:r>
            <a:endParaRPr sz="6700">
              <a:solidFill>
                <a:schemeClr val="dk1"/>
              </a:solidFill>
            </a:endParaRPr>
          </a:p>
          <a:p>
            <a:pPr indent="0" lvl="0" marL="0" rtl="0" algn="l">
              <a:spcBef>
                <a:spcPts val="1200"/>
              </a:spcBef>
              <a:spcAft>
                <a:spcPts val="1200"/>
              </a:spcAft>
              <a:buNone/>
            </a:pPr>
            <a:r>
              <a:rPr lang="en">
                <a:solidFill>
                  <a:schemeClr val="dk1"/>
                </a:solidFill>
              </a:rPr>
              <a:t>Speech pathologist									Troublemaker</a:t>
            </a:r>
            <a:endParaRPr>
              <a:solidFill>
                <a:schemeClr val="dk1"/>
              </a:solidFill>
            </a:endParaRPr>
          </a:p>
        </p:txBody>
      </p:sp>
      <p:pic>
        <p:nvPicPr>
          <p:cNvPr id="213" name="Google Shape;213;p30" title="beach2.png"/>
          <p:cNvPicPr preferRelativeResize="0"/>
          <p:nvPr/>
        </p:nvPicPr>
        <p:blipFill>
          <a:blip r:embed="rId3">
            <a:alphaModFix/>
          </a:blip>
          <a:stretch>
            <a:fillRect/>
          </a:stretch>
        </p:blipFill>
        <p:spPr>
          <a:xfrm>
            <a:off x="7136074" y="1949263"/>
            <a:ext cx="1696225" cy="1130524"/>
          </a:xfrm>
          <a:prstGeom prst="rect">
            <a:avLst/>
          </a:prstGeom>
          <a:noFill/>
          <a:ln>
            <a:noFill/>
          </a:ln>
        </p:spPr>
      </p:pic>
      <p:pic>
        <p:nvPicPr>
          <p:cNvPr id="214" name="Google Shape;214;p30" title="speech2.png"/>
          <p:cNvPicPr preferRelativeResize="0"/>
          <p:nvPr/>
        </p:nvPicPr>
        <p:blipFill>
          <a:blip r:embed="rId4">
            <a:alphaModFix/>
          </a:blip>
          <a:stretch>
            <a:fillRect/>
          </a:stretch>
        </p:blipFill>
        <p:spPr>
          <a:xfrm>
            <a:off x="2217173" y="2006500"/>
            <a:ext cx="1908372" cy="1271924"/>
          </a:xfrm>
          <a:prstGeom prst="rect">
            <a:avLst/>
          </a:prstGeom>
          <a:noFill/>
          <a:ln>
            <a:noFill/>
          </a:ln>
        </p:spPr>
      </p:pic>
      <p:sp>
        <p:nvSpPr>
          <p:cNvPr id="215" name="Google Shape;215;p30"/>
          <p:cNvSpPr txBox="1"/>
          <p:nvPr/>
        </p:nvSpPr>
        <p:spPr>
          <a:xfrm>
            <a:off x="479300" y="1180350"/>
            <a:ext cx="79335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We construct perception out of the context surrounding it using things like our previous knowledge and experience!</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One more example</a:t>
            </a:r>
            <a:endParaRPr/>
          </a:p>
        </p:txBody>
      </p:sp>
      <p:sp>
        <p:nvSpPr>
          <p:cNvPr id="221" name="Google Shape;22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An interesting genre of video I’ve been getting on instagram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Exam 1 Review</a:t>
            </a:r>
            <a:endParaRPr/>
          </a:p>
        </p:txBody>
      </p:sp>
      <p:sp>
        <p:nvSpPr>
          <p:cNvPr id="227" name="Google Shape;227;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cxnSp>
        <p:nvCxnSpPr>
          <p:cNvPr id="232" name="Google Shape;232;p33"/>
          <p:cNvCxnSpPr/>
          <p:nvPr/>
        </p:nvCxnSpPr>
        <p:spPr>
          <a:xfrm>
            <a:off x="4572000" y="0"/>
            <a:ext cx="0" cy="5143500"/>
          </a:xfrm>
          <a:prstGeom prst="straightConnector1">
            <a:avLst/>
          </a:prstGeom>
          <a:noFill/>
          <a:ln cap="flat" cmpd="sng" w="21425">
            <a:solidFill>
              <a:schemeClr val="dk1"/>
            </a:solidFill>
            <a:prstDash val="solid"/>
            <a:miter lim="8000"/>
            <a:headEnd len="sm" w="sm" type="none"/>
            <a:tailEnd len="sm" w="sm" type="none"/>
          </a:ln>
        </p:spPr>
      </p:cxnSp>
      <p:cxnSp>
        <p:nvCxnSpPr>
          <p:cNvPr id="233" name="Google Shape;233;p33"/>
          <p:cNvCxnSpPr/>
          <p:nvPr/>
        </p:nvCxnSpPr>
        <p:spPr>
          <a:xfrm rot="10800000">
            <a:off x="-127175" y="3571650"/>
            <a:ext cx="9144000" cy="0"/>
          </a:xfrm>
          <a:prstGeom prst="straightConnector1">
            <a:avLst/>
          </a:prstGeom>
          <a:noFill/>
          <a:ln cap="flat" cmpd="sng" w="21425">
            <a:solidFill>
              <a:schemeClr val="dk1"/>
            </a:solidFill>
            <a:prstDash val="solid"/>
            <a:miter lim="8000"/>
            <a:headEnd len="sm" w="sm" type="none"/>
            <a:tailEnd len="sm" w="sm" type="none"/>
          </a:ln>
        </p:spPr>
      </p:cxnSp>
      <p:cxnSp>
        <p:nvCxnSpPr>
          <p:cNvPr id="234" name="Google Shape;234;p33"/>
          <p:cNvCxnSpPr/>
          <p:nvPr/>
        </p:nvCxnSpPr>
        <p:spPr>
          <a:xfrm rot="10800000">
            <a:off x="-19050" y="1459700"/>
            <a:ext cx="9144000" cy="0"/>
          </a:xfrm>
          <a:prstGeom prst="straightConnector1">
            <a:avLst/>
          </a:prstGeom>
          <a:noFill/>
          <a:ln cap="flat" cmpd="sng" w="21425">
            <a:solidFill>
              <a:schemeClr val="dk1"/>
            </a:solidFill>
            <a:prstDash val="solid"/>
            <a:miter lim="8000"/>
            <a:headEnd len="sm" w="sm" type="none"/>
            <a:tailEnd len="sm" w="sm" type="none"/>
          </a:ln>
        </p:spPr>
      </p:cxnSp>
      <p:sp>
        <p:nvSpPr>
          <p:cNvPr id="235" name="Google Shape;235;p33"/>
          <p:cNvSpPr txBox="1"/>
          <p:nvPr/>
        </p:nvSpPr>
        <p:spPr>
          <a:xfrm>
            <a:off x="141750" y="436825"/>
            <a:ext cx="37911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dk1"/>
                </a:solidFill>
              </a:rPr>
              <a:t>Ch.1 How to Study the Mind</a:t>
            </a:r>
            <a:endParaRPr sz="2100"/>
          </a:p>
        </p:txBody>
      </p:sp>
      <p:sp>
        <p:nvSpPr>
          <p:cNvPr id="236" name="Google Shape;236;p33"/>
          <p:cNvSpPr txBox="1"/>
          <p:nvPr/>
        </p:nvSpPr>
        <p:spPr>
          <a:xfrm>
            <a:off x="141750" y="2319475"/>
            <a:ext cx="4335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rPr>
              <a:t>Ch.2 Cognitive Neuroscience</a:t>
            </a:r>
            <a:endParaRPr sz="2100"/>
          </a:p>
        </p:txBody>
      </p:sp>
      <p:sp>
        <p:nvSpPr>
          <p:cNvPr id="237" name="Google Shape;237;p33"/>
          <p:cNvSpPr txBox="1"/>
          <p:nvPr/>
        </p:nvSpPr>
        <p:spPr>
          <a:xfrm>
            <a:off x="104250" y="4074948"/>
            <a:ext cx="4410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rPr>
              <a:t>Ch.4 Perception</a:t>
            </a:r>
            <a:endParaRPr sz="1800"/>
          </a:p>
        </p:txBody>
      </p:sp>
      <p:sp>
        <p:nvSpPr>
          <p:cNvPr id="238" name="Google Shape;238;p33"/>
          <p:cNvSpPr txBox="1"/>
          <p:nvPr/>
        </p:nvSpPr>
        <p:spPr>
          <a:xfrm>
            <a:off x="4949850" y="517650"/>
            <a:ext cx="33504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rPr>
              <a:t>Ch.5 Object Recognition</a:t>
            </a:r>
            <a:endParaRPr sz="2100">
              <a:solidFill>
                <a:schemeClr val="dk1"/>
              </a:solidFill>
              <a:latin typeface="Arial"/>
              <a:ea typeface="Arial"/>
              <a:cs typeface="Arial"/>
              <a:sym typeface="Arial"/>
            </a:endParaRPr>
          </a:p>
        </p:txBody>
      </p:sp>
      <p:sp>
        <p:nvSpPr>
          <p:cNvPr id="239" name="Google Shape;239;p33"/>
          <p:cNvSpPr txBox="1"/>
          <p:nvPr/>
        </p:nvSpPr>
        <p:spPr>
          <a:xfrm>
            <a:off x="4865250" y="2296300"/>
            <a:ext cx="4061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rPr>
              <a:t>Ch.6 Visual Imagery</a:t>
            </a:r>
            <a:endParaRPr sz="2100"/>
          </a:p>
        </p:txBody>
      </p:sp>
      <p:sp>
        <p:nvSpPr>
          <p:cNvPr id="240" name="Google Shape;240;p33"/>
          <p:cNvSpPr txBox="1"/>
          <p:nvPr/>
        </p:nvSpPr>
        <p:spPr>
          <a:xfrm>
            <a:off x="4667251" y="4074949"/>
            <a:ext cx="44577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rPr>
              <a:t>Ch.7 Concepts &amp; Categories</a:t>
            </a:r>
            <a:endParaRPr b="1" sz="1800"/>
          </a:p>
          <a:p>
            <a:pPr indent="0" lvl="0" marL="342900" marR="0" rtl="0" algn="l">
              <a:spcBef>
                <a:spcPts val="0"/>
              </a:spcBef>
              <a:spcAft>
                <a:spcPts val="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to study the mind</a:t>
            </a:r>
            <a:endParaRPr b="1"/>
          </a:p>
        </p:txBody>
      </p:sp>
      <p:sp>
        <p:nvSpPr>
          <p:cNvPr id="246" name="Google Shape;246;p3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Marr’s Levels of Analysis</a:t>
            </a:r>
            <a:endParaRPr b="1">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Computational</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What is the goal of the system?</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Algorithmic</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How does it do that/what are the rules that govern it?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Implementational</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How is that physically instantiated in the brain?</a:t>
            </a:r>
            <a:endParaRPr>
              <a:solidFill>
                <a:schemeClr val="dk1"/>
              </a:solidFill>
            </a:endParaRPr>
          </a:p>
        </p:txBody>
      </p:sp>
      <p:sp>
        <p:nvSpPr>
          <p:cNvPr id="247" name="Google Shape;247;p34"/>
          <p:cNvSpPr txBox="1"/>
          <p:nvPr>
            <p:ph idx="1" type="body"/>
          </p:nvPr>
        </p:nvSpPr>
        <p:spPr>
          <a:xfrm>
            <a:off x="4572000" y="1152475"/>
            <a:ext cx="4260300" cy="3659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Schools of thought</a:t>
            </a:r>
            <a:endParaRPr b="1"/>
          </a:p>
          <a:p>
            <a:pPr indent="-317500" lvl="1" marL="914400" rtl="0" algn="l">
              <a:spcBef>
                <a:spcPts val="0"/>
              </a:spcBef>
              <a:spcAft>
                <a:spcPts val="0"/>
              </a:spcAft>
              <a:buSzPts val="1400"/>
              <a:buChar char="○"/>
            </a:pPr>
            <a:r>
              <a:rPr b="1" lang="en"/>
              <a:t>Analytic introspection</a:t>
            </a:r>
            <a:endParaRPr b="1"/>
          </a:p>
          <a:p>
            <a:pPr indent="-317500" lvl="2" marL="1371600" rtl="0" algn="l">
              <a:spcBef>
                <a:spcPts val="0"/>
              </a:spcBef>
              <a:spcAft>
                <a:spcPts val="0"/>
              </a:spcAft>
              <a:buSzPts val="1400"/>
              <a:buChar char="■"/>
            </a:pPr>
            <a:r>
              <a:rPr b="1" lang="en"/>
              <a:t>One can understand the mind via self-reflection.</a:t>
            </a:r>
            <a:endParaRPr b="1"/>
          </a:p>
          <a:p>
            <a:pPr indent="-317500" lvl="1" marL="914400" rtl="0" algn="l">
              <a:spcBef>
                <a:spcPts val="0"/>
              </a:spcBef>
              <a:spcAft>
                <a:spcPts val="0"/>
              </a:spcAft>
              <a:buSzPts val="1400"/>
              <a:buChar char="○"/>
            </a:pPr>
            <a:r>
              <a:rPr b="1" lang="en"/>
              <a:t>Behaviorism</a:t>
            </a:r>
            <a:endParaRPr b="1"/>
          </a:p>
          <a:p>
            <a:pPr indent="-317500" lvl="2" marL="1371600" rtl="0" algn="l">
              <a:spcBef>
                <a:spcPts val="0"/>
              </a:spcBef>
              <a:spcAft>
                <a:spcPts val="0"/>
              </a:spcAft>
              <a:buSzPts val="1400"/>
              <a:buChar char="■"/>
            </a:pPr>
            <a:r>
              <a:rPr b="1" lang="en"/>
              <a:t>Mental processes are unobservable; behavior is absolute.</a:t>
            </a:r>
            <a:endParaRPr b="1"/>
          </a:p>
          <a:p>
            <a:pPr indent="-317500" lvl="2" marL="1371600" rtl="0" algn="l">
              <a:spcBef>
                <a:spcPts val="0"/>
              </a:spcBef>
              <a:spcAft>
                <a:spcPts val="0"/>
              </a:spcAft>
              <a:buSzPts val="1400"/>
              <a:buChar char="■"/>
            </a:pPr>
            <a:r>
              <a:rPr b="1" lang="en"/>
              <a:t>Stimuli produce responses</a:t>
            </a:r>
            <a:endParaRPr b="1"/>
          </a:p>
          <a:p>
            <a:pPr indent="-317500" lvl="1" marL="914400" rtl="0" algn="l">
              <a:spcBef>
                <a:spcPts val="0"/>
              </a:spcBef>
              <a:spcAft>
                <a:spcPts val="0"/>
              </a:spcAft>
              <a:buSzPts val="1400"/>
              <a:buChar char="○"/>
            </a:pPr>
            <a:r>
              <a:rPr b="1" lang="en"/>
              <a:t>Cognitive revolution</a:t>
            </a:r>
            <a:endParaRPr b="1"/>
          </a:p>
          <a:p>
            <a:pPr indent="-317500" lvl="2" marL="1371600" rtl="0" algn="l">
              <a:spcBef>
                <a:spcPts val="0"/>
              </a:spcBef>
              <a:spcAft>
                <a:spcPts val="0"/>
              </a:spcAft>
              <a:buSzPts val="1400"/>
              <a:buChar char="■"/>
            </a:pPr>
            <a:r>
              <a:rPr b="1" lang="en"/>
              <a:t>Some behaviors are not driven by stimuli alone (rats have a mental map of a maze they use to navigate)</a:t>
            </a:r>
            <a:endParaRPr b="1"/>
          </a:p>
        </p:txBody>
      </p:sp>
      <p:sp>
        <p:nvSpPr>
          <p:cNvPr id="248" name="Google Shape;248;p34"/>
          <p:cNvSpPr txBox="1"/>
          <p:nvPr/>
        </p:nvSpPr>
        <p:spPr>
          <a:xfrm>
            <a:off x="63625" y="3673900"/>
            <a:ext cx="5581500" cy="13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Additional note:</a:t>
            </a:r>
            <a:r>
              <a:rPr lang="en" sz="1800">
                <a:solidFill>
                  <a:schemeClr val="dk1"/>
                </a:solidFill>
              </a:rPr>
              <a:t> </a:t>
            </a:r>
            <a:r>
              <a:rPr lang="en" sz="1500">
                <a:solidFill>
                  <a:schemeClr val="dk1"/>
                </a:solidFill>
              </a:rPr>
              <a:t>the general question of “how do we approach studying/understanding the mind?” informs almost everything about what scientists do – hypotheses, the methods, what we conclude from results, etc. are all informed by or arise from this core question!</a:t>
            </a:r>
            <a:endParaRPr sz="15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128000" y="14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Cognitive Neuroscience</a:t>
            </a:r>
            <a:endParaRPr/>
          </a:p>
        </p:txBody>
      </p:sp>
      <p:sp>
        <p:nvSpPr>
          <p:cNvPr id="254" name="Google Shape;254;p35"/>
          <p:cNvSpPr txBox="1"/>
          <p:nvPr/>
        </p:nvSpPr>
        <p:spPr>
          <a:xfrm>
            <a:off x="4978651" y="3558040"/>
            <a:ext cx="1571100" cy="209100"/>
          </a:xfrm>
          <a:prstGeom prst="rect">
            <a:avLst/>
          </a:prstGeom>
          <a:noFill/>
          <a:ln>
            <a:noFill/>
          </a:ln>
        </p:spPr>
        <p:txBody>
          <a:bodyPr anchorCtr="0" anchor="ctr" bIns="26175" lIns="52375" spcFirstLastPara="1" rIns="52375" wrap="square" tIns="26175">
            <a:noAutofit/>
          </a:bodyPr>
          <a:lstStyle/>
          <a:p>
            <a:pPr indent="0" lvl="0" marL="0" rtl="0" algn="r">
              <a:spcBef>
                <a:spcPts val="0"/>
              </a:spcBef>
              <a:spcAft>
                <a:spcPts val="0"/>
              </a:spcAft>
              <a:buNone/>
            </a:pPr>
            <a:fld id="{00000000-1234-1234-1234-123412341234}" type="slidenum">
              <a:rPr lang="en" sz="687">
                <a:solidFill>
                  <a:srgbClr val="000000"/>
                </a:solidFill>
              </a:rPr>
              <a:t>‹#›</a:t>
            </a:fld>
            <a:endParaRPr sz="687">
              <a:solidFill>
                <a:srgbClr val="000000"/>
              </a:solidFill>
            </a:endParaRPr>
          </a:p>
        </p:txBody>
      </p:sp>
      <p:pic>
        <p:nvPicPr>
          <p:cNvPr descr="Two illustrations labeled A and B. Illustration A shows the structure of a neuron in the cortex. The neuron consists of a round cell body, branching dendrites extending outward from the cell body, and a long, thin axon (nerve fiber) extending from the opposite side. Illustration B depicts a neuron with a specialized receptor replacing the cell body. The receptor is shown as a small oval structure. An arrow moves from left to right, labeled stimulus from environment, pointing toward the receptor, which is labeled touch receptor. The receptor is connected to a long nerve fiber, which is labeled, and the end of the nerve fiber shows the label electrical signal." id="255" name="Google Shape;255;p35"/>
          <p:cNvPicPr preferRelativeResize="0"/>
          <p:nvPr/>
        </p:nvPicPr>
        <p:blipFill rotWithShape="1">
          <a:blip r:embed="rId3">
            <a:alphaModFix/>
          </a:blip>
          <a:srcRect b="46896" l="0" r="0" t="0"/>
          <a:stretch/>
        </p:blipFill>
        <p:spPr>
          <a:xfrm>
            <a:off x="597413" y="821077"/>
            <a:ext cx="2940522" cy="1170303"/>
          </a:xfrm>
          <a:prstGeom prst="rect">
            <a:avLst/>
          </a:prstGeom>
          <a:noFill/>
          <a:ln>
            <a:noFill/>
          </a:ln>
        </p:spPr>
      </p:pic>
      <p:pic>
        <p:nvPicPr>
          <p:cNvPr descr="Two illustrations labeled A and B. Illustration A shows the structure of a neuron in the cortex. The neuron consists of a round cell body, branching dendrites extending outward from the cell body, and a long, thin axon (nerve fiber) extending from the opposite side. Illustration B depicts a neuron with a specialized receptor replacing the cell body. The receptor is shown as a small oval structure. An arrow moves from left to right, labeled stimulus from environment, pointing toward the receptor, which is labeled touch receptor. The receptor is connected to a long nerve fiber, which is labeled, and the end of the nerve fiber shows the label electrical signal." id="256" name="Google Shape;256;p35"/>
          <p:cNvPicPr preferRelativeResize="0"/>
          <p:nvPr/>
        </p:nvPicPr>
        <p:blipFill rotWithShape="1">
          <a:blip r:embed="rId4">
            <a:alphaModFix/>
          </a:blip>
          <a:srcRect b="46896" l="0" r="0" t="0"/>
          <a:stretch/>
        </p:blipFill>
        <p:spPr>
          <a:xfrm>
            <a:off x="3395725" y="821075"/>
            <a:ext cx="2749001" cy="1094075"/>
          </a:xfrm>
          <a:prstGeom prst="rect">
            <a:avLst/>
          </a:prstGeom>
          <a:noFill/>
          <a:ln>
            <a:noFill/>
          </a:ln>
        </p:spPr>
      </p:pic>
      <p:grpSp>
        <p:nvGrpSpPr>
          <p:cNvPr id="257" name="Google Shape;257;p35"/>
          <p:cNvGrpSpPr/>
          <p:nvPr/>
        </p:nvGrpSpPr>
        <p:grpSpPr>
          <a:xfrm>
            <a:off x="296741" y="1406097"/>
            <a:ext cx="3290147" cy="2387828"/>
            <a:chOff x="436266" y="2599372"/>
            <a:chExt cx="5744975" cy="4169422"/>
          </a:xfrm>
        </p:grpSpPr>
        <p:sp>
          <p:nvSpPr>
            <p:cNvPr id="258" name="Google Shape;258;p35"/>
            <p:cNvSpPr/>
            <p:nvPr/>
          </p:nvSpPr>
          <p:spPr>
            <a:xfrm>
              <a:off x="5985341" y="2599372"/>
              <a:ext cx="195900" cy="199200"/>
            </a:xfrm>
            <a:prstGeom prst="ellipse">
              <a:avLst/>
            </a:prstGeom>
            <a:noFill/>
            <a:ln cap="flat" cmpd="sng" w="10900">
              <a:solidFill>
                <a:srgbClr val="000000"/>
              </a:solidFill>
              <a:prstDash val="solid"/>
              <a:miter lim="8000"/>
              <a:headEnd len="sm" w="sm" type="none"/>
              <a:tailEnd len="sm" w="sm" type="none"/>
            </a:ln>
          </p:spPr>
          <p:txBody>
            <a:bodyPr anchorCtr="0" anchor="ctr" bIns="26175" lIns="52375" spcFirstLastPara="1" rIns="52375" wrap="square" tIns="26175">
              <a:noAutofit/>
            </a:bodyPr>
            <a:lstStyle/>
            <a:p>
              <a:pPr indent="0" lvl="0" marL="0" marR="0" rtl="0" algn="ctr">
                <a:spcBef>
                  <a:spcPts val="0"/>
                </a:spcBef>
                <a:spcAft>
                  <a:spcPts val="0"/>
                </a:spcAft>
                <a:buNone/>
              </a:pPr>
              <a:r>
                <a:t/>
              </a:r>
              <a:endParaRPr sz="1031">
                <a:solidFill>
                  <a:srgbClr val="FFFFFF"/>
                </a:solidFill>
                <a:latin typeface="Arial"/>
                <a:ea typeface="Arial"/>
                <a:cs typeface="Arial"/>
                <a:sym typeface="Arial"/>
              </a:endParaRPr>
            </a:p>
          </p:txBody>
        </p:sp>
        <p:grpSp>
          <p:nvGrpSpPr>
            <p:cNvPr id="259" name="Google Shape;259;p35"/>
            <p:cNvGrpSpPr/>
            <p:nvPr/>
          </p:nvGrpSpPr>
          <p:grpSpPr>
            <a:xfrm>
              <a:off x="436266" y="4409921"/>
              <a:ext cx="4154413" cy="2358873"/>
              <a:chOff x="3064136" y="4138108"/>
              <a:chExt cx="4154413" cy="2358873"/>
            </a:xfrm>
          </p:grpSpPr>
          <p:pic>
            <p:nvPicPr>
              <p:cNvPr descr="Two illustrations labeled A and B. Illustration A shows two neurons, with one neuron synapsing on the cell body of another. The first neuron’s axon is shown extending toward the second neuron’s cell body. Labels indicate the cell body, axon, and nerve impulse traveling along the axon toward the synapse. Illustration B provides a close-up view of the synapse, highlighting the small gap between the end of one neuron’s axon and the cell body of the next neuron. Small dots, labeled as neurotransmitter molecules, are shown being released from the axon into the synaptic space." id="260" name="Google Shape;260;p35"/>
              <p:cNvPicPr preferRelativeResize="0"/>
              <p:nvPr/>
            </p:nvPicPr>
            <p:blipFill rotWithShape="1">
              <a:blip r:embed="rId5">
                <a:alphaModFix/>
              </a:blip>
              <a:srcRect b="-108" l="0" r="0" t="50905"/>
              <a:stretch/>
            </p:blipFill>
            <p:spPr>
              <a:xfrm>
                <a:off x="3107884" y="4206352"/>
                <a:ext cx="4110665" cy="2222512"/>
              </a:xfrm>
              <a:prstGeom prst="rect">
                <a:avLst/>
              </a:prstGeom>
              <a:noFill/>
              <a:ln>
                <a:noFill/>
              </a:ln>
            </p:spPr>
          </p:pic>
          <p:sp>
            <p:nvSpPr>
              <p:cNvPr id="261" name="Google Shape;261;p35"/>
              <p:cNvSpPr/>
              <p:nvPr/>
            </p:nvSpPr>
            <p:spPr>
              <a:xfrm>
                <a:off x="5454127" y="4138108"/>
                <a:ext cx="272400" cy="272400"/>
              </a:xfrm>
              <a:prstGeom prst="ellipse">
                <a:avLst/>
              </a:prstGeom>
              <a:solidFill>
                <a:srgbClr val="FFFFFF"/>
              </a:solidFill>
              <a:ln>
                <a:noFill/>
              </a:ln>
            </p:spPr>
            <p:txBody>
              <a:bodyPr anchorCtr="0" anchor="ctr" bIns="26175" lIns="52375" spcFirstLastPara="1" rIns="52375" wrap="square" tIns="26175">
                <a:noAutofit/>
              </a:bodyPr>
              <a:lstStyle/>
              <a:p>
                <a:pPr indent="0" lvl="0" marL="0" marR="0" rtl="0" algn="ctr">
                  <a:spcBef>
                    <a:spcPts val="0"/>
                  </a:spcBef>
                  <a:spcAft>
                    <a:spcPts val="0"/>
                  </a:spcAft>
                  <a:buNone/>
                </a:pPr>
                <a:r>
                  <a:t/>
                </a:r>
                <a:endParaRPr sz="1031">
                  <a:solidFill>
                    <a:srgbClr val="FFFFFF"/>
                  </a:solidFill>
                  <a:latin typeface="Arial"/>
                  <a:ea typeface="Arial"/>
                  <a:cs typeface="Arial"/>
                  <a:sym typeface="Arial"/>
                </a:endParaRPr>
              </a:p>
            </p:txBody>
          </p:sp>
          <p:sp>
            <p:nvSpPr>
              <p:cNvPr id="262" name="Google Shape;262;p35"/>
              <p:cNvSpPr/>
              <p:nvPr/>
            </p:nvSpPr>
            <p:spPr>
              <a:xfrm>
                <a:off x="3064136" y="6224581"/>
                <a:ext cx="272400" cy="272400"/>
              </a:xfrm>
              <a:prstGeom prst="ellipse">
                <a:avLst/>
              </a:prstGeom>
              <a:solidFill>
                <a:srgbClr val="FFFFFF"/>
              </a:solidFill>
              <a:ln>
                <a:noFill/>
              </a:ln>
            </p:spPr>
            <p:txBody>
              <a:bodyPr anchorCtr="0" anchor="ctr" bIns="26175" lIns="52375" spcFirstLastPara="1" rIns="52375" wrap="square" tIns="26175">
                <a:noAutofit/>
              </a:bodyPr>
              <a:lstStyle/>
              <a:p>
                <a:pPr indent="0" lvl="0" marL="0" marR="0" rtl="0" algn="ctr">
                  <a:spcBef>
                    <a:spcPts val="0"/>
                  </a:spcBef>
                  <a:spcAft>
                    <a:spcPts val="0"/>
                  </a:spcAft>
                  <a:buNone/>
                </a:pPr>
                <a:r>
                  <a:t/>
                </a:r>
                <a:endParaRPr sz="1031">
                  <a:solidFill>
                    <a:srgbClr val="FFFFFF"/>
                  </a:solidFill>
                  <a:latin typeface="Arial"/>
                  <a:ea typeface="Arial"/>
                  <a:cs typeface="Arial"/>
                  <a:sym typeface="Arial"/>
                </a:endParaRPr>
              </a:p>
            </p:txBody>
          </p:sp>
        </p:grpSp>
        <p:cxnSp>
          <p:nvCxnSpPr>
            <p:cNvPr id="263" name="Google Shape;263;p35"/>
            <p:cNvCxnSpPr/>
            <p:nvPr/>
          </p:nvCxnSpPr>
          <p:spPr>
            <a:xfrm flipH="1">
              <a:off x="3098790" y="2756585"/>
              <a:ext cx="2912100" cy="1926000"/>
            </a:xfrm>
            <a:prstGeom prst="straightConnector1">
              <a:avLst/>
            </a:prstGeom>
            <a:noFill/>
            <a:ln cap="flat" cmpd="sng" w="9100">
              <a:solidFill>
                <a:srgbClr val="000000"/>
              </a:solidFill>
              <a:prstDash val="solid"/>
              <a:miter lim="8000"/>
              <a:headEnd len="sm" w="sm" type="none"/>
              <a:tailEnd len="med" w="med" type="triangle"/>
            </a:ln>
          </p:spPr>
        </p:cxnSp>
      </p:grpSp>
      <p:sp>
        <p:nvSpPr>
          <p:cNvPr id="264" name="Google Shape;264;p35"/>
          <p:cNvSpPr txBox="1"/>
          <p:nvPr/>
        </p:nvSpPr>
        <p:spPr>
          <a:xfrm>
            <a:off x="296748" y="4210902"/>
            <a:ext cx="59091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000"/>
              <a:t>Brain regions communicate through</a:t>
            </a:r>
            <a:r>
              <a:rPr b="0" i="0" lang="en" sz="2000" u="none" cap="none" strike="noStrike">
                <a:solidFill>
                  <a:srgbClr val="000000"/>
                </a:solidFill>
                <a:latin typeface="Arial"/>
                <a:ea typeface="Arial"/>
                <a:cs typeface="Arial"/>
                <a:sym typeface="Arial"/>
              </a:rPr>
              <a:t> mix of </a:t>
            </a:r>
            <a:r>
              <a:rPr b="1" i="0" lang="en" sz="2000" u="none" cap="none" strike="noStrike">
                <a:solidFill>
                  <a:srgbClr val="000000"/>
                </a:solidFill>
                <a:latin typeface="Arial"/>
                <a:ea typeface="Arial"/>
                <a:cs typeface="Arial"/>
                <a:sym typeface="Arial"/>
              </a:rPr>
              <a:t>electrical</a:t>
            </a:r>
            <a:r>
              <a:rPr b="0" i="0" lang="en" sz="2000" u="none" cap="none" strike="noStrike">
                <a:solidFill>
                  <a:srgbClr val="000000"/>
                </a:solidFill>
                <a:latin typeface="Arial"/>
                <a:ea typeface="Arial"/>
                <a:cs typeface="Arial"/>
                <a:sym typeface="Arial"/>
              </a:rPr>
              <a:t> and </a:t>
            </a:r>
            <a:r>
              <a:rPr b="1" i="0" lang="en" sz="2000" u="none" cap="none" strike="noStrike">
                <a:solidFill>
                  <a:srgbClr val="000000"/>
                </a:solidFill>
                <a:latin typeface="Arial"/>
                <a:ea typeface="Arial"/>
                <a:cs typeface="Arial"/>
                <a:sym typeface="Arial"/>
              </a:rPr>
              <a:t>chemical</a:t>
            </a:r>
            <a:r>
              <a:rPr b="0" i="0" lang="en" sz="2000" u="none" cap="none" strike="noStrike">
                <a:solidFill>
                  <a:srgbClr val="000000"/>
                </a:solidFill>
                <a:latin typeface="Arial"/>
                <a:ea typeface="Arial"/>
                <a:cs typeface="Arial"/>
                <a:sym typeface="Arial"/>
              </a:rPr>
              <a:t> signaling via </a:t>
            </a:r>
            <a:r>
              <a:rPr b="1" i="0" lang="en" sz="2000" u="none" cap="none" strike="noStrike">
                <a:solidFill>
                  <a:srgbClr val="FF0000"/>
                </a:solidFill>
                <a:latin typeface="Arial"/>
                <a:ea typeface="Arial"/>
                <a:cs typeface="Arial"/>
                <a:sym typeface="Arial"/>
              </a:rPr>
              <a:t>neurons</a:t>
            </a:r>
            <a:endParaRPr sz="1200"/>
          </a:p>
        </p:txBody>
      </p:sp>
      <p:pic>
        <p:nvPicPr>
          <p:cNvPr descr="Basic explanation of how a neuron works" id="265" name="Google Shape;265;p35"/>
          <p:cNvPicPr preferRelativeResize="0"/>
          <p:nvPr/>
        </p:nvPicPr>
        <p:blipFill rotWithShape="1">
          <a:blip r:embed="rId6">
            <a:alphaModFix/>
          </a:blip>
          <a:srcRect b="0" l="0" r="0" t="0"/>
          <a:stretch/>
        </p:blipFill>
        <p:spPr>
          <a:xfrm>
            <a:off x="5069350" y="1915150"/>
            <a:ext cx="3579250" cy="2302452"/>
          </a:xfrm>
          <a:prstGeom prst="rect">
            <a:avLst/>
          </a:prstGeom>
          <a:noFill/>
          <a:ln>
            <a:noFill/>
          </a:ln>
        </p:spPr>
      </p:pic>
      <p:sp>
        <p:nvSpPr>
          <p:cNvPr id="266" name="Google Shape;266;p35"/>
          <p:cNvSpPr txBox="1"/>
          <p:nvPr/>
        </p:nvSpPr>
        <p:spPr>
          <a:xfrm>
            <a:off x="6415250" y="416850"/>
            <a:ext cx="21192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000"/>
              <a:t>Action potentials as a measure of how excited a neuron is</a:t>
            </a: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6"/>
          <p:cNvSpPr txBox="1"/>
          <p:nvPr>
            <p:ph type="title"/>
          </p:nvPr>
        </p:nvSpPr>
        <p:spPr>
          <a:xfrm>
            <a:off x="128000" y="14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Cognitive Neuroscience</a:t>
            </a:r>
            <a:endParaRPr/>
          </a:p>
        </p:txBody>
      </p:sp>
      <p:pic>
        <p:nvPicPr>
          <p:cNvPr id="272" name="Google Shape;272;p36"/>
          <p:cNvPicPr preferRelativeResize="0"/>
          <p:nvPr/>
        </p:nvPicPr>
        <p:blipFill rotWithShape="1">
          <a:blip r:embed="rId3">
            <a:alphaModFix/>
          </a:blip>
          <a:srcRect b="0" l="0" r="0" t="0"/>
          <a:stretch/>
        </p:blipFill>
        <p:spPr>
          <a:xfrm>
            <a:off x="613376" y="1215549"/>
            <a:ext cx="2683549" cy="1956180"/>
          </a:xfrm>
          <a:prstGeom prst="rect">
            <a:avLst/>
          </a:prstGeom>
          <a:noFill/>
          <a:ln>
            <a:noFill/>
          </a:ln>
        </p:spPr>
      </p:pic>
      <p:pic>
        <p:nvPicPr>
          <p:cNvPr id="273" name="Google Shape;273;p36"/>
          <p:cNvPicPr preferRelativeResize="0"/>
          <p:nvPr/>
        </p:nvPicPr>
        <p:blipFill rotWithShape="1">
          <a:blip r:embed="rId4">
            <a:alphaModFix/>
          </a:blip>
          <a:srcRect b="0" l="0" r="0" t="0"/>
          <a:stretch/>
        </p:blipFill>
        <p:spPr>
          <a:xfrm>
            <a:off x="2824252" y="2382075"/>
            <a:ext cx="3075374" cy="2047825"/>
          </a:xfrm>
          <a:prstGeom prst="rect">
            <a:avLst/>
          </a:prstGeom>
          <a:noFill/>
          <a:ln>
            <a:noFill/>
          </a:ln>
        </p:spPr>
      </p:pic>
      <p:sp>
        <p:nvSpPr>
          <p:cNvPr id="274" name="Google Shape;274;p36"/>
          <p:cNvSpPr txBox="1"/>
          <p:nvPr/>
        </p:nvSpPr>
        <p:spPr>
          <a:xfrm>
            <a:off x="3438970" y="1264942"/>
            <a:ext cx="1845000" cy="7710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503">
                <a:solidFill>
                  <a:srgbClr val="000000"/>
                </a:solidFill>
                <a:latin typeface="Arial"/>
                <a:ea typeface="Arial"/>
                <a:cs typeface="Arial"/>
                <a:sym typeface="Arial"/>
              </a:rPr>
              <a:t>Different brain </a:t>
            </a:r>
            <a:r>
              <a:rPr b="1" i="1" lang="en" sz="1503" u="sng">
                <a:solidFill>
                  <a:srgbClr val="000000"/>
                </a:solidFill>
              </a:rPr>
              <a:t>areas</a:t>
            </a:r>
            <a:r>
              <a:rPr lang="en" sz="1503">
                <a:solidFill>
                  <a:srgbClr val="000000"/>
                </a:solidFill>
                <a:latin typeface="Arial"/>
                <a:ea typeface="Arial"/>
                <a:cs typeface="Arial"/>
                <a:sym typeface="Arial"/>
              </a:rPr>
              <a:t> support different functions</a:t>
            </a:r>
            <a:endParaRPr sz="1169"/>
          </a:p>
        </p:txBody>
      </p:sp>
      <p:sp>
        <p:nvSpPr>
          <p:cNvPr id="275" name="Google Shape;275;p36"/>
          <p:cNvSpPr txBox="1"/>
          <p:nvPr/>
        </p:nvSpPr>
        <p:spPr>
          <a:xfrm>
            <a:off x="37200" y="3527419"/>
            <a:ext cx="2307300" cy="7710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503">
                <a:solidFill>
                  <a:srgbClr val="000000"/>
                </a:solidFill>
                <a:latin typeface="Arial"/>
                <a:ea typeface="Arial"/>
                <a:cs typeface="Arial"/>
                <a:sym typeface="Arial"/>
              </a:rPr>
              <a:t>Different brain </a:t>
            </a:r>
            <a:r>
              <a:rPr b="1" i="1" lang="en" sz="1503" u="sng">
                <a:solidFill>
                  <a:srgbClr val="000000"/>
                </a:solidFill>
              </a:rPr>
              <a:t>networks</a:t>
            </a:r>
            <a:r>
              <a:rPr lang="en" sz="1503">
                <a:solidFill>
                  <a:srgbClr val="000000"/>
                </a:solidFill>
                <a:latin typeface="Arial"/>
                <a:ea typeface="Arial"/>
                <a:cs typeface="Arial"/>
                <a:sym typeface="Arial"/>
              </a:rPr>
              <a:t> support different functions</a:t>
            </a:r>
            <a:endParaRPr sz="1169"/>
          </a:p>
        </p:txBody>
      </p:sp>
      <p:sp>
        <p:nvSpPr>
          <p:cNvPr id="276" name="Google Shape;276;p36"/>
          <p:cNvSpPr txBox="1"/>
          <p:nvPr/>
        </p:nvSpPr>
        <p:spPr>
          <a:xfrm>
            <a:off x="2555779" y="4554793"/>
            <a:ext cx="1623000" cy="4368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169">
                <a:solidFill>
                  <a:srgbClr val="7F7F7F"/>
                </a:solidFill>
                <a:latin typeface="Arial"/>
                <a:ea typeface="Arial"/>
                <a:cs typeface="Arial"/>
                <a:sym typeface="Arial"/>
              </a:rPr>
              <a:t>Monteverdi et al., 2023</a:t>
            </a:r>
            <a:endParaRPr sz="1169"/>
          </a:p>
        </p:txBody>
      </p:sp>
      <p:pic>
        <p:nvPicPr>
          <p:cNvPr descr="An M R I image of the human brain displays a network of colored lines and tracts that interconnect different regions. The colored lines vary in thickness, with some appearing as thin strands while others are thicker, indicating the density of nerve connections." id="277" name="Google Shape;277;p36"/>
          <p:cNvPicPr preferRelativeResize="0"/>
          <p:nvPr/>
        </p:nvPicPr>
        <p:blipFill rotWithShape="1">
          <a:blip r:embed="rId5">
            <a:alphaModFix/>
          </a:blip>
          <a:srcRect b="0" l="0" r="3503" t="0"/>
          <a:stretch/>
        </p:blipFill>
        <p:spPr>
          <a:xfrm>
            <a:off x="6379375" y="2164375"/>
            <a:ext cx="2388801" cy="2896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7"/>
          <p:cNvSpPr txBox="1"/>
          <p:nvPr>
            <p:ph type="title"/>
          </p:nvPr>
        </p:nvSpPr>
        <p:spPr>
          <a:xfrm>
            <a:off x="128000" y="14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Cognitive Neuroscience</a:t>
            </a:r>
            <a:endParaRPr/>
          </a:p>
        </p:txBody>
      </p:sp>
      <p:pic>
        <p:nvPicPr>
          <p:cNvPr id="283" name="Google Shape;283;p37"/>
          <p:cNvPicPr preferRelativeResize="0"/>
          <p:nvPr/>
        </p:nvPicPr>
        <p:blipFill rotWithShape="1">
          <a:blip r:embed="rId3">
            <a:alphaModFix/>
          </a:blip>
          <a:srcRect b="0" l="0" r="0" t="0"/>
          <a:stretch/>
        </p:blipFill>
        <p:spPr>
          <a:xfrm>
            <a:off x="613376" y="1215549"/>
            <a:ext cx="2683549" cy="1956180"/>
          </a:xfrm>
          <a:prstGeom prst="rect">
            <a:avLst/>
          </a:prstGeom>
          <a:noFill/>
          <a:ln>
            <a:noFill/>
          </a:ln>
        </p:spPr>
      </p:pic>
      <p:sp>
        <p:nvSpPr>
          <p:cNvPr id="284" name="Google Shape;284;p37"/>
          <p:cNvSpPr txBox="1"/>
          <p:nvPr/>
        </p:nvSpPr>
        <p:spPr>
          <a:xfrm>
            <a:off x="3438970" y="1264942"/>
            <a:ext cx="1845000" cy="7710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503">
                <a:solidFill>
                  <a:srgbClr val="000000"/>
                </a:solidFill>
                <a:latin typeface="Arial"/>
                <a:ea typeface="Arial"/>
                <a:cs typeface="Arial"/>
                <a:sym typeface="Arial"/>
              </a:rPr>
              <a:t>Different brain </a:t>
            </a:r>
            <a:r>
              <a:rPr b="1" i="1" lang="en" sz="1503" u="sng">
                <a:solidFill>
                  <a:srgbClr val="000000"/>
                </a:solidFill>
              </a:rPr>
              <a:t>areas</a:t>
            </a:r>
            <a:r>
              <a:rPr lang="en" sz="1503">
                <a:solidFill>
                  <a:srgbClr val="000000"/>
                </a:solidFill>
                <a:latin typeface="Arial"/>
                <a:ea typeface="Arial"/>
                <a:cs typeface="Arial"/>
                <a:sym typeface="Arial"/>
              </a:rPr>
              <a:t> support different functions</a:t>
            </a:r>
            <a:endParaRPr sz="1169"/>
          </a:p>
        </p:txBody>
      </p:sp>
      <p:sp>
        <p:nvSpPr>
          <p:cNvPr id="285" name="Google Shape;285;p37"/>
          <p:cNvSpPr txBox="1"/>
          <p:nvPr/>
        </p:nvSpPr>
        <p:spPr>
          <a:xfrm>
            <a:off x="37200" y="3527419"/>
            <a:ext cx="2307300" cy="7710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503"/>
              <a:t>These patterns of activity are also shaped by experience</a:t>
            </a:r>
            <a:endParaRPr sz="1169"/>
          </a:p>
        </p:txBody>
      </p:sp>
      <p:sp>
        <p:nvSpPr>
          <p:cNvPr id="286" name="Google Shape;286;p37"/>
          <p:cNvSpPr txBox="1"/>
          <p:nvPr/>
        </p:nvSpPr>
        <p:spPr>
          <a:xfrm>
            <a:off x="2817179" y="4356968"/>
            <a:ext cx="1623000" cy="446400"/>
          </a:xfrm>
          <a:prstGeom prst="rect">
            <a:avLst/>
          </a:prstGeom>
          <a:noFill/>
          <a:ln>
            <a:noFill/>
          </a:ln>
        </p:spPr>
        <p:txBody>
          <a:bodyPr anchorCtr="0" anchor="t" bIns="38150" lIns="76325" spcFirstLastPara="1" rIns="76325" wrap="square" tIns="38150">
            <a:spAutoFit/>
          </a:bodyPr>
          <a:lstStyle/>
          <a:p>
            <a:pPr indent="0" lvl="0" marL="0" rtl="0" algn="l">
              <a:spcBef>
                <a:spcPts val="0"/>
              </a:spcBef>
              <a:spcAft>
                <a:spcPts val="0"/>
              </a:spcAft>
              <a:buClr>
                <a:schemeClr val="dk1"/>
              </a:buClr>
              <a:buFont typeface="Arial"/>
              <a:buNone/>
            </a:pPr>
            <a:r>
              <a:rPr lang="en" sz="1200">
                <a:solidFill>
                  <a:schemeClr val="dk1"/>
                </a:solidFill>
              </a:rPr>
              <a:t>(Blakemore &amp; Cooper, 1970)</a:t>
            </a:r>
            <a:endParaRPr sz="369"/>
          </a:p>
        </p:txBody>
      </p:sp>
      <p:pic>
        <p:nvPicPr>
          <p:cNvPr descr="A three-part illustration labeled A, B, and C, depicts the selective rearing experiment. Part A: This part shows a cat wearing an e-collar, also known as a pet cone, positioned inside a cylindrical structure. The cylinder features alternating black and white stripes that run vertically around its surface. The cat is centered within the cylinder, and its body is visible, with the outline of the e-collar clearly defined around its neck. Part B: This part illustrates the orientation distribution of cells from a cat reared in an environment of vertical stripes. The vertical, slanting stripes are arranged in an X-shaped pattern, creating a cross. A horizontal gap runs through the center of the X, distinctly separating the pattern into upper and lower sections. Part C: This part depicts the orientation distribution of cells from a cat reared in an environment of horizontal stripes. The illustration displays horizontal, slanting stripes with a vertical gap in the center, clearly separating the pattern into left and right sections." id="287" name="Google Shape;287;p37"/>
          <p:cNvPicPr preferRelativeResize="0"/>
          <p:nvPr>
            <p:ph idx="1" type="body"/>
          </p:nvPr>
        </p:nvPicPr>
        <p:blipFill rotWithShape="1">
          <a:blip r:embed="rId4">
            <a:alphaModFix/>
          </a:blip>
          <a:srcRect b="0" l="0" r="0" t="0"/>
          <a:stretch/>
        </p:blipFill>
        <p:spPr>
          <a:xfrm>
            <a:off x="2305000" y="2387326"/>
            <a:ext cx="3380700" cy="1844700"/>
          </a:xfrm>
          <a:prstGeom prst="rect">
            <a:avLst/>
          </a:prstGeom>
          <a:noFill/>
          <a:ln>
            <a:noFill/>
          </a:ln>
        </p:spPr>
      </p:pic>
      <p:sp>
        <p:nvSpPr>
          <p:cNvPr id="288" name="Google Shape;288;p37"/>
          <p:cNvSpPr txBox="1"/>
          <p:nvPr/>
        </p:nvSpPr>
        <p:spPr>
          <a:xfrm>
            <a:off x="5746279" y="1141800"/>
            <a:ext cx="3261900" cy="771000"/>
          </a:xfrm>
          <a:prstGeom prst="rect">
            <a:avLst/>
          </a:prstGeom>
          <a:noFill/>
          <a:ln>
            <a:noFill/>
          </a:ln>
        </p:spPr>
        <p:txBody>
          <a:bodyPr anchorCtr="0" anchor="t" bIns="38150" lIns="76325" spcFirstLastPara="1" rIns="76325" wrap="square" tIns="38150">
            <a:spAutoFit/>
          </a:bodyPr>
          <a:lstStyle/>
          <a:p>
            <a:pPr indent="0" lvl="0" marL="0" marR="0" rtl="0" algn="l">
              <a:spcBef>
                <a:spcPts val="0"/>
              </a:spcBef>
              <a:spcAft>
                <a:spcPts val="0"/>
              </a:spcAft>
              <a:buNone/>
            </a:pPr>
            <a:r>
              <a:rPr lang="en" sz="1503"/>
              <a:t>Cats brought up in vertical line environments showed more activity in the visual cortex to vertical lines</a:t>
            </a:r>
            <a:endParaRPr sz="1169"/>
          </a:p>
        </p:txBody>
      </p:sp>
      <p:pic>
        <p:nvPicPr>
          <p:cNvPr id="289" name="Google Shape;289;p37"/>
          <p:cNvPicPr preferRelativeResize="0"/>
          <p:nvPr/>
        </p:nvPicPr>
        <p:blipFill rotWithShape="1">
          <a:blip r:embed="rId5">
            <a:alphaModFix/>
          </a:blip>
          <a:srcRect b="0" l="0" r="0" t="0"/>
          <a:stretch/>
        </p:blipFill>
        <p:spPr>
          <a:xfrm>
            <a:off x="5972950" y="2387326"/>
            <a:ext cx="3131149" cy="20849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92675" y="91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Neuroimaging Techniques</a:t>
            </a:r>
            <a:endParaRPr/>
          </a:p>
        </p:txBody>
      </p:sp>
      <p:pic>
        <p:nvPicPr>
          <p:cNvPr descr="Spatial and temporal resolution of different imaging methods" id="295" name="Google Shape;295;p38"/>
          <p:cNvPicPr preferRelativeResize="0"/>
          <p:nvPr/>
        </p:nvPicPr>
        <p:blipFill rotWithShape="1">
          <a:blip r:embed="rId3">
            <a:alphaModFix/>
          </a:blip>
          <a:srcRect b="0" l="0" r="0" t="0"/>
          <a:stretch/>
        </p:blipFill>
        <p:spPr>
          <a:xfrm>
            <a:off x="143950" y="798700"/>
            <a:ext cx="4278900" cy="3035600"/>
          </a:xfrm>
          <a:prstGeom prst="rect">
            <a:avLst/>
          </a:prstGeom>
          <a:noFill/>
          <a:ln>
            <a:noFill/>
          </a:ln>
        </p:spPr>
      </p:pic>
      <p:pic>
        <p:nvPicPr>
          <p:cNvPr descr="Cutaway diagram of an MRI scanner showing internal components including radio frequency coil, gradient coils, magnet, and scanner housing. Patient lies on table inside scanner." id="296" name="Google Shape;296;p38"/>
          <p:cNvPicPr preferRelativeResize="0"/>
          <p:nvPr/>
        </p:nvPicPr>
        <p:blipFill rotWithShape="1">
          <a:blip r:embed="rId4">
            <a:alphaModFix/>
          </a:blip>
          <a:srcRect b="0" l="0" r="0" t="0"/>
          <a:stretch/>
        </p:blipFill>
        <p:spPr>
          <a:xfrm>
            <a:off x="5082980" y="1311164"/>
            <a:ext cx="2612646" cy="2010674"/>
          </a:xfrm>
          <a:prstGeom prst="rect">
            <a:avLst/>
          </a:prstGeom>
          <a:noFill/>
          <a:ln>
            <a:noFill/>
          </a:ln>
        </p:spPr>
      </p:pic>
      <p:sp>
        <p:nvSpPr>
          <p:cNvPr id="297" name="Google Shape;297;p38"/>
          <p:cNvSpPr txBox="1"/>
          <p:nvPr/>
        </p:nvSpPr>
        <p:spPr>
          <a:xfrm>
            <a:off x="5729900" y="127175"/>
            <a:ext cx="3364500" cy="11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fMRI</a:t>
            </a:r>
            <a:r>
              <a:rPr lang="en" sz="1800">
                <a:solidFill>
                  <a:schemeClr val="dk2"/>
                </a:solidFill>
              </a:rPr>
              <a:t> uses magnets to detect the presence of oxygenated and non-oxygenated blood in the brain</a:t>
            </a:r>
            <a:endParaRPr sz="1800">
              <a:solidFill>
                <a:schemeClr val="dk2"/>
              </a:solidFill>
            </a:endParaRPr>
          </a:p>
        </p:txBody>
      </p:sp>
      <p:pic>
        <p:nvPicPr>
          <p:cNvPr descr="Photograph of a woman wearing a red and blue EEG cap with multiple electrodes and wires attached, seated at a desk with a keyboard and electronic equipment nearby." id="298" name="Google Shape;298;p38"/>
          <p:cNvPicPr preferRelativeResize="0"/>
          <p:nvPr/>
        </p:nvPicPr>
        <p:blipFill rotWithShape="1">
          <a:blip r:embed="rId5">
            <a:alphaModFix/>
          </a:blip>
          <a:srcRect b="12343" l="9208" r="17537" t="14402"/>
          <a:stretch/>
        </p:blipFill>
        <p:spPr>
          <a:xfrm>
            <a:off x="4572000" y="2951146"/>
            <a:ext cx="1558775" cy="2076380"/>
          </a:xfrm>
          <a:prstGeom prst="rect">
            <a:avLst/>
          </a:prstGeom>
          <a:noFill/>
          <a:ln>
            <a:noFill/>
          </a:ln>
        </p:spPr>
      </p:pic>
      <p:sp>
        <p:nvSpPr>
          <p:cNvPr id="299" name="Google Shape;299;p38"/>
          <p:cNvSpPr txBox="1"/>
          <p:nvPr/>
        </p:nvSpPr>
        <p:spPr>
          <a:xfrm>
            <a:off x="268475" y="4097850"/>
            <a:ext cx="3490200" cy="9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EEG </a:t>
            </a:r>
            <a:r>
              <a:rPr lang="en" sz="1800">
                <a:solidFill>
                  <a:schemeClr val="dk2"/>
                </a:solidFill>
              </a:rPr>
              <a:t>places electrodes on the scalp to measure electrical activity in the brain</a:t>
            </a:r>
            <a:endParaRPr sz="1800">
              <a:solidFill>
                <a:schemeClr val="dk2"/>
              </a:solidFill>
            </a:endParaRPr>
          </a:p>
        </p:txBody>
      </p:sp>
      <p:sp>
        <p:nvSpPr>
          <p:cNvPr id="300" name="Google Shape;300;p38"/>
          <p:cNvSpPr txBox="1"/>
          <p:nvPr/>
        </p:nvSpPr>
        <p:spPr>
          <a:xfrm>
            <a:off x="6485900" y="3596200"/>
            <a:ext cx="2529300" cy="15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Different methods have different benefits &amp; drawbacks; fMRI is high-resolution, but it takes longer than EEG</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txBox="1"/>
          <p:nvPr>
            <p:ph type="title"/>
          </p:nvPr>
        </p:nvSpPr>
        <p:spPr>
          <a:xfrm>
            <a:off x="64400" y="5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Perception</a:t>
            </a:r>
            <a:endParaRPr/>
          </a:p>
        </p:txBody>
      </p:sp>
      <p:sp>
        <p:nvSpPr>
          <p:cNvPr id="306" name="Google Shape;306;p39"/>
          <p:cNvSpPr txBox="1"/>
          <p:nvPr/>
        </p:nvSpPr>
        <p:spPr>
          <a:xfrm>
            <a:off x="178625" y="3673950"/>
            <a:ext cx="2908800" cy="10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Why is it taking so long</a:t>
            </a:r>
            <a:r>
              <a:rPr lang="en" sz="1800">
                <a:solidFill>
                  <a:schemeClr val="dk1"/>
                </a:solidFill>
              </a:rPr>
              <a:t>? It turns out perception is very complex!</a:t>
            </a:r>
            <a:endParaRPr sz="1800">
              <a:solidFill>
                <a:schemeClr val="dk1"/>
              </a:solidFill>
            </a:endParaRPr>
          </a:p>
        </p:txBody>
      </p:sp>
      <p:sp>
        <p:nvSpPr>
          <p:cNvPr id="307" name="Google Shape;307;p39"/>
          <p:cNvSpPr txBox="1"/>
          <p:nvPr/>
        </p:nvSpPr>
        <p:spPr>
          <a:xfrm>
            <a:off x="134250" y="685324"/>
            <a:ext cx="4933500" cy="150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300">
                <a:solidFill>
                  <a:srgbClr val="000000"/>
                </a:solidFill>
                <a:latin typeface="Arial"/>
                <a:ea typeface="Arial"/>
                <a:cs typeface="Arial"/>
                <a:sym typeface="Arial"/>
              </a:rPr>
              <a:t>Perception</a:t>
            </a:r>
            <a:r>
              <a:rPr lang="en" sz="2300">
                <a:solidFill>
                  <a:srgbClr val="000000"/>
                </a:solidFill>
                <a:latin typeface="Arial"/>
                <a:ea typeface="Arial"/>
                <a:cs typeface="Arial"/>
                <a:sym typeface="Arial"/>
              </a:rPr>
              <a:t> – Conscious experience resulting from </a:t>
            </a:r>
            <a:r>
              <a:rPr b="1" lang="en" sz="2300">
                <a:solidFill>
                  <a:srgbClr val="000000"/>
                </a:solidFill>
                <a:latin typeface="Arial"/>
                <a:ea typeface="Arial"/>
                <a:cs typeface="Arial"/>
                <a:sym typeface="Arial"/>
              </a:rPr>
              <a:t>sensation </a:t>
            </a:r>
            <a:r>
              <a:rPr lang="en" sz="2300">
                <a:solidFill>
                  <a:srgbClr val="000000"/>
                </a:solidFill>
                <a:latin typeface="Arial"/>
                <a:ea typeface="Arial"/>
                <a:cs typeface="Arial"/>
                <a:sym typeface="Arial"/>
              </a:rPr>
              <a:t>(information received by sensory organs)</a:t>
            </a:r>
            <a:endParaRPr sz="900"/>
          </a:p>
        </p:txBody>
      </p:sp>
      <p:sp>
        <p:nvSpPr>
          <p:cNvPr id="308" name="Google Shape;308;p39"/>
          <p:cNvSpPr txBox="1"/>
          <p:nvPr/>
        </p:nvSpPr>
        <p:spPr>
          <a:xfrm>
            <a:off x="134259" y="2366282"/>
            <a:ext cx="4272000" cy="10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100" u="none" cap="none" strike="noStrike">
                <a:solidFill>
                  <a:srgbClr val="000000"/>
                </a:solidFill>
                <a:latin typeface="Arial"/>
                <a:ea typeface="Arial"/>
                <a:cs typeface="Arial"/>
                <a:sym typeface="Arial"/>
              </a:rPr>
              <a:t>1966: MIT researchers tr</a:t>
            </a:r>
            <a:r>
              <a:rPr lang="en" sz="2100"/>
              <a:t>ied</a:t>
            </a:r>
            <a:r>
              <a:rPr b="0" i="0" lang="en" sz="2100" u="none" cap="none" strike="noStrike">
                <a:solidFill>
                  <a:srgbClr val="000000"/>
                </a:solidFill>
                <a:latin typeface="Arial"/>
                <a:ea typeface="Arial"/>
                <a:cs typeface="Arial"/>
                <a:sym typeface="Arial"/>
              </a:rPr>
              <a:t> to solve computer vision in a summer and they still haven</a:t>
            </a:r>
            <a:r>
              <a:rPr lang="en" sz="2100"/>
              <a:t>’t</a:t>
            </a:r>
            <a:endParaRPr sz="700"/>
          </a:p>
        </p:txBody>
      </p:sp>
      <p:sp>
        <p:nvSpPr>
          <p:cNvPr id="309" name="Google Shape;309;p39"/>
          <p:cNvSpPr txBox="1"/>
          <p:nvPr/>
        </p:nvSpPr>
        <p:spPr>
          <a:xfrm>
            <a:off x="5433175" y="162475"/>
            <a:ext cx="3440700" cy="11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rPr>
              <a:t>Perceptual ambiguity and the </a:t>
            </a:r>
            <a:r>
              <a:rPr b="1" lang="en" sz="2100">
                <a:solidFill>
                  <a:schemeClr val="dk1"/>
                </a:solidFill>
              </a:rPr>
              <a:t>Inverse Projection Problem</a:t>
            </a:r>
            <a:endParaRPr b="1" sz="2100">
              <a:solidFill>
                <a:schemeClr val="dk1"/>
              </a:solidFill>
            </a:endParaRPr>
          </a:p>
        </p:txBody>
      </p:sp>
      <p:pic>
        <p:nvPicPr>
          <p:cNvPr descr="An illustration shows various objects that create the same image on the retina. A cross-section of the eye is on the left and a book with a red boundary is on the right. A smaller image is formed on the retina, at the back of the eye. Rays from all corners of the image extend to meet at the lens and then diverge to reach the book on the right, further extrapolate to form a large, titled trapezoid, and further extrapolate to form a large, rectangular object. These three objects create the same image on the retina. " id="310" name="Google Shape;310;p39"/>
          <p:cNvPicPr preferRelativeResize="0"/>
          <p:nvPr/>
        </p:nvPicPr>
        <p:blipFill rotWithShape="1">
          <a:blip r:embed="rId3">
            <a:alphaModFix/>
          </a:blip>
          <a:srcRect b="0" l="0" r="0" t="0"/>
          <a:stretch/>
        </p:blipFill>
        <p:spPr>
          <a:xfrm>
            <a:off x="4482750" y="1356525"/>
            <a:ext cx="4572974" cy="1640775"/>
          </a:xfrm>
          <a:prstGeom prst="rect">
            <a:avLst/>
          </a:prstGeom>
          <a:noFill/>
          <a:ln>
            <a:noFill/>
          </a:ln>
        </p:spPr>
      </p:pic>
      <p:pic>
        <p:nvPicPr>
          <p:cNvPr id="311" name="Google Shape;311;p39" title="beach.png"/>
          <p:cNvPicPr preferRelativeResize="0"/>
          <p:nvPr/>
        </p:nvPicPr>
        <p:blipFill>
          <a:blip r:embed="rId4">
            <a:alphaModFix/>
          </a:blip>
          <a:stretch>
            <a:fillRect/>
          </a:stretch>
        </p:blipFill>
        <p:spPr>
          <a:xfrm>
            <a:off x="3397924" y="3362700"/>
            <a:ext cx="2671867" cy="1780799"/>
          </a:xfrm>
          <a:prstGeom prst="rect">
            <a:avLst/>
          </a:prstGeom>
          <a:noFill/>
          <a:ln>
            <a:noFill/>
          </a:ln>
        </p:spPr>
      </p:pic>
      <p:pic>
        <p:nvPicPr>
          <p:cNvPr id="312" name="Google Shape;312;p39" title="speech.png"/>
          <p:cNvPicPr preferRelativeResize="0"/>
          <p:nvPr/>
        </p:nvPicPr>
        <p:blipFill>
          <a:blip r:embed="rId5">
            <a:alphaModFix/>
          </a:blip>
          <a:stretch>
            <a:fillRect/>
          </a:stretch>
        </p:blipFill>
        <p:spPr>
          <a:xfrm>
            <a:off x="6267256" y="3362700"/>
            <a:ext cx="2671867" cy="1780799"/>
          </a:xfrm>
          <a:prstGeom prst="rect">
            <a:avLst/>
          </a:prstGeom>
          <a:noFill/>
          <a:ln>
            <a:noFill/>
          </a:ln>
        </p:spPr>
      </p:pic>
      <p:sp>
        <p:nvSpPr>
          <p:cNvPr id="313" name="Google Shape;313;p39"/>
          <p:cNvSpPr/>
          <p:nvPr/>
        </p:nvSpPr>
        <p:spPr>
          <a:xfrm>
            <a:off x="4815994" y="3430738"/>
            <a:ext cx="426300" cy="864900"/>
          </a:xfrm>
          <a:prstGeom prst="ellipse">
            <a:avLst/>
          </a:prstGeom>
          <a:noFill/>
          <a:ln cap="flat" cmpd="sng" w="17325">
            <a:solidFill>
              <a:srgbClr val="FF00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14" name="Google Shape;314;p39"/>
          <p:cNvSpPr/>
          <p:nvPr/>
        </p:nvSpPr>
        <p:spPr>
          <a:xfrm rot="-5400000">
            <a:off x="4174427" y="3940953"/>
            <a:ext cx="553500" cy="1606500"/>
          </a:xfrm>
          <a:prstGeom prst="ellipse">
            <a:avLst/>
          </a:prstGeom>
          <a:noFill/>
          <a:ln cap="flat" cmpd="sng" w="17325">
            <a:solidFill>
              <a:srgbClr val="FF00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15" name="Google Shape;315;p39"/>
          <p:cNvSpPr/>
          <p:nvPr/>
        </p:nvSpPr>
        <p:spPr>
          <a:xfrm>
            <a:off x="5508659" y="3484020"/>
            <a:ext cx="332100" cy="1504200"/>
          </a:xfrm>
          <a:prstGeom prst="rect">
            <a:avLst/>
          </a:prstGeom>
          <a:noFill/>
          <a:ln cap="flat" cmpd="sng" w="23100">
            <a:solidFill>
              <a:srgbClr val="4285F4"/>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16" name="Google Shape;316;p39"/>
          <p:cNvSpPr/>
          <p:nvPr/>
        </p:nvSpPr>
        <p:spPr>
          <a:xfrm>
            <a:off x="5201996" y="4464031"/>
            <a:ext cx="306600" cy="347100"/>
          </a:xfrm>
          <a:prstGeom prst="rect">
            <a:avLst/>
          </a:prstGeom>
          <a:noFill/>
          <a:ln cap="flat" cmpd="sng" w="11550">
            <a:solidFill>
              <a:srgbClr val="00FF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17" name="Google Shape;317;p39"/>
          <p:cNvSpPr/>
          <p:nvPr/>
        </p:nvSpPr>
        <p:spPr>
          <a:xfrm>
            <a:off x="3824165" y="4639799"/>
            <a:ext cx="200828" cy="65569"/>
          </a:xfrm>
          <a:custGeom>
            <a:rect b="b" l="l" r="r" t="t"/>
            <a:pathLst>
              <a:path extrusionOk="0" h="4328" w="13256">
                <a:moveTo>
                  <a:pt x="0" y="0"/>
                </a:moveTo>
                <a:cubicBezTo>
                  <a:pt x="4648" y="0"/>
                  <a:pt x="8608" y="4328"/>
                  <a:pt x="13256" y="4328"/>
                </a:cubicBezTo>
              </a:path>
            </a:pathLst>
          </a:custGeom>
          <a:noFill/>
          <a:ln cap="flat" cmpd="sng" w="17325">
            <a:solidFill>
              <a:srgbClr val="FF0000"/>
            </a:solidFill>
            <a:prstDash val="solid"/>
            <a:round/>
            <a:headEnd len="med" w="med" type="none"/>
            <a:tailEnd len="med" w="med" type="none"/>
          </a:ln>
        </p:spPr>
      </p:sp>
      <p:sp>
        <p:nvSpPr>
          <p:cNvPr id="318" name="Google Shape;318;p39"/>
          <p:cNvSpPr/>
          <p:nvPr/>
        </p:nvSpPr>
        <p:spPr>
          <a:xfrm>
            <a:off x="4074182" y="4561929"/>
            <a:ext cx="352480" cy="174104"/>
          </a:xfrm>
          <a:custGeom>
            <a:rect b="b" l="l" r="r" t="t"/>
            <a:pathLst>
              <a:path extrusionOk="0" h="11492" w="23266">
                <a:moveTo>
                  <a:pt x="0" y="0"/>
                </a:moveTo>
                <a:cubicBezTo>
                  <a:pt x="1896" y="4737"/>
                  <a:pt x="5645" y="9690"/>
                  <a:pt x="10551" y="11091"/>
                </a:cubicBezTo>
                <a:cubicBezTo>
                  <a:pt x="14829" y="12313"/>
                  <a:pt x="20120" y="10179"/>
                  <a:pt x="23266" y="7033"/>
                </a:cubicBezTo>
              </a:path>
            </a:pathLst>
          </a:custGeom>
          <a:noFill/>
          <a:ln cap="flat" cmpd="sng" w="17325">
            <a:solidFill>
              <a:srgbClr val="FF0000"/>
            </a:solidFill>
            <a:prstDash val="solid"/>
            <a:round/>
            <a:headEnd len="med" w="med" type="none"/>
            <a:tailEnd len="med" w="med" type="none"/>
          </a:ln>
        </p:spPr>
      </p:sp>
      <p:sp>
        <p:nvSpPr>
          <p:cNvPr id="319" name="Google Shape;319;p39"/>
          <p:cNvSpPr/>
          <p:nvPr/>
        </p:nvSpPr>
        <p:spPr>
          <a:xfrm>
            <a:off x="4504528" y="4557823"/>
            <a:ext cx="475437" cy="57373"/>
          </a:xfrm>
          <a:custGeom>
            <a:rect b="b" l="l" r="r" t="t"/>
            <a:pathLst>
              <a:path extrusionOk="0" h="3787" w="31382">
                <a:moveTo>
                  <a:pt x="0" y="0"/>
                </a:moveTo>
                <a:cubicBezTo>
                  <a:pt x="10537" y="0"/>
                  <a:pt x="20845" y="3787"/>
                  <a:pt x="31382" y="3787"/>
                </a:cubicBezTo>
              </a:path>
            </a:pathLst>
          </a:custGeom>
          <a:noFill/>
          <a:ln cap="flat" cmpd="sng" w="17325">
            <a:solidFill>
              <a:srgbClr val="FF0000"/>
            </a:solidFill>
            <a:prstDash val="solid"/>
            <a:round/>
            <a:headEnd len="med" w="med" type="none"/>
            <a:tailEnd len="med" w="med" type="none"/>
          </a:ln>
        </p:spPr>
      </p:sp>
      <p:sp>
        <p:nvSpPr>
          <p:cNvPr id="320" name="Google Shape;320;p39"/>
          <p:cNvSpPr/>
          <p:nvPr/>
        </p:nvSpPr>
        <p:spPr>
          <a:xfrm>
            <a:off x="4530389" y="4802826"/>
            <a:ext cx="421397" cy="31603"/>
          </a:xfrm>
          <a:custGeom>
            <a:rect b="b" l="l" r="r" t="t"/>
            <a:pathLst>
              <a:path extrusionOk="0" h="2086" w="27815">
                <a:moveTo>
                  <a:pt x="0" y="2086"/>
                </a:moveTo>
                <a:cubicBezTo>
                  <a:pt x="9298" y="2086"/>
                  <a:pt x="18517" y="0"/>
                  <a:pt x="27815" y="0"/>
                </a:cubicBezTo>
              </a:path>
            </a:pathLst>
          </a:custGeom>
          <a:noFill/>
          <a:ln cap="flat" cmpd="sng" w="17325">
            <a:solidFill>
              <a:srgbClr val="FF0000"/>
            </a:solidFill>
            <a:prstDash val="solid"/>
            <a:round/>
            <a:headEnd len="med" w="med" type="none"/>
            <a:tailEnd len="med" w="med" type="none"/>
          </a:ln>
        </p:spPr>
      </p:sp>
      <p:sp>
        <p:nvSpPr>
          <p:cNvPr id="321" name="Google Shape;321;p39"/>
          <p:cNvSpPr/>
          <p:nvPr/>
        </p:nvSpPr>
        <p:spPr>
          <a:xfrm>
            <a:off x="7674910" y="3397999"/>
            <a:ext cx="426300" cy="864900"/>
          </a:xfrm>
          <a:prstGeom prst="ellipse">
            <a:avLst/>
          </a:prstGeom>
          <a:noFill/>
          <a:ln cap="flat" cmpd="sng" w="17325">
            <a:solidFill>
              <a:srgbClr val="FF00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22" name="Google Shape;322;p39"/>
          <p:cNvSpPr/>
          <p:nvPr/>
        </p:nvSpPr>
        <p:spPr>
          <a:xfrm rot="-5400000">
            <a:off x="7033343" y="3908214"/>
            <a:ext cx="553500" cy="1606500"/>
          </a:xfrm>
          <a:prstGeom prst="ellipse">
            <a:avLst/>
          </a:prstGeom>
          <a:noFill/>
          <a:ln cap="flat" cmpd="sng" w="17325">
            <a:solidFill>
              <a:srgbClr val="FF00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23" name="Google Shape;323;p39"/>
          <p:cNvSpPr/>
          <p:nvPr/>
        </p:nvSpPr>
        <p:spPr>
          <a:xfrm>
            <a:off x="8367575" y="3451281"/>
            <a:ext cx="332100" cy="1504200"/>
          </a:xfrm>
          <a:prstGeom prst="rect">
            <a:avLst/>
          </a:prstGeom>
          <a:noFill/>
          <a:ln cap="flat" cmpd="sng" w="23100">
            <a:solidFill>
              <a:srgbClr val="4285F4"/>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24" name="Google Shape;324;p39"/>
          <p:cNvSpPr/>
          <p:nvPr/>
        </p:nvSpPr>
        <p:spPr>
          <a:xfrm>
            <a:off x="8060913" y="4431292"/>
            <a:ext cx="306600" cy="347100"/>
          </a:xfrm>
          <a:prstGeom prst="rect">
            <a:avLst/>
          </a:prstGeom>
          <a:noFill/>
          <a:ln cap="flat" cmpd="sng" w="11550">
            <a:solidFill>
              <a:srgbClr val="00FF00"/>
            </a:solidFill>
            <a:prstDash val="solid"/>
            <a:round/>
            <a:headEnd len="sm" w="sm" type="none"/>
            <a:tailEnd len="sm" w="sm" type="none"/>
          </a:ln>
        </p:spPr>
        <p:txBody>
          <a:bodyPr anchorCtr="0" anchor="ctr" bIns="55400" lIns="55400" spcFirstLastPara="1" rIns="55400" wrap="square" tIns="55400">
            <a:noAutofit/>
          </a:bodyPr>
          <a:lstStyle/>
          <a:p>
            <a:pPr indent="0" lvl="0" marL="0" rtl="0" algn="ctr">
              <a:spcBef>
                <a:spcPts val="0"/>
              </a:spcBef>
              <a:spcAft>
                <a:spcPts val="0"/>
              </a:spcAft>
              <a:buNone/>
            </a:pPr>
            <a:r>
              <a:t/>
            </a:r>
            <a:endParaRPr sz="848"/>
          </a:p>
        </p:txBody>
      </p:sp>
      <p:sp>
        <p:nvSpPr>
          <p:cNvPr id="325" name="Google Shape;325;p39"/>
          <p:cNvSpPr/>
          <p:nvPr/>
        </p:nvSpPr>
        <p:spPr>
          <a:xfrm>
            <a:off x="6683081" y="4607060"/>
            <a:ext cx="200828" cy="65569"/>
          </a:xfrm>
          <a:custGeom>
            <a:rect b="b" l="l" r="r" t="t"/>
            <a:pathLst>
              <a:path extrusionOk="0" h="4328" w="13256">
                <a:moveTo>
                  <a:pt x="0" y="0"/>
                </a:moveTo>
                <a:cubicBezTo>
                  <a:pt x="4648" y="0"/>
                  <a:pt x="8608" y="4328"/>
                  <a:pt x="13256" y="4328"/>
                </a:cubicBezTo>
              </a:path>
            </a:pathLst>
          </a:custGeom>
          <a:noFill/>
          <a:ln cap="flat" cmpd="sng" w="17325">
            <a:solidFill>
              <a:srgbClr val="FF0000"/>
            </a:solidFill>
            <a:prstDash val="solid"/>
            <a:round/>
            <a:headEnd len="med" w="med" type="none"/>
            <a:tailEnd len="med" w="med" type="none"/>
          </a:ln>
        </p:spPr>
      </p:sp>
      <p:sp>
        <p:nvSpPr>
          <p:cNvPr id="326" name="Google Shape;326;p39"/>
          <p:cNvSpPr/>
          <p:nvPr/>
        </p:nvSpPr>
        <p:spPr>
          <a:xfrm>
            <a:off x="6933099" y="4529190"/>
            <a:ext cx="352480" cy="174104"/>
          </a:xfrm>
          <a:custGeom>
            <a:rect b="b" l="l" r="r" t="t"/>
            <a:pathLst>
              <a:path extrusionOk="0" h="11492" w="23266">
                <a:moveTo>
                  <a:pt x="0" y="0"/>
                </a:moveTo>
                <a:cubicBezTo>
                  <a:pt x="1896" y="4737"/>
                  <a:pt x="5645" y="9690"/>
                  <a:pt x="10551" y="11091"/>
                </a:cubicBezTo>
                <a:cubicBezTo>
                  <a:pt x="14829" y="12313"/>
                  <a:pt x="20120" y="10179"/>
                  <a:pt x="23266" y="7033"/>
                </a:cubicBezTo>
              </a:path>
            </a:pathLst>
          </a:custGeom>
          <a:noFill/>
          <a:ln cap="flat" cmpd="sng" w="17325">
            <a:solidFill>
              <a:srgbClr val="FF0000"/>
            </a:solidFill>
            <a:prstDash val="solid"/>
            <a:round/>
            <a:headEnd len="med" w="med" type="none"/>
            <a:tailEnd len="med" w="med" type="none"/>
          </a:ln>
        </p:spPr>
      </p:sp>
      <p:sp>
        <p:nvSpPr>
          <p:cNvPr id="327" name="Google Shape;327;p39"/>
          <p:cNvSpPr/>
          <p:nvPr/>
        </p:nvSpPr>
        <p:spPr>
          <a:xfrm>
            <a:off x="7363445" y="4525085"/>
            <a:ext cx="475437" cy="57373"/>
          </a:xfrm>
          <a:custGeom>
            <a:rect b="b" l="l" r="r" t="t"/>
            <a:pathLst>
              <a:path extrusionOk="0" h="3787" w="31382">
                <a:moveTo>
                  <a:pt x="0" y="0"/>
                </a:moveTo>
                <a:cubicBezTo>
                  <a:pt x="10537" y="0"/>
                  <a:pt x="20845" y="3787"/>
                  <a:pt x="31382" y="3787"/>
                </a:cubicBezTo>
              </a:path>
            </a:pathLst>
          </a:custGeom>
          <a:noFill/>
          <a:ln cap="flat" cmpd="sng" w="17325">
            <a:solidFill>
              <a:srgbClr val="FF0000"/>
            </a:solidFill>
            <a:prstDash val="solid"/>
            <a:round/>
            <a:headEnd len="med" w="med" type="none"/>
            <a:tailEnd len="med" w="med" type="none"/>
          </a:ln>
        </p:spPr>
      </p:sp>
      <p:sp>
        <p:nvSpPr>
          <p:cNvPr id="328" name="Google Shape;328;p39"/>
          <p:cNvSpPr/>
          <p:nvPr/>
        </p:nvSpPr>
        <p:spPr>
          <a:xfrm>
            <a:off x="7389306" y="4770087"/>
            <a:ext cx="421397" cy="31603"/>
          </a:xfrm>
          <a:custGeom>
            <a:rect b="b" l="l" r="r" t="t"/>
            <a:pathLst>
              <a:path extrusionOk="0" h="2086" w="27815">
                <a:moveTo>
                  <a:pt x="0" y="2086"/>
                </a:moveTo>
                <a:cubicBezTo>
                  <a:pt x="9298" y="2086"/>
                  <a:pt x="18517" y="0"/>
                  <a:pt x="27815" y="0"/>
                </a:cubicBezTo>
              </a:path>
            </a:pathLst>
          </a:custGeom>
          <a:noFill/>
          <a:ln cap="flat" cmpd="sng" w="17325">
            <a:solidFill>
              <a:srgbClr val="FF0000"/>
            </a:solidFill>
            <a:prstDash val="solid"/>
            <a:round/>
            <a:headEnd len="med" w="med" type="none"/>
            <a:tailEnd len="med" w="med" type="none"/>
          </a:ln>
        </p:spPr>
      </p:sp>
      <p:sp>
        <p:nvSpPr>
          <p:cNvPr id="329" name="Google Shape;329;p39"/>
          <p:cNvSpPr txBox="1"/>
          <p:nvPr/>
        </p:nvSpPr>
        <p:spPr>
          <a:xfrm>
            <a:off x="1914600" y="1826938"/>
            <a:ext cx="5314800" cy="986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300">
                <a:solidFill>
                  <a:schemeClr val="dk2"/>
                </a:solidFill>
              </a:rPr>
              <a:t>Perception is ambiguous!</a:t>
            </a:r>
            <a:endParaRPr b="1" sz="33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0"/>
          <p:cNvSpPr txBox="1"/>
          <p:nvPr>
            <p:ph type="title"/>
          </p:nvPr>
        </p:nvSpPr>
        <p:spPr>
          <a:xfrm>
            <a:off x="64400" y="5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Perception</a:t>
            </a:r>
            <a:endParaRPr/>
          </a:p>
        </p:txBody>
      </p:sp>
      <p:pic>
        <p:nvPicPr>
          <p:cNvPr descr="A person smiling at the camera&#10;&#10;AI-generated content may be incorrect." id="335" name="Google Shape;335;p40"/>
          <p:cNvPicPr preferRelativeResize="0"/>
          <p:nvPr/>
        </p:nvPicPr>
        <p:blipFill rotWithShape="1">
          <a:blip r:embed="rId3">
            <a:alphaModFix/>
          </a:blip>
          <a:srcRect b="0" l="19691" r="20184" t="0"/>
          <a:stretch/>
        </p:blipFill>
        <p:spPr>
          <a:xfrm>
            <a:off x="183700" y="818174"/>
            <a:ext cx="4388300" cy="1430039"/>
          </a:xfrm>
          <a:prstGeom prst="rect">
            <a:avLst/>
          </a:prstGeom>
          <a:noFill/>
          <a:ln>
            <a:noFill/>
          </a:ln>
        </p:spPr>
      </p:pic>
      <p:pic>
        <p:nvPicPr>
          <p:cNvPr descr="Gurney Journey: Color Constancy" id="336" name="Google Shape;336;p40"/>
          <p:cNvPicPr preferRelativeResize="0"/>
          <p:nvPr/>
        </p:nvPicPr>
        <p:blipFill rotWithShape="1">
          <a:blip r:embed="rId4">
            <a:alphaModFix/>
          </a:blip>
          <a:srcRect b="19088" l="0" r="0" t="17477"/>
          <a:stretch/>
        </p:blipFill>
        <p:spPr>
          <a:xfrm>
            <a:off x="228054" y="2248213"/>
            <a:ext cx="4343946" cy="1587894"/>
          </a:xfrm>
          <a:prstGeom prst="rect">
            <a:avLst/>
          </a:prstGeom>
          <a:noFill/>
          <a:ln>
            <a:noFill/>
          </a:ln>
        </p:spPr>
      </p:pic>
      <p:sp>
        <p:nvSpPr>
          <p:cNvPr id="337" name="Google Shape;337;p40"/>
          <p:cNvSpPr txBox="1"/>
          <p:nvPr/>
        </p:nvSpPr>
        <p:spPr>
          <a:xfrm>
            <a:off x="4988075" y="840775"/>
            <a:ext cx="3129900" cy="22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Viewpoint</a:t>
            </a:r>
            <a:r>
              <a:rPr lang="en" sz="1800">
                <a:solidFill>
                  <a:schemeClr val="dk1"/>
                </a:solidFill>
              </a:rPr>
              <a:t> and </a:t>
            </a:r>
            <a:r>
              <a:rPr b="1" lang="en" sz="1800">
                <a:solidFill>
                  <a:schemeClr val="dk1"/>
                </a:solidFill>
              </a:rPr>
              <a:t>color constancy</a:t>
            </a:r>
            <a:r>
              <a:rPr lang="en" sz="1800">
                <a:solidFill>
                  <a:schemeClr val="dk1"/>
                </a:solidFill>
              </a:rPr>
              <a:t>: even though each of these images “look” different, they have to be recognized by the system as being the same despite their context</a:t>
            </a:r>
            <a:endParaRPr sz="1800">
              <a:solidFill>
                <a:schemeClr val="dk1"/>
              </a:solidFill>
            </a:endParaRPr>
          </a:p>
        </p:txBody>
      </p:sp>
      <p:sp>
        <p:nvSpPr>
          <p:cNvPr id="338" name="Google Shape;338;p40"/>
          <p:cNvSpPr txBox="1"/>
          <p:nvPr/>
        </p:nvSpPr>
        <p:spPr>
          <a:xfrm>
            <a:off x="1349450" y="3895800"/>
            <a:ext cx="3398400" cy="11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Apparent motion: </a:t>
            </a:r>
            <a:r>
              <a:rPr lang="en" sz="1800">
                <a:solidFill>
                  <a:schemeClr val="dk1"/>
                </a:solidFill>
              </a:rPr>
              <a:t>Individual images in sequence can give rise to the appearance of motion</a:t>
            </a:r>
            <a:endParaRPr sz="1800">
              <a:solidFill>
                <a:schemeClr val="dk1"/>
              </a:solidFill>
            </a:endParaRPr>
          </a:p>
        </p:txBody>
      </p:sp>
      <p:pic>
        <p:nvPicPr>
          <p:cNvPr descr="a gif of two cartoon eyes moving across a black background, looking back and forth " id="339" name="Google Shape;339;p40"/>
          <p:cNvPicPr preferRelativeResize="0"/>
          <p:nvPr/>
        </p:nvPicPr>
        <p:blipFill rotWithShape="1">
          <a:blip r:embed="rId5">
            <a:alphaModFix/>
          </a:blip>
          <a:srcRect b="0" l="0" r="0" t="0"/>
          <a:stretch/>
        </p:blipFill>
        <p:spPr>
          <a:xfrm>
            <a:off x="4988075" y="3052075"/>
            <a:ext cx="3370123" cy="1895700"/>
          </a:xfrm>
          <a:prstGeom prst="rect">
            <a:avLst/>
          </a:prstGeom>
          <a:noFill/>
          <a:ln>
            <a:noFill/>
          </a:ln>
        </p:spPr>
      </p:pic>
      <p:sp>
        <p:nvSpPr>
          <p:cNvPr id="340" name="Google Shape;340;p40"/>
          <p:cNvSpPr txBox="1"/>
          <p:nvPr/>
        </p:nvSpPr>
        <p:spPr>
          <a:xfrm>
            <a:off x="5579488" y="3052075"/>
            <a:ext cx="21873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Apparent motion</a:t>
            </a:r>
            <a:endParaRPr b="1"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type="title"/>
          </p:nvPr>
        </p:nvSpPr>
        <p:spPr>
          <a:xfrm>
            <a:off x="64400" y="5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Perception</a:t>
            </a:r>
            <a:endParaRPr/>
          </a:p>
        </p:txBody>
      </p:sp>
      <p:sp>
        <p:nvSpPr>
          <p:cNvPr id="346" name="Google Shape;346;p41"/>
          <p:cNvSpPr txBox="1"/>
          <p:nvPr/>
        </p:nvSpPr>
        <p:spPr>
          <a:xfrm>
            <a:off x="64400" y="759050"/>
            <a:ext cx="3412200" cy="1125000"/>
          </a:xfrm>
          <a:prstGeom prst="rect">
            <a:avLst/>
          </a:prstGeom>
          <a:noFill/>
          <a:ln>
            <a:noFill/>
          </a:ln>
        </p:spPr>
        <p:txBody>
          <a:bodyPr anchorCtr="0" anchor="t" bIns="98350" lIns="98350" spcFirstLastPara="1" rIns="98350" wrap="square" tIns="98350">
            <a:noAutofit/>
          </a:bodyPr>
          <a:lstStyle/>
          <a:p>
            <a:pPr indent="0" lvl="0" marL="0" rtl="0" algn="l">
              <a:spcBef>
                <a:spcPts val="0"/>
              </a:spcBef>
              <a:spcAft>
                <a:spcPts val="0"/>
              </a:spcAft>
              <a:buNone/>
            </a:pPr>
            <a:r>
              <a:rPr b="1" lang="en" sz="1936">
                <a:solidFill>
                  <a:schemeClr val="dk1"/>
                </a:solidFill>
              </a:rPr>
              <a:t>Perception is shaped by experience</a:t>
            </a:r>
            <a:endParaRPr b="1" sz="1936">
              <a:solidFill>
                <a:schemeClr val="dk1"/>
              </a:solidFill>
            </a:endParaRPr>
          </a:p>
        </p:txBody>
      </p:sp>
      <p:pic>
        <p:nvPicPr>
          <p:cNvPr descr="Photograph of a dress hanging indoors, showing horizontal stripes of lace and pleated fabric. Lighting and color perception create a visual debate over whether the dress is blue and black or white and gold.." id="347" name="Google Shape;347;p41"/>
          <p:cNvPicPr preferRelativeResize="0"/>
          <p:nvPr/>
        </p:nvPicPr>
        <p:blipFill rotWithShape="1">
          <a:blip r:embed="rId3">
            <a:alphaModFix/>
          </a:blip>
          <a:srcRect b="0" l="0" r="0" t="0"/>
          <a:stretch/>
        </p:blipFill>
        <p:spPr>
          <a:xfrm>
            <a:off x="64400" y="1868243"/>
            <a:ext cx="1680716" cy="2551695"/>
          </a:xfrm>
          <a:prstGeom prst="rect">
            <a:avLst/>
          </a:prstGeom>
          <a:noFill/>
          <a:ln>
            <a:noFill/>
          </a:ln>
        </p:spPr>
      </p:pic>
      <p:pic>
        <p:nvPicPr>
          <p:cNvPr descr="Photograph of a dress hanging indoors, showing horizontal stripes of lace and pleated fabric. Lighting and color perception create a visual debate over whether the dress is blue and black or white and gold." id="348" name="Google Shape;348;p41"/>
          <p:cNvPicPr preferRelativeResize="0"/>
          <p:nvPr/>
        </p:nvPicPr>
        <p:blipFill rotWithShape="1">
          <a:blip r:embed="rId4">
            <a:alphaModFix/>
          </a:blip>
          <a:srcRect b="0" l="0" r="0" t="0"/>
          <a:stretch/>
        </p:blipFill>
        <p:spPr>
          <a:xfrm>
            <a:off x="4461641" y="1828298"/>
            <a:ext cx="1680716" cy="2551695"/>
          </a:xfrm>
          <a:prstGeom prst="rect">
            <a:avLst/>
          </a:prstGeom>
          <a:noFill/>
          <a:ln>
            <a:noFill/>
          </a:ln>
        </p:spPr>
      </p:pic>
      <p:sp>
        <p:nvSpPr>
          <p:cNvPr id="349" name="Google Shape;349;p41"/>
          <p:cNvSpPr/>
          <p:nvPr/>
        </p:nvSpPr>
        <p:spPr>
          <a:xfrm>
            <a:off x="521866" y="1583009"/>
            <a:ext cx="1490100" cy="2991600"/>
          </a:xfrm>
          <a:prstGeom prst="roundRect">
            <a:avLst>
              <a:gd fmla="val 16667" name="adj"/>
            </a:avLst>
          </a:prstGeom>
          <a:solidFill>
            <a:srgbClr val="F2D29D">
              <a:alpha val="41960"/>
            </a:srgbClr>
          </a:solidFill>
          <a:ln>
            <a:noFill/>
          </a:ln>
        </p:spPr>
        <p:txBody>
          <a:bodyPr anchorCtr="0" anchor="ctr" bIns="24500" lIns="49000" spcFirstLastPara="1" rIns="49000" wrap="square" tIns="24500">
            <a:noAutofit/>
          </a:bodyPr>
          <a:lstStyle/>
          <a:p>
            <a:pPr indent="0" lvl="0" marL="0" marR="0" rtl="0" algn="ctr">
              <a:spcBef>
                <a:spcPts val="0"/>
              </a:spcBef>
              <a:spcAft>
                <a:spcPts val="0"/>
              </a:spcAft>
              <a:buNone/>
            </a:pPr>
            <a:r>
              <a:t/>
            </a:r>
            <a:endParaRPr sz="964">
              <a:solidFill>
                <a:srgbClr val="FFFFFF"/>
              </a:solidFill>
              <a:latin typeface="Calibri"/>
              <a:ea typeface="Calibri"/>
              <a:cs typeface="Calibri"/>
              <a:sym typeface="Calibri"/>
            </a:endParaRPr>
          </a:p>
        </p:txBody>
      </p:sp>
      <p:sp>
        <p:nvSpPr>
          <p:cNvPr id="350" name="Google Shape;350;p41"/>
          <p:cNvSpPr/>
          <p:nvPr/>
        </p:nvSpPr>
        <p:spPr>
          <a:xfrm>
            <a:off x="5003049" y="1630705"/>
            <a:ext cx="1251000" cy="2991600"/>
          </a:xfrm>
          <a:prstGeom prst="roundRect">
            <a:avLst>
              <a:gd fmla="val 16667" name="adj"/>
            </a:avLst>
          </a:prstGeom>
          <a:solidFill>
            <a:srgbClr val="271A78">
              <a:alpha val="30980"/>
            </a:srgbClr>
          </a:solidFill>
          <a:ln>
            <a:noFill/>
          </a:ln>
        </p:spPr>
        <p:txBody>
          <a:bodyPr anchorCtr="0" anchor="ctr" bIns="24500" lIns="49000" spcFirstLastPara="1" rIns="49000" wrap="square" tIns="24500">
            <a:noAutofit/>
          </a:bodyPr>
          <a:lstStyle/>
          <a:p>
            <a:pPr indent="0" lvl="0" marL="0" marR="0" rtl="0" algn="ctr">
              <a:spcBef>
                <a:spcPts val="0"/>
              </a:spcBef>
              <a:spcAft>
                <a:spcPts val="0"/>
              </a:spcAft>
              <a:buNone/>
            </a:pPr>
            <a:r>
              <a:t/>
            </a:r>
            <a:endParaRPr sz="964">
              <a:solidFill>
                <a:srgbClr val="FFFFFF"/>
              </a:solidFill>
              <a:latin typeface="Calibri"/>
              <a:ea typeface="Calibri"/>
              <a:cs typeface="Calibri"/>
              <a:sym typeface="Calibri"/>
            </a:endParaRPr>
          </a:p>
        </p:txBody>
      </p:sp>
      <p:pic>
        <p:nvPicPr>
          <p:cNvPr descr="Photograph of a dress hanging indoors, showing horizontal stripes of lace and pleated fabric. Lighting and color perception create a visual debate over whether the dress is blue and black or white and gold." id="351" name="Google Shape;351;p41"/>
          <p:cNvPicPr preferRelativeResize="0"/>
          <p:nvPr/>
        </p:nvPicPr>
        <p:blipFill rotWithShape="1">
          <a:blip r:embed="rId5">
            <a:alphaModFix/>
          </a:blip>
          <a:srcRect b="0" l="0" r="0" t="0"/>
          <a:stretch/>
        </p:blipFill>
        <p:spPr>
          <a:xfrm>
            <a:off x="2200174" y="1868243"/>
            <a:ext cx="1680716" cy="2551695"/>
          </a:xfrm>
          <a:prstGeom prst="rect">
            <a:avLst/>
          </a:prstGeom>
          <a:noFill/>
          <a:ln>
            <a:noFill/>
          </a:ln>
        </p:spPr>
      </p:pic>
      <p:pic>
        <p:nvPicPr>
          <p:cNvPr descr="Two side-by-side scatter plots compare percent reporting white/gold across circadian types labeled Strong Owl, Owl, Lark, and Strong Lark. Both plots show an increasing trend from Strong Owl to Strong Lark, with error bars indicating variability" id="352" name="Google Shape;352;p41"/>
          <p:cNvPicPr preferRelativeResize="0"/>
          <p:nvPr/>
        </p:nvPicPr>
        <p:blipFill rotWithShape="1">
          <a:blip r:embed="rId6">
            <a:alphaModFix/>
          </a:blip>
          <a:srcRect b="0" l="0" r="52263" t="4315"/>
          <a:stretch/>
        </p:blipFill>
        <p:spPr>
          <a:xfrm>
            <a:off x="7084925" y="3143250"/>
            <a:ext cx="1934549" cy="1917601"/>
          </a:xfrm>
          <a:prstGeom prst="rect">
            <a:avLst/>
          </a:prstGeom>
          <a:noFill/>
          <a:ln>
            <a:noFill/>
          </a:ln>
        </p:spPr>
      </p:pic>
      <p:pic>
        <p:nvPicPr>
          <p:cNvPr descr="Scatter plot showing percentages of respondents reporting white/gold color perception under three light assumptions: Natural, Artificial, and Unsure. Natural light assumption has highest percentage around 72%, Artificial lowest near 49%, and Unsure about 55%, with red error bars indicating variability." id="353" name="Google Shape;353;p41"/>
          <p:cNvPicPr preferRelativeResize="0"/>
          <p:nvPr/>
        </p:nvPicPr>
        <p:blipFill rotWithShape="1">
          <a:blip r:embed="rId7">
            <a:alphaModFix/>
          </a:blip>
          <a:srcRect b="0" l="0" r="0" t="0"/>
          <a:stretch/>
        </p:blipFill>
        <p:spPr>
          <a:xfrm>
            <a:off x="6254049" y="1263900"/>
            <a:ext cx="1993274" cy="2008600"/>
          </a:xfrm>
          <a:prstGeom prst="rect">
            <a:avLst/>
          </a:prstGeom>
          <a:noFill/>
          <a:ln>
            <a:noFill/>
          </a:ln>
        </p:spPr>
      </p:pic>
      <p:sp>
        <p:nvSpPr>
          <p:cNvPr id="354" name="Google Shape;354;p41"/>
          <p:cNvSpPr/>
          <p:nvPr/>
        </p:nvSpPr>
        <p:spPr>
          <a:xfrm>
            <a:off x="5998028" y="4747403"/>
            <a:ext cx="1086900" cy="227100"/>
          </a:xfrm>
          <a:prstGeom prst="rect">
            <a:avLst/>
          </a:prstGeom>
          <a:noFill/>
          <a:ln>
            <a:noFill/>
          </a:ln>
        </p:spPr>
        <p:txBody>
          <a:bodyPr anchorCtr="0" anchor="t" bIns="28125" lIns="56225" spcFirstLastPara="1" rIns="56225" wrap="square" tIns="28125">
            <a:noAutofit/>
          </a:bodyPr>
          <a:lstStyle/>
          <a:p>
            <a:pPr indent="0" lvl="0" marL="0" marR="0" rtl="0" algn="l">
              <a:spcBef>
                <a:spcPts val="0"/>
              </a:spcBef>
              <a:spcAft>
                <a:spcPts val="0"/>
              </a:spcAft>
              <a:buNone/>
            </a:pPr>
            <a:r>
              <a:rPr i="1" lang="en" sz="1107">
                <a:solidFill>
                  <a:srgbClr val="000000"/>
                </a:solidFill>
                <a:latin typeface="Arial"/>
                <a:ea typeface="Arial"/>
                <a:cs typeface="Arial"/>
                <a:sym typeface="Arial"/>
              </a:rPr>
              <a:t>Wallisch (2017)</a:t>
            </a:r>
            <a:endParaRPr i="1" sz="1107">
              <a:solidFill>
                <a:srgbClr val="000000"/>
              </a:solidFill>
              <a:latin typeface="Calibri"/>
              <a:ea typeface="Calibri"/>
              <a:cs typeface="Calibri"/>
              <a:sym typeface="Calibri"/>
            </a:endParaRPr>
          </a:p>
        </p:txBody>
      </p:sp>
      <p:sp>
        <p:nvSpPr>
          <p:cNvPr id="355" name="Google Shape;355;p41"/>
          <p:cNvSpPr txBox="1"/>
          <p:nvPr/>
        </p:nvSpPr>
        <p:spPr>
          <a:xfrm>
            <a:off x="10137333" y="6530519"/>
            <a:ext cx="1434600" cy="190800"/>
          </a:xfrm>
          <a:prstGeom prst="rect">
            <a:avLst/>
          </a:prstGeom>
          <a:noFill/>
          <a:ln>
            <a:noFill/>
          </a:ln>
        </p:spPr>
        <p:txBody>
          <a:bodyPr anchorCtr="0" anchor="ctr" bIns="23900" lIns="47800" spcFirstLastPara="1" rIns="47800" wrap="square" tIns="23900">
            <a:noAutofit/>
          </a:bodyPr>
          <a:lstStyle/>
          <a:p>
            <a:pPr indent="0" lvl="0" marL="0" rtl="0" algn="r">
              <a:spcBef>
                <a:spcPts val="0"/>
              </a:spcBef>
              <a:spcAft>
                <a:spcPts val="0"/>
              </a:spcAft>
              <a:buNone/>
            </a:pPr>
            <a:fld id="{00000000-1234-1234-1234-123412341234}" type="slidenum">
              <a:rPr lang="en" sz="628">
                <a:solidFill>
                  <a:srgbClr val="000000"/>
                </a:solidFill>
                <a:latin typeface="Calibri"/>
                <a:ea typeface="Calibri"/>
                <a:cs typeface="Calibri"/>
                <a:sym typeface="Calibri"/>
              </a:rPr>
              <a:t>‹#›</a:t>
            </a:fld>
            <a:endParaRPr sz="628">
              <a:solidFill>
                <a:srgbClr val="000000"/>
              </a:solidFill>
              <a:latin typeface="Calibri"/>
              <a:ea typeface="Calibri"/>
              <a:cs typeface="Calibri"/>
              <a:sym typeface="Calibri"/>
            </a:endParaRPr>
          </a:p>
        </p:txBody>
      </p:sp>
      <p:pic>
        <p:nvPicPr>
          <p:cNvPr descr="Bar chart comparing percent responses for different percept categories between original (n=8084) and replication (n=5333) studies. Both charts show highest responses for W/G (around 60%), followed by B/B (around 30%), with other categories below 10%, indicating consistent response patterns across studies." id="356" name="Google Shape;356;p41"/>
          <p:cNvPicPr preferRelativeResize="0"/>
          <p:nvPr/>
        </p:nvPicPr>
        <p:blipFill rotWithShape="1">
          <a:blip r:embed="rId8">
            <a:alphaModFix/>
          </a:blip>
          <a:srcRect b="0" l="0" r="53983" t="0"/>
          <a:stretch/>
        </p:blipFill>
        <p:spPr>
          <a:xfrm>
            <a:off x="7288150" y="44095"/>
            <a:ext cx="1731327" cy="183995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91900" y="93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Perception</a:t>
            </a:r>
            <a:endParaRPr/>
          </a:p>
        </p:txBody>
      </p:sp>
      <p:sp>
        <p:nvSpPr>
          <p:cNvPr id="362" name="Google Shape;362;p42"/>
          <p:cNvSpPr txBox="1"/>
          <p:nvPr/>
        </p:nvSpPr>
        <p:spPr>
          <a:xfrm>
            <a:off x="153100" y="743000"/>
            <a:ext cx="8398200" cy="572400"/>
          </a:xfrm>
          <a:prstGeom prst="rect">
            <a:avLst/>
          </a:prstGeom>
          <a:noFill/>
          <a:ln>
            <a:noFill/>
          </a:ln>
        </p:spPr>
        <p:txBody>
          <a:bodyPr anchorCtr="0" anchor="t" bIns="31475" lIns="62975" spcFirstLastPara="1" rIns="62975" wrap="square" tIns="31475">
            <a:spAutoFit/>
          </a:bodyPr>
          <a:lstStyle/>
          <a:p>
            <a:pPr indent="0" lvl="0" marL="0" rtl="0" algn="ctr">
              <a:spcBef>
                <a:spcPts val="0"/>
              </a:spcBef>
              <a:spcAft>
                <a:spcPts val="0"/>
              </a:spcAft>
              <a:buNone/>
            </a:pPr>
            <a:r>
              <a:rPr lang="en" sz="3306">
                <a:solidFill>
                  <a:srgbClr val="000000"/>
                </a:solidFill>
              </a:rPr>
              <a:t>Perception is </a:t>
            </a:r>
            <a:r>
              <a:rPr b="1" lang="en" sz="3306">
                <a:solidFill>
                  <a:srgbClr val="000000"/>
                </a:solidFill>
              </a:rPr>
              <a:t>constructive</a:t>
            </a:r>
            <a:r>
              <a:rPr lang="en" sz="3306">
                <a:solidFill>
                  <a:srgbClr val="000000"/>
                </a:solidFill>
              </a:rPr>
              <a:t> and </a:t>
            </a:r>
            <a:r>
              <a:rPr b="1" lang="en" sz="3306">
                <a:solidFill>
                  <a:srgbClr val="000000"/>
                </a:solidFill>
              </a:rPr>
              <a:t>stochastic</a:t>
            </a:r>
            <a:endParaRPr sz="3306">
              <a:solidFill>
                <a:srgbClr val="000000"/>
              </a:solidFill>
            </a:endParaRPr>
          </a:p>
        </p:txBody>
      </p:sp>
      <p:sp>
        <p:nvSpPr>
          <p:cNvPr id="363" name="Google Shape;363;p42"/>
          <p:cNvSpPr txBox="1"/>
          <p:nvPr/>
        </p:nvSpPr>
        <p:spPr>
          <a:xfrm>
            <a:off x="271596" y="1580216"/>
            <a:ext cx="8132400" cy="3795600"/>
          </a:xfrm>
          <a:prstGeom prst="rect">
            <a:avLst/>
          </a:prstGeom>
          <a:noFill/>
          <a:ln>
            <a:noFill/>
          </a:ln>
        </p:spPr>
        <p:txBody>
          <a:bodyPr anchorCtr="0" anchor="t" bIns="31475" lIns="62975" spcFirstLastPara="1" rIns="62975" wrap="square" tIns="31475">
            <a:spAutoFit/>
          </a:bodyPr>
          <a:lstStyle/>
          <a:p>
            <a:pPr indent="0" lvl="0" marL="0" marR="0" rtl="0" algn="l">
              <a:spcBef>
                <a:spcPts val="0"/>
              </a:spcBef>
              <a:spcAft>
                <a:spcPts val="0"/>
              </a:spcAft>
              <a:buNone/>
            </a:pPr>
            <a:r>
              <a:rPr lang="en" sz="2204">
                <a:solidFill>
                  <a:srgbClr val="000000"/>
                </a:solidFill>
                <a:latin typeface="Arial"/>
                <a:ea typeface="Arial"/>
                <a:cs typeface="Arial"/>
                <a:sym typeface="Arial"/>
              </a:rPr>
              <a:t>Perception is </a:t>
            </a:r>
            <a:r>
              <a:rPr b="1" lang="en" sz="2204">
                <a:solidFill>
                  <a:srgbClr val="000000"/>
                </a:solidFill>
                <a:latin typeface="Arial"/>
                <a:ea typeface="Arial"/>
                <a:cs typeface="Arial"/>
                <a:sym typeface="Arial"/>
              </a:rPr>
              <a:t>constructed in the mind</a:t>
            </a:r>
            <a:r>
              <a:rPr lang="en" sz="2204">
                <a:solidFill>
                  <a:srgbClr val="000000"/>
                </a:solidFill>
                <a:latin typeface="Arial"/>
                <a:ea typeface="Arial"/>
                <a:cs typeface="Arial"/>
                <a:sym typeface="Arial"/>
              </a:rPr>
              <a:t>, with some percepts more likely than others </a:t>
            </a:r>
            <a:endParaRPr sz="964"/>
          </a:p>
          <a:p>
            <a:pPr indent="0" lvl="0" marL="0" marR="0" rtl="0" algn="l">
              <a:spcBef>
                <a:spcPts val="0"/>
              </a:spcBef>
              <a:spcAft>
                <a:spcPts val="0"/>
              </a:spcAft>
              <a:buNone/>
            </a:pPr>
            <a:r>
              <a:t/>
            </a:r>
            <a:endParaRPr sz="2204">
              <a:solidFill>
                <a:srgbClr val="000000"/>
              </a:solidFill>
              <a:latin typeface="Arial"/>
              <a:ea typeface="Arial"/>
              <a:cs typeface="Arial"/>
              <a:sym typeface="Arial"/>
            </a:endParaRPr>
          </a:p>
          <a:p>
            <a:pPr indent="0" lvl="0" marL="0" marR="0" rtl="0" algn="l">
              <a:spcBef>
                <a:spcPts val="0"/>
              </a:spcBef>
              <a:spcAft>
                <a:spcPts val="0"/>
              </a:spcAft>
              <a:buNone/>
            </a:pPr>
            <a:r>
              <a:rPr b="1" lang="en" sz="2204">
                <a:solidFill>
                  <a:srgbClr val="000000"/>
                </a:solidFill>
                <a:latin typeface="Arial"/>
                <a:ea typeface="Arial"/>
                <a:cs typeface="Arial"/>
                <a:sym typeface="Arial"/>
              </a:rPr>
              <a:t>Multiple percepts </a:t>
            </a:r>
            <a:r>
              <a:rPr lang="en" sz="2204">
                <a:solidFill>
                  <a:srgbClr val="000000"/>
                </a:solidFill>
                <a:latin typeface="Arial"/>
                <a:ea typeface="Arial"/>
                <a:cs typeface="Arial"/>
                <a:sym typeface="Arial"/>
              </a:rPr>
              <a:t>can arise from input, with perception varying from moment to moment</a:t>
            </a:r>
            <a:endParaRPr sz="964"/>
          </a:p>
          <a:p>
            <a:pPr indent="0" lvl="0" marL="0" marR="0" rtl="0" algn="l">
              <a:spcBef>
                <a:spcPts val="0"/>
              </a:spcBef>
              <a:spcAft>
                <a:spcPts val="0"/>
              </a:spcAft>
              <a:buNone/>
            </a:pPr>
            <a:r>
              <a:t/>
            </a:r>
            <a:endParaRPr sz="2204">
              <a:solidFill>
                <a:srgbClr val="000000"/>
              </a:solidFill>
              <a:latin typeface="Arial"/>
              <a:ea typeface="Arial"/>
              <a:cs typeface="Arial"/>
              <a:sym typeface="Arial"/>
            </a:endParaRPr>
          </a:p>
          <a:p>
            <a:pPr indent="0" lvl="0" marL="0" marR="0" rtl="0" algn="l">
              <a:spcBef>
                <a:spcPts val="0"/>
              </a:spcBef>
              <a:spcAft>
                <a:spcPts val="0"/>
              </a:spcAft>
              <a:buNone/>
            </a:pPr>
            <a:r>
              <a:rPr b="1" lang="en" sz="2204">
                <a:solidFill>
                  <a:srgbClr val="000000"/>
                </a:solidFill>
                <a:latin typeface="Arial"/>
                <a:ea typeface="Arial"/>
                <a:cs typeface="Arial"/>
                <a:sym typeface="Arial"/>
              </a:rPr>
              <a:t>Knowledge</a:t>
            </a:r>
            <a:r>
              <a:rPr lang="en" sz="2204">
                <a:solidFill>
                  <a:srgbClr val="000000"/>
                </a:solidFill>
                <a:latin typeface="Arial"/>
                <a:ea typeface="Arial"/>
                <a:cs typeface="Arial"/>
                <a:sym typeface="Arial"/>
              </a:rPr>
              <a:t> and </a:t>
            </a:r>
            <a:r>
              <a:rPr b="1" lang="en" sz="2204">
                <a:solidFill>
                  <a:srgbClr val="000000"/>
                </a:solidFill>
                <a:latin typeface="Arial"/>
                <a:ea typeface="Arial"/>
                <a:cs typeface="Arial"/>
                <a:sym typeface="Arial"/>
              </a:rPr>
              <a:t>experience </a:t>
            </a:r>
            <a:r>
              <a:rPr lang="en" sz="2204">
                <a:solidFill>
                  <a:srgbClr val="000000"/>
                </a:solidFill>
                <a:latin typeface="Arial"/>
                <a:ea typeface="Arial"/>
                <a:cs typeface="Arial"/>
                <a:sym typeface="Arial"/>
              </a:rPr>
              <a:t>are important determinants for perception and allow us to achieve perceptual constancy</a:t>
            </a:r>
            <a:endParaRPr sz="964"/>
          </a:p>
          <a:p>
            <a:pPr indent="0" lvl="0" marL="0" marR="0" rtl="0" algn="l">
              <a:spcBef>
                <a:spcPts val="0"/>
              </a:spcBef>
              <a:spcAft>
                <a:spcPts val="0"/>
              </a:spcAft>
              <a:buNone/>
            </a:pPr>
            <a:r>
              <a:t/>
            </a:r>
            <a:endParaRPr sz="2204">
              <a:solidFill>
                <a:srgbClr val="000000"/>
              </a:solidFill>
              <a:latin typeface="Arial"/>
              <a:ea typeface="Arial"/>
              <a:cs typeface="Arial"/>
              <a:sym typeface="Arial"/>
            </a:endParaRPr>
          </a:p>
          <a:p>
            <a:pPr indent="0" lvl="0" marL="0" marR="0" rtl="0" algn="l">
              <a:spcBef>
                <a:spcPts val="0"/>
              </a:spcBef>
              <a:spcAft>
                <a:spcPts val="0"/>
              </a:spcAft>
              <a:buNone/>
            </a:pPr>
            <a:r>
              <a:t/>
            </a:r>
            <a:endParaRPr b="1" sz="2204">
              <a:solidFill>
                <a:srgbClr val="000000"/>
              </a:solidFill>
              <a:latin typeface="Arial"/>
              <a:ea typeface="Arial"/>
              <a:cs typeface="Arial"/>
              <a:sym typeface="Arial"/>
            </a:endParaRPr>
          </a:p>
          <a:p>
            <a:pPr indent="0" lvl="0" marL="0" marR="0" rtl="0" algn="l">
              <a:spcBef>
                <a:spcPts val="0"/>
              </a:spcBef>
              <a:spcAft>
                <a:spcPts val="0"/>
              </a:spcAft>
              <a:buNone/>
            </a:pPr>
            <a:r>
              <a:t/>
            </a:r>
            <a:endParaRPr b="1" sz="2204">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descr="A graph of different types of animals&#10;&#10;AI-generated content may be incorrect." id="368" name="Google Shape;368;p43"/>
          <p:cNvPicPr preferRelativeResize="0"/>
          <p:nvPr/>
        </p:nvPicPr>
        <p:blipFill rotWithShape="1">
          <a:blip r:embed="rId3">
            <a:alphaModFix/>
          </a:blip>
          <a:srcRect b="0" l="0" r="0" t="0"/>
          <a:stretch/>
        </p:blipFill>
        <p:spPr>
          <a:xfrm>
            <a:off x="716483" y="1622409"/>
            <a:ext cx="3134459" cy="2441697"/>
          </a:xfrm>
          <a:prstGeom prst="rect">
            <a:avLst/>
          </a:prstGeom>
          <a:noFill/>
          <a:ln>
            <a:noFill/>
          </a:ln>
        </p:spPr>
      </p:pic>
      <p:sp>
        <p:nvSpPr>
          <p:cNvPr id="369" name="Google Shape;369;p43"/>
          <p:cNvSpPr txBox="1"/>
          <p:nvPr/>
        </p:nvSpPr>
        <p:spPr>
          <a:xfrm>
            <a:off x="105411" y="1061324"/>
            <a:ext cx="43566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Components – objects are made of </a:t>
            </a:r>
            <a:r>
              <a:rPr b="1" i="1" lang="en" sz="1400">
                <a:solidFill>
                  <a:schemeClr val="dk1"/>
                </a:solidFill>
              </a:rPr>
              <a:t>geons, </a:t>
            </a:r>
            <a:r>
              <a:rPr lang="en">
                <a:solidFill>
                  <a:schemeClr val="dk1"/>
                </a:solidFill>
              </a:rPr>
              <a:t>and we recognize these basic components</a:t>
            </a:r>
            <a:endParaRPr sz="1100"/>
          </a:p>
        </p:txBody>
      </p:sp>
      <p:sp>
        <p:nvSpPr>
          <p:cNvPr id="370" name="Google Shape;370;p43"/>
          <p:cNvSpPr txBox="1"/>
          <p:nvPr/>
        </p:nvSpPr>
        <p:spPr>
          <a:xfrm>
            <a:off x="265009" y="4064106"/>
            <a:ext cx="41970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If an image is </a:t>
            </a:r>
            <a:r>
              <a:rPr lang="en">
                <a:solidFill>
                  <a:schemeClr val="dk1"/>
                </a:solidFill>
              </a:rPr>
              <a:t>altered</a:t>
            </a:r>
            <a:r>
              <a:rPr lang="en" sz="1400">
                <a:solidFill>
                  <a:schemeClr val="dk1"/>
                </a:solidFill>
                <a:latin typeface="Arial"/>
                <a:ea typeface="Arial"/>
                <a:cs typeface="Arial"/>
                <a:sym typeface="Arial"/>
              </a:rPr>
              <a:t> such that its complement (inverse) has </a:t>
            </a:r>
            <a:r>
              <a:rPr b="1" i="1" lang="en" sz="1400">
                <a:solidFill>
                  <a:schemeClr val="dk1"/>
                </a:solidFill>
                <a:latin typeface="Arial"/>
                <a:ea typeface="Arial"/>
                <a:cs typeface="Arial"/>
                <a:sym typeface="Arial"/>
              </a:rPr>
              <a:t>unrecognizable </a:t>
            </a:r>
            <a:r>
              <a:rPr lang="en" sz="1400">
                <a:solidFill>
                  <a:schemeClr val="dk1"/>
                </a:solidFill>
                <a:latin typeface="Arial"/>
                <a:ea typeface="Arial"/>
                <a:cs typeface="Arial"/>
                <a:sym typeface="Arial"/>
              </a:rPr>
              <a:t>geons, priming is not as strong</a:t>
            </a:r>
            <a:endParaRPr sz="1100"/>
          </a:p>
        </p:txBody>
      </p:sp>
      <p:sp>
        <p:nvSpPr>
          <p:cNvPr id="371" name="Google Shape;371;p43"/>
          <p:cNvSpPr txBox="1"/>
          <p:nvPr/>
        </p:nvSpPr>
        <p:spPr>
          <a:xfrm>
            <a:off x="4809775" y="2091325"/>
            <a:ext cx="40449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000">
                <a:solidFill>
                  <a:schemeClr val="dk1"/>
                </a:solidFill>
                <a:latin typeface="Arial"/>
                <a:ea typeface="Arial"/>
                <a:cs typeface="Arial"/>
                <a:sym typeface="Arial"/>
              </a:rPr>
              <a:t>The </a:t>
            </a:r>
            <a:r>
              <a:rPr b="1" lang="en" sz="2000">
                <a:solidFill>
                  <a:schemeClr val="dk1"/>
                </a:solidFill>
              </a:rPr>
              <a:t>FFA</a:t>
            </a:r>
            <a:r>
              <a:rPr lang="en" sz="2000">
                <a:solidFill>
                  <a:schemeClr val="dk1"/>
                </a:solidFill>
                <a:latin typeface="Arial"/>
                <a:ea typeface="Arial"/>
                <a:cs typeface="Arial"/>
                <a:sym typeface="Arial"/>
              </a:rPr>
              <a:t> is recruited more when viewing </a:t>
            </a:r>
            <a:r>
              <a:rPr b="1" lang="en" sz="2000">
                <a:solidFill>
                  <a:schemeClr val="dk1"/>
                </a:solidFill>
              </a:rPr>
              <a:t>faces</a:t>
            </a:r>
            <a:r>
              <a:rPr lang="en" sz="2000">
                <a:solidFill>
                  <a:schemeClr val="dk1"/>
                </a:solidFill>
                <a:latin typeface="Arial"/>
                <a:ea typeface="Arial"/>
                <a:cs typeface="Arial"/>
                <a:sym typeface="Arial"/>
              </a:rPr>
              <a:t> than other objects</a:t>
            </a:r>
            <a:endParaRPr sz="1700"/>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 sz="2000">
                <a:solidFill>
                  <a:schemeClr val="dk1"/>
                </a:solidFill>
                <a:latin typeface="Arial"/>
                <a:ea typeface="Arial"/>
                <a:cs typeface="Arial"/>
                <a:sym typeface="Arial"/>
              </a:rPr>
              <a:t>BUT </a:t>
            </a:r>
            <a:r>
              <a:rPr b="1" lang="en" sz="2000">
                <a:solidFill>
                  <a:schemeClr val="dk1"/>
                </a:solidFill>
              </a:rPr>
              <a:t>it</a:t>
            </a:r>
            <a:r>
              <a:rPr lang="en" sz="2000">
                <a:solidFill>
                  <a:schemeClr val="dk1"/>
                </a:solidFill>
                <a:latin typeface="Arial"/>
                <a:ea typeface="Arial"/>
                <a:cs typeface="Arial"/>
                <a:sym typeface="Arial"/>
              </a:rPr>
              <a:t> </a:t>
            </a:r>
            <a:r>
              <a:rPr b="1" lang="en" sz="2000">
                <a:solidFill>
                  <a:schemeClr val="dk1"/>
                </a:solidFill>
              </a:rPr>
              <a:t>is also recruited when we accumulate expertise with something</a:t>
            </a:r>
            <a:endParaRPr b="1" sz="1700"/>
          </a:p>
        </p:txBody>
      </p:sp>
      <p:pic>
        <p:nvPicPr>
          <p:cNvPr descr="An illustration a and a bar graph b. The illustration a shows four greebles, arranged in two rows and two columns, with different facial features. The bar graph plots F F A response before and after training. The vertical axis is labeled F F A response. The horizontal axis shows two markings: Before training and after training. The data are as follows: Before training: Greebles, Low response; Faces, High response. After training: Greebles, Moderate response; Faces, Moderate response." id="372" name="Google Shape;372;p43"/>
          <p:cNvPicPr preferRelativeResize="0"/>
          <p:nvPr/>
        </p:nvPicPr>
        <p:blipFill rotWithShape="1">
          <a:blip r:embed="rId4">
            <a:alphaModFix/>
          </a:blip>
          <a:srcRect b="0" l="0" r="0" t="0"/>
          <a:stretch/>
        </p:blipFill>
        <p:spPr>
          <a:xfrm>
            <a:off x="5590271" y="0"/>
            <a:ext cx="2929804" cy="2091325"/>
          </a:xfrm>
          <a:prstGeom prst="rect">
            <a:avLst/>
          </a:prstGeom>
          <a:noFill/>
          <a:ln>
            <a:noFill/>
          </a:ln>
        </p:spPr>
      </p:pic>
      <p:sp>
        <p:nvSpPr>
          <p:cNvPr id="373" name="Google Shape;373;p43"/>
          <p:cNvSpPr txBox="1"/>
          <p:nvPr/>
        </p:nvSpPr>
        <p:spPr>
          <a:xfrm>
            <a:off x="4809773" y="4064100"/>
            <a:ext cx="4243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000">
                <a:solidFill>
                  <a:schemeClr val="dk1"/>
                </a:solidFill>
              </a:rPr>
              <a:t>Expertise increases holistic object recognition</a:t>
            </a:r>
            <a:endParaRPr b="1" sz="1700"/>
          </a:p>
        </p:txBody>
      </p:sp>
      <p:sp>
        <p:nvSpPr>
          <p:cNvPr id="374" name="Google Shape;374;p43"/>
          <p:cNvSpPr txBox="1"/>
          <p:nvPr/>
        </p:nvSpPr>
        <p:spPr>
          <a:xfrm>
            <a:off x="309250" y="284525"/>
            <a:ext cx="40449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rPr>
              <a:t>Object Recognition</a:t>
            </a:r>
            <a:endParaRPr b="1" sz="2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68"/>
                                        </p:tgtEl>
                                        <p:attrNameLst>
                                          <p:attrName>style.visibility</p:attrName>
                                        </p:attrNameLst>
                                      </p:cBhvr>
                                      <p:to>
                                        <p:strVal val="visible"/>
                                      </p:to>
                                    </p:set>
                                    <p:anim calcmode="lin" valueType="num">
                                      <p:cBhvr additive="base">
                                        <p:cTn dur="500"/>
                                        <p:tgtEl>
                                          <p:spTgt spid="3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gtEl>
                                        <p:attrNameLst>
                                          <p:attrName>style.visibility</p:attrName>
                                        </p:attrNameLst>
                                      </p:cBhvr>
                                      <p:to>
                                        <p:strVal val="visible"/>
                                      </p:to>
                                    </p:set>
                                    <p:anim calcmode="lin" valueType="num">
                                      <p:cBhvr additive="base">
                                        <p:cTn dur="500"/>
                                        <p:tgtEl>
                                          <p:spTgt spid="3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 calcmode="lin" valueType="num">
                                      <p:cBhvr additive="base">
                                        <p:cTn dur="500"/>
                                        <p:tgtEl>
                                          <p:spTgt spid="3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 calcmode="lin" valueType="num">
                                      <p:cBhvr additive="base">
                                        <p:cTn dur="500"/>
                                        <p:tgtEl>
                                          <p:spTgt spid="37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anim calcmode="lin" valueType="num">
                                      <p:cBhvr additive="base">
                                        <p:cTn dur="500"/>
                                        <p:tgtEl>
                                          <p:spTgt spid="37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2"/>
                                        </p:tgtEl>
                                        <p:attrNameLst>
                                          <p:attrName>style.visibility</p:attrName>
                                        </p:attrNameLst>
                                      </p:cBhvr>
                                      <p:to>
                                        <p:strVal val="visible"/>
                                      </p:to>
                                    </p:set>
                                    <p:anim calcmode="lin" valueType="num">
                                      <p:cBhvr additive="base">
                                        <p:cTn dur="500"/>
                                        <p:tgtEl>
                                          <p:spTgt spid="3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3"/>
                                        </p:tgtEl>
                                        <p:attrNameLst>
                                          <p:attrName>style.visibility</p:attrName>
                                        </p:attrNameLst>
                                      </p:cBhvr>
                                      <p:to>
                                        <p:strVal val="visible"/>
                                      </p:to>
                                    </p:set>
                                    <p:anim calcmode="lin" valueType="num">
                                      <p:cBhvr additive="base">
                                        <p:cTn dur="500"/>
                                        <p:tgtEl>
                                          <p:spTgt spid="3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4"/>
          <p:cNvSpPr txBox="1"/>
          <p:nvPr>
            <p:ph type="title"/>
          </p:nvPr>
        </p:nvSpPr>
        <p:spPr>
          <a:xfrm>
            <a:off x="58300" y="7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 Imagery</a:t>
            </a:r>
            <a:endParaRPr/>
          </a:p>
        </p:txBody>
      </p:sp>
      <p:sp>
        <p:nvSpPr>
          <p:cNvPr id="380" name="Google Shape;380;p44"/>
          <p:cNvSpPr txBox="1"/>
          <p:nvPr/>
        </p:nvSpPr>
        <p:spPr>
          <a:xfrm>
            <a:off x="3597400" y="78000"/>
            <a:ext cx="5333400" cy="110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000000"/>
                </a:solidFill>
                <a:latin typeface="Arial"/>
                <a:ea typeface="Arial"/>
                <a:cs typeface="Arial"/>
                <a:sym typeface="Arial"/>
              </a:rPr>
              <a:t>Imagery:</a:t>
            </a:r>
            <a:r>
              <a:rPr lang="en" sz="2200">
                <a:solidFill>
                  <a:srgbClr val="000000"/>
                </a:solidFill>
                <a:latin typeface="Arial"/>
                <a:ea typeface="Arial"/>
                <a:cs typeface="Arial"/>
                <a:sym typeface="Arial"/>
              </a:rPr>
              <a:t> Creating a perceptual experience in the absence of physical stimuli</a:t>
            </a:r>
            <a:endParaRPr sz="800"/>
          </a:p>
        </p:txBody>
      </p:sp>
      <p:sp>
        <p:nvSpPr>
          <p:cNvPr id="381" name="Google Shape;381;p44"/>
          <p:cNvSpPr txBox="1"/>
          <p:nvPr/>
        </p:nvSpPr>
        <p:spPr>
          <a:xfrm>
            <a:off x="3760923" y="3967281"/>
            <a:ext cx="1273500" cy="169500"/>
          </a:xfrm>
          <a:prstGeom prst="rect">
            <a:avLst/>
          </a:prstGeom>
          <a:noFill/>
          <a:ln>
            <a:noFill/>
          </a:ln>
        </p:spPr>
        <p:txBody>
          <a:bodyPr anchorCtr="0" anchor="ctr" bIns="21225" lIns="42425" spcFirstLastPara="1" rIns="42425" wrap="square" tIns="21225">
            <a:noAutofit/>
          </a:bodyPr>
          <a:lstStyle/>
          <a:p>
            <a:pPr indent="0" lvl="0" marL="0" rtl="0" algn="r">
              <a:spcBef>
                <a:spcPts val="0"/>
              </a:spcBef>
              <a:spcAft>
                <a:spcPts val="0"/>
              </a:spcAft>
              <a:buNone/>
            </a:pPr>
            <a:fld id="{00000000-1234-1234-1234-123412341234}" type="slidenum">
              <a:rPr lang="en" sz="557">
                <a:solidFill>
                  <a:srgbClr val="000000"/>
                </a:solidFill>
                <a:latin typeface="Calibri"/>
                <a:ea typeface="Calibri"/>
                <a:cs typeface="Calibri"/>
                <a:sym typeface="Calibri"/>
              </a:rPr>
              <a:t>‹#›</a:t>
            </a:fld>
            <a:endParaRPr sz="557">
              <a:solidFill>
                <a:srgbClr val="000000"/>
              </a:solidFill>
              <a:latin typeface="Calibri"/>
              <a:ea typeface="Calibri"/>
              <a:cs typeface="Calibri"/>
              <a:sym typeface="Calibri"/>
            </a:endParaRPr>
          </a:p>
        </p:txBody>
      </p:sp>
      <p:sp>
        <p:nvSpPr>
          <p:cNvPr id="382" name="Google Shape;382;p44"/>
          <p:cNvSpPr txBox="1"/>
          <p:nvPr/>
        </p:nvSpPr>
        <p:spPr>
          <a:xfrm>
            <a:off x="1723723" y="2531864"/>
            <a:ext cx="799800" cy="171600"/>
          </a:xfrm>
          <a:prstGeom prst="rect">
            <a:avLst/>
          </a:prstGeom>
          <a:noFill/>
          <a:ln>
            <a:noFill/>
          </a:ln>
        </p:spPr>
        <p:txBody>
          <a:bodyPr anchorCtr="0" anchor="t" bIns="21225" lIns="42425" spcFirstLastPara="1" rIns="42425" wrap="square" tIns="21225">
            <a:spAutoFit/>
          </a:bodyPr>
          <a:lstStyle/>
          <a:p>
            <a:pPr indent="0" lvl="0" marL="0" marR="0" rtl="0" algn="l">
              <a:spcBef>
                <a:spcPts val="0"/>
              </a:spcBef>
              <a:spcAft>
                <a:spcPts val="0"/>
              </a:spcAft>
              <a:buNone/>
            </a:pPr>
            <a:r>
              <a:rPr i="1" lang="en" sz="836">
                <a:solidFill>
                  <a:srgbClr val="000000"/>
                </a:solidFill>
                <a:latin typeface="Arial"/>
                <a:ea typeface="Arial"/>
                <a:cs typeface="Arial"/>
                <a:sym typeface="Arial"/>
              </a:rPr>
              <a:t>Kosslyn (1973)</a:t>
            </a:r>
            <a:endParaRPr sz="650"/>
          </a:p>
        </p:txBody>
      </p:sp>
      <p:pic>
        <p:nvPicPr>
          <p:cNvPr descr="An illustration shows a boat with the tiller and rudder on one end and a raised deck in the middle. The anchor lies on the hull of the boat." id="383" name="Google Shape;383;p44"/>
          <p:cNvPicPr preferRelativeResize="0"/>
          <p:nvPr/>
        </p:nvPicPr>
        <p:blipFill rotWithShape="1">
          <a:blip r:embed="rId3">
            <a:alphaModFix/>
          </a:blip>
          <a:srcRect b="0" l="0" r="0" t="0"/>
          <a:stretch/>
        </p:blipFill>
        <p:spPr>
          <a:xfrm>
            <a:off x="153036" y="1801516"/>
            <a:ext cx="2370739" cy="730344"/>
          </a:xfrm>
          <a:prstGeom prst="rect">
            <a:avLst/>
          </a:prstGeom>
          <a:noFill/>
          <a:ln>
            <a:noFill/>
          </a:ln>
        </p:spPr>
      </p:pic>
      <p:pic>
        <p:nvPicPr>
          <p:cNvPr descr="A depictive representation of Kosslyn’s boat. The diagram has a horizontal line. The front desk is on the right end. The cabin is behind the front deck. The rear deck is behind the cabin. The motor is rear of the rear deck. The propeller is at the bottom of the motor. The handle is in front of the motor. The windshield is at the top front of the cabin. The porthole is in the side of the cabin. The anchor is attached to the front desk. A dotted line extends from the anchor in the front to the motor at the rear. It has four links. A dashed line extends from the porthole to the rear. It has three links." id="384" name="Google Shape;384;p44"/>
          <p:cNvPicPr preferRelativeResize="0"/>
          <p:nvPr>
            <p:ph idx="1" type="body"/>
          </p:nvPr>
        </p:nvPicPr>
        <p:blipFill rotWithShape="1">
          <a:blip r:embed="rId4">
            <a:alphaModFix/>
          </a:blip>
          <a:srcRect b="0" l="0" r="0" t="0"/>
          <a:stretch/>
        </p:blipFill>
        <p:spPr>
          <a:xfrm>
            <a:off x="104850" y="2935024"/>
            <a:ext cx="2466900" cy="1041900"/>
          </a:xfrm>
          <a:prstGeom prst="rect">
            <a:avLst/>
          </a:prstGeom>
          <a:noFill/>
          <a:ln>
            <a:noFill/>
          </a:ln>
        </p:spPr>
      </p:pic>
      <p:sp>
        <p:nvSpPr>
          <p:cNvPr id="385" name="Google Shape;385;p44"/>
          <p:cNvSpPr txBox="1"/>
          <p:nvPr/>
        </p:nvSpPr>
        <p:spPr>
          <a:xfrm>
            <a:off x="1723723" y="4028702"/>
            <a:ext cx="1062000" cy="171600"/>
          </a:xfrm>
          <a:prstGeom prst="rect">
            <a:avLst/>
          </a:prstGeom>
          <a:noFill/>
          <a:ln>
            <a:noFill/>
          </a:ln>
        </p:spPr>
        <p:txBody>
          <a:bodyPr anchorCtr="0" anchor="t" bIns="21225" lIns="42425" spcFirstLastPara="1" rIns="42425" wrap="square" tIns="21225">
            <a:spAutoFit/>
          </a:bodyPr>
          <a:lstStyle/>
          <a:p>
            <a:pPr indent="0" lvl="0" marL="0" marR="0" rtl="0" algn="l">
              <a:spcBef>
                <a:spcPts val="0"/>
              </a:spcBef>
              <a:spcAft>
                <a:spcPts val="0"/>
              </a:spcAft>
              <a:buNone/>
            </a:pPr>
            <a:r>
              <a:rPr i="1" lang="en" sz="836">
                <a:solidFill>
                  <a:srgbClr val="000000"/>
                </a:solidFill>
                <a:latin typeface="Arial"/>
                <a:ea typeface="Arial"/>
                <a:cs typeface="Arial"/>
                <a:sym typeface="Arial"/>
              </a:rPr>
              <a:t>Kosslyn et al. (1995)</a:t>
            </a:r>
            <a:endParaRPr sz="650"/>
          </a:p>
        </p:txBody>
      </p:sp>
      <p:sp>
        <p:nvSpPr>
          <p:cNvPr id="386" name="Google Shape;386;p44"/>
          <p:cNvSpPr txBox="1"/>
          <p:nvPr/>
        </p:nvSpPr>
        <p:spPr>
          <a:xfrm>
            <a:off x="153036" y="1186200"/>
            <a:ext cx="4881300" cy="615600"/>
          </a:xfrm>
          <a:prstGeom prst="rect">
            <a:avLst/>
          </a:prstGeom>
          <a:noFill/>
          <a:ln>
            <a:noFill/>
          </a:ln>
        </p:spPr>
        <p:txBody>
          <a:bodyPr anchorCtr="0" anchor="ctr" bIns="21225" lIns="42425" spcFirstLastPara="1" rIns="42425" wrap="square" tIns="21225">
            <a:normAutofit/>
          </a:bodyPr>
          <a:lstStyle/>
          <a:p>
            <a:pPr indent="0" lvl="0" marL="0" marR="0" rtl="0" algn="l">
              <a:lnSpc>
                <a:spcPct val="90000"/>
              </a:lnSpc>
              <a:spcBef>
                <a:spcPts val="0"/>
              </a:spcBef>
              <a:spcAft>
                <a:spcPts val="0"/>
              </a:spcAft>
              <a:buClr>
                <a:srgbClr val="000000"/>
              </a:buClr>
              <a:buSzPts val="2042"/>
              <a:buFont typeface="Arial"/>
              <a:buNone/>
            </a:pPr>
            <a:r>
              <a:rPr lang="en" sz="2042">
                <a:solidFill>
                  <a:srgbClr val="000000"/>
                </a:solidFill>
                <a:latin typeface="Arial"/>
                <a:ea typeface="Arial"/>
                <a:cs typeface="Arial"/>
                <a:sym typeface="Arial"/>
              </a:rPr>
              <a:t>Does thought rely on </a:t>
            </a:r>
            <a:r>
              <a:rPr b="1" lang="en" sz="2042">
                <a:solidFill>
                  <a:srgbClr val="000000"/>
                </a:solidFill>
                <a:latin typeface="Arial"/>
                <a:ea typeface="Arial"/>
                <a:cs typeface="Arial"/>
                <a:sym typeface="Arial"/>
              </a:rPr>
              <a:t>visual</a:t>
            </a:r>
            <a:r>
              <a:rPr lang="en" sz="2042">
                <a:solidFill>
                  <a:srgbClr val="000000"/>
                </a:solidFill>
                <a:latin typeface="Arial"/>
                <a:ea typeface="Arial"/>
                <a:cs typeface="Arial"/>
                <a:sym typeface="Arial"/>
              </a:rPr>
              <a:t> or </a:t>
            </a:r>
            <a:r>
              <a:rPr b="1" lang="en" sz="2042">
                <a:solidFill>
                  <a:srgbClr val="000000"/>
                </a:solidFill>
                <a:latin typeface="Arial"/>
                <a:ea typeface="Arial"/>
                <a:cs typeface="Arial"/>
                <a:sym typeface="Arial"/>
              </a:rPr>
              <a:t>abstract</a:t>
            </a:r>
            <a:r>
              <a:rPr lang="en" sz="2042">
                <a:solidFill>
                  <a:srgbClr val="000000"/>
                </a:solidFill>
                <a:latin typeface="Arial"/>
                <a:ea typeface="Arial"/>
                <a:cs typeface="Arial"/>
                <a:sym typeface="Arial"/>
              </a:rPr>
              <a:t> (propositional) representations?</a:t>
            </a:r>
            <a:endParaRPr sz="650"/>
          </a:p>
        </p:txBody>
      </p:sp>
      <p:sp>
        <p:nvSpPr>
          <p:cNvPr id="387" name="Google Shape;387;p44"/>
          <p:cNvSpPr txBox="1"/>
          <p:nvPr/>
        </p:nvSpPr>
        <p:spPr>
          <a:xfrm>
            <a:off x="2785705" y="1813514"/>
            <a:ext cx="2614800" cy="2772300"/>
          </a:xfrm>
          <a:prstGeom prst="rect">
            <a:avLst/>
          </a:prstGeom>
          <a:noFill/>
          <a:ln>
            <a:noFill/>
          </a:ln>
        </p:spPr>
        <p:txBody>
          <a:bodyPr anchorCtr="0" anchor="t" bIns="21225" lIns="42425" spcFirstLastPara="1" rIns="42425" wrap="square" tIns="21225">
            <a:spAutoFit/>
          </a:bodyPr>
          <a:lstStyle/>
          <a:p>
            <a:pPr indent="0" lvl="0" marL="0" marR="0" rtl="0" algn="l">
              <a:spcBef>
                <a:spcPts val="0"/>
              </a:spcBef>
              <a:spcAft>
                <a:spcPts val="0"/>
              </a:spcAft>
              <a:buNone/>
            </a:pPr>
            <a:r>
              <a:rPr lang="en" sz="1300">
                <a:solidFill>
                  <a:srgbClr val="000000"/>
                </a:solidFill>
                <a:latin typeface="Arial"/>
                <a:ea typeface="Arial"/>
                <a:cs typeface="Arial"/>
                <a:sym typeface="Arial"/>
              </a:rPr>
              <a:t>Mental scanning experiment</a:t>
            </a:r>
            <a:endParaRPr sz="650"/>
          </a:p>
          <a:p>
            <a:pPr indent="0" lvl="0" marL="0" marR="0" rtl="0" algn="l">
              <a:spcBef>
                <a:spcPts val="0"/>
              </a:spcBef>
              <a:spcAft>
                <a:spcPts val="0"/>
              </a:spcAft>
              <a:buNone/>
            </a:pPr>
            <a:r>
              <a:t/>
            </a:r>
            <a:endParaRPr sz="1300">
              <a:solidFill>
                <a:srgbClr val="000000"/>
              </a:solidFill>
              <a:latin typeface="Arial"/>
              <a:ea typeface="Arial"/>
              <a:cs typeface="Arial"/>
              <a:sym typeface="Arial"/>
            </a:endParaRPr>
          </a:p>
          <a:p>
            <a:pPr indent="0" lvl="0" marL="0" marR="0" rtl="0" algn="l">
              <a:spcBef>
                <a:spcPts val="0"/>
              </a:spcBef>
              <a:spcAft>
                <a:spcPts val="0"/>
              </a:spcAft>
              <a:buNone/>
            </a:pPr>
            <a:r>
              <a:rPr lang="en" sz="1300">
                <a:solidFill>
                  <a:srgbClr val="000000"/>
                </a:solidFill>
                <a:latin typeface="Arial"/>
                <a:ea typeface="Arial"/>
                <a:cs typeface="Arial"/>
                <a:sym typeface="Arial"/>
              </a:rPr>
              <a:t>Focus on anchor in mind’s eye; does boat also have a motor?</a:t>
            </a:r>
            <a:endParaRPr sz="650"/>
          </a:p>
          <a:p>
            <a:pPr indent="0" lvl="0" marL="0" marR="0" rtl="0" algn="l">
              <a:spcBef>
                <a:spcPts val="0"/>
              </a:spcBef>
              <a:spcAft>
                <a:spcPts val="0"/>
              </a:spcAft>
              <a:buNone/>
            </a:pPr>
            <a:r>
              <a:t/>
            </a:r>
            <a:endParaRPr sz="1300">
              <a:solidFill>
                <a:srgbClr val="000000"/>
              </a:solidFill>
              <a:latin typeface="Arial"/>
              <a:ea typeface="Arial"/>
              <a:cs typeface="Arial"/>
              <a:sym typeface="Arial"/>
            </a:endParaRPr>
          </a:p>
          <a:p>
            <a:pPr indent="0" lvl="0" marL="0" marR="0" rtl="0" algn="l">
              <a:spcBef>
                <a:spcPts val="0"/>
              </a:spcBef>
              <a:spcAft>
                <a:spcPts val="0"/>
              </a:spcAft>
              <a:buNone/>
            </a:pPr>
            <a:r>
              <a:rPr lang="en" sz="1300">
                <a:solidFill>
                  <a:srgbClr val="000000"/>
                </a:solidFill>
                <a:latin typeface="Arial"/>
                <a:ea typeface="Arial"/>
                <a:cs typeface="Arial"/>
                <a:sym typeface="Arial"/>
              </a:rPr>
              <a:t>Responses times vary based on distance from starting point, consistent with spatial imagery</a:t>
            </a:r>
            <a:endParaRPr sz="650"/>
          </a:p>
          <a:p>
            <a:pPr indent="0" lvl="0" marL="0" marR="0" rtl="0" algn="l">
              <a:spcBef>
                <a:spcPts val="0"/>
              </a:spcBef>
              <a:spcAft>
                <a:spcPts val="0"/>
              </a:spcAft>
              <a:buNone/>
            </a:pPr>
            <a:r>
              <a:t/>
            </a:r>
            <a:endParaRPr sz="1300">
              <a:solidFill>
                <a:srgbClr val="000000"/>
              </a:solidFill>
              <a:latin typeface="Arial"/>
              <a:ea typeface="Arial"/>
              <a:cs typeface="Arial"/>
              <a:sym typeface="Arial"/>
            </a:endParaRPr>
          </a:p>
          <a:p>
            <a:pPr indent="0" lvl="0" marL="0" marR="0" rtl="0" algn="l">
              <a:spcBef>
                <a:spcPts val="0"/>
              </a:spcBef>
              <a:spcAft>
                <a:spcPts val="0"/>
              </a:spcAft>
              <a:buNone/>
            </a:pPr>
            <a:r>
              <a:rPr lang="en" sz="1300">
                <a:solidFill>
                  <a:srgbClr val="000000"/>
                </a:solidFill>
                <a:latin typeface="Arial"/>
                <a:ea typeface="Arial"/>
                <a:cs typeface="Arial"/>
                <a:sym typeface="Arial"/>
              </a:rPr>
              <a:t>But also consistent with propositional representation </a:t>
            </a:r>
            <a:br>
              <a:rPr lang="en" sz="1300">
                <a:solidFill>
                  <a:srgbClr val="000000"/>
                </a:solidFill>
                <a:latin typeface="Arial"/>
                <a:ea typeface="Arial"/>
                <a:cs typeface="Arial"/>
                <a:sym typeface="Arial"/>
              </a:rPr>
            </a:br>
            <a:r>
              <a:rPr i="1" lang="en" sz="836">
                <a:solidFill>
                  <a:srgbClr val="000000"/>
                </a:solidFill>
                <a:latin typeface="Arial"/>
                <a:ea typeface="Arial"/>
                <a:cs typeface="Arial"/>
                <a:sym typeface="Arial"/>
              </a:rPr>
              <a:t>(Pylyshyn, 1973) </a:t>
            </a:r>
            <a:endParaRPr sz="650"/>
          </a:p>
          <a:p>
            <a:pPr indent="0" lvl="0" marL="0" marR="0" rtl="0" algn="l">
              <a:spcBef>
                <a:spcPts val="0"/>
              </a:spcBef>
              <a:spcAft>
                <a:spcPts val="0"/>
              </a:spcAft>
              <a:buNone/>
            </a:pPr>
            <a:r>
              <a:t/>
            </a:r>
            <a:endParaRPr sz="1300">
              <a:solidFill>
                <a:srgbClr val="000000"/>
              </a:solidFill>
              <a:latin typeface="Arial"/>
              <a:ea typeface="Arial"/>
              <a:cs typeface="Arial"/>
              <a:sym typeface="Arial"/>
            </a:endParaRPr>
          </a:p>
          <a:p>
            <a:pPr indent="0" lvl="0" marL="0" marR="0" rtl="0" algn="l">
              <a:spcBef>
                <a:spcPts val="0"/>
              </a:spcBef>
              <a:spcAft>
                <a:spcPts val="0"/>
              </a:spcAft>
              <a:buNone/>
            </a:pPr>
            <a:r>
              <a:t/>
            </a:r>
            <a:endParaRPr sz="1300">
              <a:solidFill>
                <a:srgbClr val="000000"/>
              </a:solidFill>
              <a:latin typeface="Arial"/>
              <a:ea typeface="Arial"/>
              <a:cs typeface="Arial"/>
              <a:sym typeface="Arial"/>
            </a:endParaRPr>
          </a:p>
        </p:txBody>
      </p:sp>
      <p:sp>
        <p:nvSpPr>
          <p:cNvPr id="388" name="Google Shape;388;p44"/>
          <p:cNvSpPr txBox="1"/>
          <p:nvPr/>
        </p:nvSpPr>
        <p:spPr>
          <a:xfrm>
            <a:off x="5182925" y="861475"/>
            <a:ext cx="3678000" cy="401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t>Individual Differences</a:t>
            </a:r>
            <a:r>
              <a:rPr b="1" lang="en" sz="2000">
                <a:solidFill>
                  <a:srgbClr val="000000"/>
                </a:solidFill>
                <a:latin typeface="Arial"/>
                <a:ea typeface="Arial"/>
                <a:cs typeface="Arial"/>
                <a:sym typeface="Arial"/>
              </a:rPr>
              <a:t>:</a:t>
            </a:r>
            <a:r>
              <a:rPr lang="en" sz="2000"/>
              <a:t> Individuals differ to which degree they rely on visual imagery to think</a:t>
            </a:r>
            <a:endParaRPr sz="2000"/>
          </a:p>
          <a:p>
            <a:pPr indent="0" lvl="0" marL="0" marR="0" rtl="0" algn="l">
              <a:spcBef>
                <a:spcPts val="0"/>
              </a:spcBef>
              <a:spcAft>
                <a:spcPts val="0"/>
              </a:spcAft>
              <a:buNone/>
            </a:pPr>
            <a:r>
              <a:t/>
            </a:r>
            <a:endParaRPr sz="2000"/>
          </a:p>
          <a:p>
            <a:pPr indent="0" lvl="0" marL="0" marR="0" rtl="0" algn="l">
              <a:spcBef>
                <a:spcPts val="0"/>
              </a:spcBef>
              <a:spcAft>
                <a:spcPts val="0"/>
              </a:spcAft>
              <a:buNone/>
            </a:pPr>
            <a:r>
              <a:rPr lang="en" sz="2000"/>
              <a:t>Some even have </a:t>
            </a:r>
            <a:r>
              <a:rPr b="1" lang="en" sz="2000"/>
              <a:t>aphantasia, </a:t>
            </a:r>
            <a:r>
              <a:rPr lang="en" sz="2000"/>
              <a:t>which is the absence of visual imagery and they:</a:t>
            </a:r>
            <a:endParaRPr sz="2000"/>
          </a:p>
          <a:p>
            <a:pPr indent="-349250" lvl="0" marL="457200" marR="0" rtl="0" algn="l">
              <a:spcBef>
                <a:spcPts val="0"/>
              </a:spcBef>
              <a:spcAft>
                <a:spcPts val="0"/>
              </a:spcAft>
              <a:buSzPts val="1900"/>
              <a:buChar char="●"/>
            </a:pPr>
            <a:r>
              <a:rPr lang="en" sz="1900"/>
              <a:t>May have impairments in visual working memory, but may use verbal working memory to compensate</a:t>
            </a:r>
            <a:endParaRPr sz="1900"/>
          </a:p>
          <a:p>
            <a:pPr indent="-349250" lvl="0" marL="457200" marR="0" rtl="0" algn="l">
              <a:spcBef>
                <a:spcPts val="0"/>
              </a:spcBef>
              <a:spcAft>
                <a:spcPts val="0"/>
              </a:spcAft>
              <a:buSzPts val="1900"/>
              <a:buChar char="●"/>
            </a:pPr>
            <a:r>
              <a:rPr lang="en" sz="1900"/>
              <a:t>But they still have thought!</a:t>
            </a:r>
            <a:endParaRPr sz="2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txBox="1"/>
          <p:nvPr>
            <p:ph type="title"/>
          </p:nvPr>
        </p:nvSpPr>
        <p:spPr>
          <a:xfrm>
            <a:off x="0" y="7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 Imagery</a:t>
            </a:r>
            <a:endParaRPr/>
          </a:p>
        </p:txBody>
      </p:sp>
      <p:sp>
        <p:nvSpPr>
          <p:cNvPr id="394" name="Google Shape;394;p45"/>
          <p:cNvSpPr txBox="1"/>
          <p:nvPr/>
        </p:nvSpPr>
        <p:spPr>
          <a:xfrm>
            <a:off x="0" y="650700"/>
            <a:ext cx="4439100" cy="1146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 sz="2100">
                <a:solidFill>
                  <a:srgbClr val="000000"/>
                </a:solidFill>
              </a:rPr>
              <a:t>Mental chronometry </a:t>
            </a:r>
            <a:r>
              <a:rPr lang="en" sz="2100">
                <a:solidFill>
                  <a:srgbClr val="000000"/>
                </a:solidFill>
              </a:rPr>
              <a:t>studies support a link between</a:t>
            </a:r>
            <a:r>
              <a:rPr b="1" lang="en" sz="2100">
                <a:solidFill>
                  <a:srgbClr val="000000"/>
                </a:solidFill>
              </a:rPr>
              <a:t> </a:t>
            </a:r>
            <a:r>
              <a:rPr lang="en" sz="2100">
                <a:solidFill>
                  <a:srgbClr val="000000"/>
                </a:solidFill>
              </a:rPr>
              <a:t>perception and imagery</a:t>
            </a:r>
            <a:endParaRPr sz="2700">
              <a:solidFill>
                <a:srgbClr val="000000"/>
              </a:solidFill>
              <a:latin typeface="Calibri"/>
              <a:ea typeface="Calibri"/>
              <a:cs typeface="Calibri"/>
              <a:sym typeface="Calibri"/>
            </a:endParaRPr>
          </a:p>
        </p:txBody>
      </p:sp>
      <p:pic>
        <p:nvPicPr>
          <p:cNvPr descr="Two illustrations, a and b, where each shows two different shapes involving cubes. The illustration a shows three cubes arranged vertically, two horizontally, three vertically, and two horizontally. Another shape shows three cubes horizontally, two cubes forward, three horizontally, and two cubes upward. The illustration b shows three cubes horizontally, two cubes downward, and four cubes forward, and a cube adjacent to the front cube. The second shape shows two cubes backward, three horizontally, two cubes upward, and three cubes backward. " id="395" name="Google Shape;395;p45"/>
          <p:cNvPicPr preferRelativeResize="0"/>
          <p:nvPr>
            <p:ph idx="1" type="body"/>
          </p:nvPr>
        </p:nvPicPr>
        <p:blipFill rotWithShape="1">
          <a:blip r:embed="rId3">
            <a:alphaModFix/>
          </a:blip>
          <a:srcRect b="0" l="0" r="0" t="54452"/>
          <a:stretch/>
        </p:blipFill>
        <p:spPr>
          <a:xfrm>
            <a:off x="2198043" y="2342904"/>
            <a:ext cx="1638600" cy="804600"/>
          </a:xfrm>
          <a:prstGeom prst="rect">
            <a:avLst/>
          </a:prstGeom>
          <a:noFill/>
          <a:ln>
            <a:noFill/>
          </a:ln>
        </p:spPr>
      </p:pic>
      <p:pic>
        <p:nvPicPr>
          <p:cNvPr descr="A line graph plots reaction time in seconds versus angular difference in degrees. The horizontal axis is labeled angular difference (degrees) and ranges from 0 to 180, in increments of 20. The vertical axis is labeled Reaction time (Seconds) and ranges from 0 to 5, in increments of 1. A line starts from (0, 1.1), passes through various points including (40, 2), (60, 2.4), (100, 3. 1), (140, 4), and finally ends at (180, 4.7). A dotted line starts from (0, 2), reaches (40, 2), and finally ends at (40, 0). Another dotted line starts from (0, 4), reaches (140, 4), and ends at (140, 0). " id="396" name="Google Shape;396;p45"/>
          <p:cNvPicPr preferRelativeResize="0"/>
          <p:nvPr/>
        </p:nvPicPr>
        <p:blipFill rotWithShape="1">
          <a:blip r:embed="rId4">
            <a:alphaModFix/>
          </a:blip>
          <a:srcRect b="0" l="0" r="0" t="0"/>
          <a:stretch/>
        </p:blipFill>
        <p:spPr>
          <a:xfrm>
            <a:off x="207327" y="3426642"/>
            <a:ext cx="1627261" cy="1596072"/>
          </a:xfrm>
          <a:prstGeom prst="rect">
            <a:avLst/>
          </a:prstGeom>
          <a:noFill/>
          <a:ln>
            <a:noFill/>
          </a:ln>
        </p:spPr>
      </p:pic>
      <p:sp>
        <p:nvSpPr>
          <p:cNvPr id="397" name="Google Shape;397;p45"/>
          <p:cNvSpPr txBox="1"/>
          <p:nvPr/>
        </p:nvSpPr>
        <p:spPr>
          <a:xfrm>
            <a:off x="1954000" y="4843626"/>
            <a:ext cx="1371300" cy="179100"/>
          </a:xfrm>
          <a:prstGeom prst="rect">
            <a:avLst/>
          </a:prstGeom>
          <a:noFill/>
          <a:ln>
            <a:noFill/>
          </a:ln>
        </p:spPr>
        <p:txBody>
          <a:bodyPr anchorCtr="0" anchor="t" bIns="22175" lIns="44350" spcFirstLastPara="1" rIns="44350" wrap="square" tIns="22175">
            <a:spAutoFit/>
          </a:bodyPr>
          <a:lstStyle/>
          <a:p>
            <a:pPr indent="0" lvl="0" marL="0" marR="0" rtl="0" algn="l">
              <a:spcBef>
                <a:spcPts val="0"/>
              </a:spcBef>
              <a:spcAft>
                <a:spcPts val="0"/>
              </a:spcAft>
              <a:buNone/>
            </a:pPr>
            <a:r>
              <a:rPr i="1" lang="en" sz="873">
                <a:solidFill>
                  <a:srgbClr val="000000"/>
                </a:solidFill>
                <a:latin typeface="Arial"/>
                <a:ea typeface="Arial"/>
                <a:cs typeface="Arial"/>
                <a:sym typeface="Arial"/>
              </a:rPr>
              <a:t>Shepard &amp; Metzler (1971)</a:t>
            </a:r>
            <a:endParaRPr sz="679"/>
          </a:p>
        </p:txBody>
      </p:sp>
      <p:pic>
        <p:nvPicPr>
          <p:cNvPr descr="Two illustrations, a and b, where each shows two different shapes involving cubes. The illustration a shows three cubes arranged vertically, two horizontally, three vertically, and two horizontally. Another shape shows three cubes horizontally, two cubes forward, three horizontally, and two cubes upward. The illustration b shows three cubes horizontally, two cubes downward, and four cubes forward, and a cube adjacent to the front cube. The second shape shows two cubes backward, three horizontally, two cubes upward, and three cubes backward. " id="398" name="Google Shape;398;p45"/>
          <p:cNvPicPr preferRelativeResize="0"/>
          <p:nvPr/>
        </p:nvPicPr>
        <p:blipFill rotWithShape="1">
          <a:blip r:embed="rId3">
            <a:alphaModFix/>
          </a:blip>
          <a:srcRect b="45549" l="0" r="0" t="0"/>
          <a:stretch/>
        </p:blipFill>
        <p:spPr>
          <a:xfrm>
            <a:off x="207326" y="2342904"/>
            <a:ext cx="1729224" cy="1015280"/>
          </a:xfrm>
          <a:prstGeom prst="rect">
            <a:avLst/>
          </a:prstGeom>
          <a:noFill/>
          <a:ln>
            <a:noFill/>
          </a:ln>
        </p:spPr>
      </p:pic>
      <p:sp>
        <p:nvSpPr>
          <p:cNvPr id="399" name="Google Shape;399;p45"/>
          <p:cNvSpPr txBox="1"/>
          <p:nvPr/>
        </p:nvSpPr>
        <p:spPr>
          <a:xfrm>
            <a:off x="88588" y="1928049"/>
            <a:ext cx="5102100" cy="283800"/>
          </a:xfrm>
          <a:prstGeom prst="rect">
            <a:avLst/>
          </a:prstGeom>
          <a:noFill/>
          <a:ln>
            <a:noFill/>
          </a:ln>
        </p:spPr>
        <p:txBody>
          <a:bodyPr anchorCtr="0" anchor="t" bIns="22175" lIns="44350" spcFirstLastPara="1" rIns="44350" wrap="square" tIns="22175">
            <a:spAutoFit/>
          </a:bodyPr>
          <a:lstStyle/>
          <a:p>
            <a:pPr indent="0" lvl="0" marL="0" marR="0" rtl="0" algn="l">
              <a:spcBef>
                <a:spcPts val="0"/>
              </a:spcBef>
              <a:spcAft>
                <a:spcPts val="0"/>
              </a:spcAft>
              <a:buNone/>
            </a:pPr>
            <a:r>
              <a:rPr lang="en" sz="1553">
                <a:solidFill>
                  <a:srgbClr val="000000"/>
                </a:solidFill>
                <a:latin typeface="Arial"/>
                <a:ea typeface="Arial"/>
                <a:cs typeface="Arial"/>
                <a:sym typeface="Arial"/>
              </a:rPr>
              <a:t>How long does it take to perform a mental task?</a:t>
            </a:r>
            <a:endParaRPr sz="679"/>
          </a:p>
        </p:txBody>
      </p:sp>
      <p:pic>
        <p:nvPicPr>
          <p:cNvPr descr="Illustration of a human brain viewed from the left side, showing major folds and grooves in light gray with dark gray outlines. The image highlights brain structure without labels or additional details." id="400" name="Google Shape;400;p45"/>
          <p:cNvPicPr preferRelativeResize="0"/>
          <p:nvPr/>
        </p:nvPicPr>
        <p:blipFill rotWithShape="1">
          <a:blip r:embed="rId5">
            <a:alphaModFix amt="70000"/>
          </a:blip>
          <a:srcRect b="0" l="0" r="0" t="0"/>
          <a:stretch/>
        </p:blipFill>
        <p:spPr>
          <a:xfrm>
            <a:off x="5744123" y="1151536"/>
            <a:ext cx="1270172" cy="893090"/>
          </a:xfrm>
          <a:prstGeom prst="rect">
            <a:avLst/>
          </a:prstGeom>
          <a:noFill/>
          <a:ln>
            <a:noFill/>
          </a:ln>
        </p:spPr>
      </p:pic>
      <p:pic>
        <p:nvPicPr>
          <p:cNvPr descr="A three-part illustration. Part a shows the measure voxel patterns for four different scenes. It has photos of a beach, desert, field, and house. Part b shows the perception test. The first photo shows present 1 scene. It shows a beach. The second and third photos show the classifier predicts which of the two is being perceived. The second photo shows a beach, and the third photo shows a house. Part c shows the imagery test. The first photo is titled Image 1 scene. The photo frame is titled &quot;Beach.&quot; There is no photo. The second and third photos show the classifier predicts which of the two is being imagined. The second photo shows a beach, and the third photo shows a house." id="401" name="Google Shape;401;p45"/>
          <p:cNvPicPr preferRelativeResize="0"/>
          <p:nvPr>
            <p:ph idx="1" type="body"/>
          </p:nvPr>
        </p:nvPicPr>
        <p:blipFill rotWithShape="1">
          <a:blip r:embed="rId6">
            <a:alphaModFix/>
          </a:blip>
          <a:srcRect b="35865" l="0" r="4334" t="31194"/>
          <a:stretch/>
        </p:blipFill>
        <p:spPr>
          <a:xfrm>
            <a:off x="7192911" y="1218340"/>
            <a:ext cx="1811400" cy="648600"/>
          </a:xfrm>
          <a:prstGeom prst="rect">
            <a:avLst/>
          </a:prstGeom>
          <a:noFill/>
          <a:ln>
            <a:noFill/>
          </a:ln>
        </p:spPr>
      </p:pic>
      <p:sp>
        <p:nvSpPr>
          <p:cNvPr id="402" name="Google Shape;402;p45"/>
          <p:cNvSpPr txBox="1"/>
          <p:nvPr/>
        </p:nvSpPr>
        <p:spPr>
          <a:xfrm>
            <a:off x="4406619" y="78001"/>
            <a:ext cx="4679700" cy="546300"/>
          </a:xfrm>
          <a:prstGeom prst="rect">
            <a:avLst/>
          </a:prstGeom>
          <a:noFill/>
          <a:ln>
            <a:noFill/>
          </a:ln>
        </p:spPr>
        <p:txBody>
          <a:bodyPr anchorCtr="0" anchor="ctr" bIns="18825" lIns="37700" spcFirstLastPara="1" rIns="37700" wrap="square" tIns="18825">
            <a:noAutofit/>
          </a:bodyPr>
          <a:lstStyle/>
          <a:p>
            <a:pPr indent="0" lvl="0" marL="0" rtl="0" algn="l">
              <a:lnSpc>
                <a:spcPct val="90000"/>
              </a:lnSpc>
              <a:spcBef>
                <a:spcPts val="0"/>
              </a:spcBef>
              <a:spcAft>
                <a:spcPts val="0"/>
              </a:spcAft>
              <a:buNone/>
            </a:pPr>
            <a:r>
              <a:rPr b="1" lang="en" sz="1567">
                <a:solidFill>
                  <a:srgbClr val="000000"/>
                </a:solidFill>
              </a:rPr>
              <a:t>Brain imaging </a:t>
            </a:r>
            <a:r>
              <a:rPr lang="en" sz="1567">
                <a:solidFill>
                  <a:srgbClr val="000000"/>
                </a:solidFill>
              </a:rPr>
              <a:t>studies support a </a:t>
            </a:r>
            <a:br>
              <a:rPr lang="en" sz="1567">
                <a:solidFill>
                  <a:srgbClr val="000000"/>
                </a:solidFill>
              </a:rPr>
            </a:br>
            <a:r>
              <a:rPr lang="en" sz="1567">
                <a:solidFill>
                  <a:srgbClr val="000000"/>
                </a:solidFill>
              </a:rPr>
              <a:t>common mechanism for perception and imagery</a:t>
            </a:r>
            <a:endParaRPr sz="1814">
              <a:solidFill>
                <a:srgbClr val="000000"/>
              </a:solidFill>
              <a:latin typeface="Calibri"/>
              <a:ea typeface="Calibri"/>
              <a:cs typeface="Calibri"/>
              <a:sym typeface="Calibri"/>
            </a:endParaRPr>
          </a:p>
        </p:txBody>
      </p:sp>
      <p:pic>
        <p:nvPicPr>
          <p:cNvPr descr="Illustration of a human brain viewed from the left side, showing major folds and grooves in light gray with dark gray outlines. The image highlights brain structure without labels or additional context." id="403" name="Google Shape;403;p45"/>
          <p:cNvPicPr preferRelativeResize="0"/>
          <p:nvPr/>
        </p:nvPicPr>
        <p:blipFill rotWithShape="1">
          <a:blip r:embed="rId5">
            <a:alphaModFix amt="70000"/>
          </a:blip>
          <a:srcRect b="0" l="0" r="0" t="0"/>
          <a:stretch/>
        </p:blipFill>
        <p:spPr>
          <a:xfrm>
            <a:off x="4296775" y="1175432"/>
            <a:ext cx="1270172" cy="893090"/>
          </a:xfrm>
          <a:prstGeom prst="rect">
            <a:avLst/>
          </a:prstGeom>
          <a:noFill/>
          <a:ln>
            <a:noFill/>
          </a:ln>
        </p:spPr>
      </p:pic>
      <p:sp>
        <p:nvSpPr>
          <p:cNvPr id="404" name="Google Shape;404;p45"/>
          <p:cNvSpPr txBox="1"/>
          <p:nvPr/>
        </p:nvSpPr>
        <p:spPr>
          <a:xfrm>
            <a:off x="8438720" y="2576288"/>
            <a:ext cx="705300" cy="152100"/>
          </a:xfrm>
          <a:prstGeom prst="rect">
            <a:avLst/>
          </a:prstGeom>
          <a:solidFill>
            <a:srgbClr val="FFFFFF"/>
          </a:solidFill>
          <a:ln>
            <a:noFill/>
          </a:ln>
        </p:spPr>
        <p:txBody>
          <a:bodyPr anchorCtr="0" anchor="t" bIns="18825" lIns="37700" spcFirstLastPara="1" rIns="37700" wrap="square" tIns="18825">
            <a:spAutoFit/>
          </a:bodyPr>
          <a:lstStyle/>
          <a:p>
            <a:pPr indent="0" lvl="0" marL="0" marR="0" rtl="0" algn="l">
              <a:spcBef>
                <a:spcPts val="0"/>
              </a:spcBef>
              <a:spcAft>
                <a:spcPts val="0"/>
              </a:spcAft>
              <a:buNone/>
            </a:pPr>
            <a:r>
              <a:rPr b="1" lang="en" sz="742">
                <a:solidFill>
                  <a:srgbClr val="000000"/>
                </a:solidFill>
                <a:latin typeface="Arial"/>
                <a:ea typeface="Arial"/>
                <a:cs typeface="Arial"/>
                <a:sym typeface="Arial"/>
              </a:rPr>
              <a:t>55% accuracy</a:t>
            </a:r>
            <a:endParaRPr sz="577"/>
          </a:p>
        </p:txBody>
      </p:sp>
      <p:sp>
        <p:nvSpPr>
          <p:cNvPr id="405" name="Google Shape;405;p45"/>
          <p:cNvSpPr txBox="1"/>
          <p:nvPr/>
        </p:nvSpPr>
        <p:spPr>
          <a:xfrm>
            <a:off x="8438721" y="1830157"/>
            <a:ext cx="705300" cy="152100"/>
          </a:xfrm>
          <a:prstGeom prst="rect">
            <a:avLst/>
          </a:prstGeom>
          <a:noFill/>
          <a:ln>
            <a:noFill/>
          </a:ln>
        </p:spPr>
        <p:txBody>
          <a:bodyPr anchorCtr="0" anchor="t" bIns="18825" lIns="37700" spcFirstLastPara="1" rIns="37700" wrap="square" tIns="18825">
            <a:spAutoFit/>
          </a:bodyPr>
          <a:lstStyle/>
          <a:p>
            <a:pPr indent="0" lvl="0" marL="0" marR="0" rtl="0" algn="l">
              <a:spcBef>
                <a:spcPts val="0"/>
              </a:spcBef>
              <a:spcAft>
                <a:spcPts val="0"/>
              </a:spcAft>
              <a:buNone/>
            </a:pPr>
            <a:r>
              <a:rPr b="1" lang="en" sz="742">
                <a:solidFill>
                  <a:srgbClr val="000000"/>
                </a:solidFill>
                <a:latin typeface="Arial"/>
                <a:ea typeface="Arial"/>
                <a:cs typeface="Arial"/>
                <a:sym typeface="Arial"/>
              </a:rPr>
              <a:t>63% accuracy</a:t>
            </a:r>
            <a:endParaRPr sz="577"/>
          </a:p>
        </p:txBody>
      </p:sp>
      <p:pic>
        <p:nvPicPr>
          <p:cNvPr descr="A three-part illustration. Part a shows the measure voxel patterns for four different scenes. It has photos of a beach, desert, field, and house. Part b shows the perception test. The first photo shows present 1 scene. It shows a beach. The second and third photos show the classifier predicts which of the two is being perceived. The second photo shows a beach, and the third photo shows a house. Part c shows the imagery test. The first photo is titled Image 1 scene. The photo frame is titled &quot;Beach.&quot; There is no photo. The second and third photos show the classifier predicts which of the two is being imagined. The second photo shows a beach, and the third photo shows a house." id="406" name="Google Shape;406;p45"/>
          <p:cNvPicPr preferRelativeResize="0"/>
          <p:nvPr/>
        </p:nvPicPr>
        <p:blipFill rotWithShape="1">
          <a:blip r:embed="rId6">
            <a:alphaModFix/>
          </a:blip>
          <a:srcRect b="70203" l="0" r="4334" t="0"/>
          <a:stretch/>
        </p:blipFill>
        <p:spPr>
          <a:xfrm>
            <a:off x="7188191" y="652855"/>
            <a:ext cx="1811373" cy="586840"/>
          </a:xfrm>
          <a:prstGeom prst="rect">
            <a:avLst/>
          </a:prstGeom>
          <a:noFill/>
          <a:ln>
            <a:noFill/>
          </a:ln>
        </p:spPr>
      </p:pic>
      <p:pic>
        <p:nvPicPr>
          <p:cNvPr descr="A three-part illustration. Part a shows the measure voxel patterns for four different scenes. It has photos of a beach, desert, field, and house. Part b shows the perception test. The first photo shows present 1 scene. It shows a beach. The second and third photos show the classifier predicts which of the two is being perceived. The second photo shows a beach, and the third photo shows a house. Part c shows the imagery test. The first photo is titled Image 1 scene. The photo frame is titled &quot;Beach.&quot; There is no photo. The second and third photos show the classifier predicts which of the two is being imagined. The second photo shows a beach, and the third photo shows a house." id="407" name="Google Shape;407;p45"/>
          <p:cNvPicPr preferRelativeResize="0"/>
          <p:nvPr/>
        </p:nvPicPr>
        <p:blipFill rotWithShape="1">
          <a:blip r:embed="rId6">
            <a:alphaModFix/>
          </a:blip>
          <a:srcRect b="0" l="0" r="4334" t="70496"/>
          <a:stretch/>
        </p:blipFill>
        <p:spPr>
          <a:xfrm>
            <a:off x="7188191" y="2032155"/>
            <a:ext cx="1811373" cy="581061"/>
          </a:xfrm>
          <a:prstGeom prst="rect">
            <a:avLst/>
          </a:prstGeom>
          <a:noFill/>
          <a:ln>
            <a:noFill/>
          </a:ln>
        </p:spPr>
      </p:pic>
      <p:sp>
        <p:nvSpPr>
          <p:cNvPr id="408" name="Google Shape;408;p45"/>
          <p:cNvSpPr txBox="1"/>
          <p:nvPr/>
        </p:nvSpPr>
        <p:spPr>
          <a:xfrm>
            <a:off x="4406619" y="2211841"/>
            <a:ext cx="2211600" cy="342600"/>
          </a:xfrm>
          <a:prstGeom prst="rect">
            <a:avLst/>
          </a:prstGeom>
          <a:noFill/>
          <a:ln>
            <a:noFill/>
          </a:ln>
        </p:spPr>
        <p:txBody>
          <a:bodyPr anchorCtr="0" anchor="t" bIns="18825" lIns="37700" spcFirstLastPara="1" rIns="37700" wrap="square" tIns="18825">
            <a:spAutoFit/>
          </a:bodyPr>
          <a:lstStyle/>
          <a:p>
            <a:pPr indent="0" lvl="0" marL="0" marR="0" rtl="0" algn="l">
              <a:spcBef>
                <a:spcPts val="0"/>
              </a:spcBef>
              <a:spcAft>
                <a:spcPts val="0"/>
              </a:spcAft>
              <a:buNone/>
            </a:pPr>
            <a:r>
              <a:rPr b="1" lang="en" sz="989">
                <a:solidFill>
                  <a:srgbClr val="000000"/>
                </a:solidFill>
                <a:latin typeface="Arial"/>
                <a:ea typeface="Arial"/>
                <a:cs typeface="Arial"/>
                <a:sym typeface="Arial"/>
              </a:rPr>
              <a:t>Similar patterns of activation for perceived and imagined inputs</a:t>
            </a:r>
            <a:endParaRPr sz="577"/>
          </a:p>
        </p:txBody>
      </p:sp>
      <p:sp>
        <p:nvSpPr>
          <p:cNvPr id="409" name="Google Shape;409;p45"/>
          <p:cNvSpPr txBox="1"/>
          <p:nvPr/>
        </p:nvSpPr>
        <p:spPr>
          <a:xfrm>
            <a:off x="4406619" y="632401"/>
            <a:ext cx="2211600" cy="799500"/>
          </a:xfrm>
          <a:prstGeom prst="rect">
            <a:avLst/>
          </a:prstGeom>
          <a:noFill/>
          <a:ln>
            <a:noFill/>
          </a:ln>
        </p:spPr>
        <p:txBody>
          <a:bodyPr anchorCtr="0" anchor="t" bIns="18825" lIns="37700" spcFirstLastPara="1" rIns="37700" wrap="square" tIns="18825">
            <a:spAutoFit/>
          </a:bodyPr>
          <a:lstStyle/>
          <a:p>
            <a:pPr indent="0" lvl="0" marL="0" marR="0" rtl="0" algn="l">
              <a:spcBef>
                <a:spcPts val="0"/>
              </a:spcBef>
              <a:spcAft>
                <a:spcPts val="0"/>
              </a:spcAft>
              <a:buNone/>
            </a:pPr>
            <a:r>
              <a:rPr b="1" lang="en" sz="989" u="sng">
                <a:solidFill>
                  <a:srgbClr val="000000"/>
                </a:solidFill>
                <a:latin typeface="Arial"/>
                <a:ea typeface="Arial"/>
                <a:cs typeface="Arial"/>
                <a:sym typeface="Arial"/>
              </a:rPr>
              <a:t>Multi-voxel pattern analysis</a:t>
            </a:r>
            <a:r>
              <a:rPr lang="en" sz="989">
                <a:solidFill>
                  <a:srgbClr val="000000"/>
                </a:solidFill>
                <a:latin typeface="Arial"/>
                <a:ea typeface="Arial"/>
                <a:cs typeface="Arial"/>
                <a:sym typeface="Arial"/>
              </a:rPr>
              <a:t>: What is the pattern of activity across different voxels (3D pixels) in the brain?</a:t>
            </a:r>
            <a:endParaRPr sz="577"/>
          </a:p>
          <a:p>
            <a:pPr indent="0" lvl="0" marL="0" marR="0" rtl="0" algn="l">
              <a:spcBef>
                <a:spcPts val="0"/>
              </a:spcBef>
              <a:spcAft>
                <a:spcPts val="0"/>
              </a:spcAft>
              <a:buNone/>
            </a:pPr>
            <a:r>
              <a:t/>
            </a:r>
            <a:endParaRPr sz="989">
              <a:solidFill>
                <a:srgbClr val="000000"/>
              </a:solidFill>
              <a:latin typeface="Arial"/>
              <a:ea typeface="Arial"/>
              <a:cs typeface="Arial"/>
              <a:sym typeface="Arial"/>
            </a:endParaRPr>
          </a:p>
        </p:txBody>
      </p:sp>
      <p:sp>
        <p:nvSpPr>
          <p:cNvPr id="410" name="Google Shape;410;p45"/>
          <p:cNvSpPr txBox="1"/>
          <p:nvPr/>
        </p:nvSpPr>
        <p:spPr>
          <a:xfrm>
            <a:off x="4406619" y="2538442"/>
            <a:ext cx="1160400" cy="126900"/>
          </a:xfrm>
          <a:prstGeom prst="rect">
            <a:avLst/>
          </a:prstGeom>
          <a:noFill/>
          <a:ln>
            <a:noFill/>
          </a:ln>
        </p:spPr>
        <p:txBody>
          <a:bodyPr anchorCtr="0" anchor="t" bIns="18825" lIns="37700" spcFirstLastPara="1" rIns="37700" wrap="square" tIns="18825">
            <a:spAutoFit/>
          </a:bodyPr>
          <a:lstStyle/>
          <a:p>
            <a:pPr indent="0" lvl="0" marL="0" marR="0" rtl="0" algn="l">
              <a:spcBef>
                <a:spcPts val="0"/>
              </a:spcBef>
              <a:spcAft>
                <a:spcPts val="0"/>
              </a:spcAft>
              <a:buNone/>
            </a:pPr>
            <a:r>
              <a:rPr i="1" lang="en" sz="577">
                <a:solidFill>
                  <a:srgbClr val="000000"/>
                </a:solidFill>
                <a:latin typeface="Arial"/>
                <a:ea typeface="Arial"/>
                <a:cs typeface="Arial"/>
                <a:sym typeface="Arial"/>
              </a:rPr>
              <a:t>Johnson and Johnson (2004)</a:t>
            </a:r>
            <a:endParaRPr sz="577"/>
          </a:p>
        </p:txBody>
      </p:sp>
      <p:sp>
        <p:nvSpPr>
          <p:cNvPr id="411" name="Google Shape;411;p45"/>
          <p:cNvSpPr txBox="1"/>
          <p:nvPr/>
        </p:nvSpPr>
        <p:spPr>
          <a:xfrm>
            <a:off x="3997125" y="2665350"/>
            <a:ext cx="3539100" cy="578100"/>
          </a:xfrm>
          <a:prstGeom prst="rect">
            <a:avLst/>
          </a:prstGeom>
          <a:noFill/>
          <a:ln>
            <a:noFill/>
          </a:ln>
        </p:spPr>
        <p:txBody>
          <a:bodyPr anchorCtr="0" anchor="ctr" bIns="19925" lIns="39875" spcFirstLastPara="1" rIns="39875" wrap="square" tIns="19925">
            <a:noAutofit/>
          </a:bodyPr>
          <a:lstStyle/>
          <a:p>
            <a:pPr indent="0" lvl="0" marL="0" rtl="0" algn="l">
              <a:lnSpc>
                <a:spcPct val="90000"/>
              </a:lnSpc>
              <a:spcBef>
                <a:spcPts val="0"/>
              </a:spcBef>
              <a:spcAft>
                <a:spcPts val="0"/>
              </a:spcAft>
              <a:buNone/>
            </a:pPr>
            <a:r>
              <a:rPr lang="en" sz="1657">
                <a:solidFill>
                  <a:srgbClr val="000000"/>
                </a:solidFill>
              </a:rPr>
              <a:t>But there are also </a:t>
            </a:r>
            <a:r>
              <a:rPr b="1" lang="en" sz="1657">
                <a:solidFill>
                  <a:srgbClr val="000000"/>
                </a:solidFill>
              </a:rPr>
              <a:t>important differences </a:t>
            </a:r>
            <a:r>
              <a:rPr lang="en" sz="1657">
                <a:solidFill>
                  <a:srgbClr val="000000"/>
                </a:solidFill>
              </a:rPr>
              <a:t>between imagery and perception!</a:t>
            </a:r>
            <a:endParaRPr sz="1919">
              <a:solidFill>
                <a:srgbClr val="000000"/>
              </a:solidFill>
              <a:latin typeface="Calibri"/>
              <a:ea typeface="Calibri"/>
              <a:cs typeface="Calibri"/>
              <a:sym typeface="Calibri"/>
            </a:endParaRPr>
          </a:p>
        </p:txBody>
      </p:sp>
      <p:sp>
        <p:nvSpPr>
          <p:cNvPr id="412" name="Google Shape;412;p45"/>
          <p:cNvSpPr txBox="1"/>
          <p:nvPr/>
        </p:nvSpPr>
        <p:spPr>
          <a:xfrm>
            <a:off x="5748222" y="3243452"/>
            <a:ext cx="1684800" cy="1897500"/>
          </a:xfrm>
          <a:prstGeom prst="rect">
            <a:avLst/>
          </a:prstGeom>
          <a:noFill/>
          <a:ln>
            <a:noFill/>
          </a:ln>
        </p:spPr>
        <p:txBody>
          <a:bodyPr anchorCtr="0" anchor="t" bIns="19925" lIns="39875" spcFirstLastPara="1" rIns="39875" wrap="square" tIns="19925">
            <a:normAutofit/>
          </a:bodyPr>
          <a:lstStyle/>
          <a:p>
            <a:pPr indent="-22154" lvl="0" marL="99696" rtl="0" algn="l">
              <a:lnSpc>
                <a:spcPct val="90000"/>
              </a:lnSpc>
              <a:spcBef>
                <a:spcPts val="0"/>
              </a:spcBef>
              <a:spcAft>
                <a:spcPts val="0"/>
              </a:spcAft>
              <a:buNone/>
            </a:pPr>
            <a:r>
              <a:t/>
            </a:r>
            <a:endParaRPr sz="1221">
              <a:solidFill>
                <a:srgbClr val="000000"/>
              </a:solidFill>
            </a:endParaRPr>
          </a:p>
          <a:p>
            <a:pPr indent="-99696" lvl="0" marL="99696" rtl="0" algn="l">
              <a:lnSpc>
                <a:spcPct val="90000"/>
              </a:lnSpc>
              <a:spcBef>
                <a:spcPts val="436"/>
              </a:spcBef>
              <a:spcAft>
                <a:spcPts val="0"/>
              </a:spcAft>
              <a:buClr>
                <a:srgbClr val="000000"/>
              </a:buClr>
              <a:buSzPts val="1221"/>
              <a:buChar char="•"/>
            </a:pPr>
            <a:r>
              <a:rPr lang="en" sz="1221">
                <a:solidFill>
                  <a:srgbClr val="000000"/>
                </a:solidFill>
              </a:rPr>
              <a:t>Perception is automatic, imagery is effortful</a:t>
            </a:r>
            <a:endParaRPr sz="1221">
              <a:solidFill>
                <a:srgbClr val="000000"/>
              </a:solidFill>
              <a:latin typeface="Calibri"/>
              <a:ea typeface="Calibri"/>
              <a:cs typeface="Calibri"/>
              <a:sym typeface="Calibri"/>
            </a:endParaRPr>
          </a:p>
          <a:p>
            <a:pPr indent="-22154" lvl="0" marL="99696" rtl="0" algn="l">
              <a:lnSpc>
                <a:spcPct val="90000"/>
              </a:lnSpc>
              <a:spcBef>
                <a:spcPts val="436"/>
              </a:spcBef>
              <a:spcAft>
                <a:spcPts val="0"/>
              </a:spcAft>
              <a:buNone/>
            </a:pPr>
            <a:r>
              <a:t/>
            </a:r>
            <a:endParaRPr sz="1221">
              <a:solidFill>
                <a:srgbClr val="000000"/>
              </a:solidFill>
            </a:endParaRPr>
          </a:p>
          <a:p>
            <a:pPr indent="-99696" lvl="0" marL="99696" rtl="0" algn="l">
              <a:lnSpc>
                <a:spcPct val="90000"/>
              </a:lnSpc>
              <a:spcBef>
                <a:spcPts val="436"/>
              </a:spcBef>
              <a:spcAft>
                <a:spcPts val="0"/>
              </a:spcAft>
              <a:buClr>
                <a:srgbClr val="000000"/>
              </a:buClr>
              <a:buSzPts val="1221"/>
              <a:buChar char="•"/>
            </a:pPr>
            <a:r>
              <a:rPr lang="en" sz="1221">
                <a:solidFill>
                  <a:srgbClr val="000000"/>
                </a:solidFill>
              </a:rPr>
              <a:t>Can switch between percepts in perception but difficult in imagery</a:t>
            </a:r>
            <a:endParaRPr sz="1221">
              <a:solidFill>
                <a:srgbClr val="000000"/>
              </a:solidFill>
              <a:latin typeface="Calibri"/>
              <a:ea typeface="Calibri"/>
              <a:cs typeface="Calibri"/>
              <a:sym typeface="Calibri"/>
            </a:endParaRPr>
          </a:p>
        </p:txBody>
      </p:sp>
      <p:pic>
        <p:nvPicPr>
          <p:cNvPr descr="Line drawing illustrating an optical illusion that can be seen as either a rabbit facing right or a duck facing left. The black outline includes two ears or a beak and an eye" id="413" name="Google Shape;413;p45"/>
          <p:cNvPicPr preferRelativeResize="0"/>
          <p:nvPr/>
        </p:nvPicPr>
        <p:blipFill rotWithShape="1">
          <a:blip r:embed="rId7">
            <a:alphaModFix/>
          </a:blip>
          <a:srcRect b="0" l="0" r="0" t="0"/>
          <a:stretch/>
        </p:blipFill>
        <p:spPr>
          <a:xfrm>
            <a:off x="4269681" y="3722137"/>
            <a:ext cx="1008324" cy="856960"/>
          </a:xfrm>
          <a:prstGeom prst="rect">
            <a:avLst/>
          </a:prstGeom>
          <a:noFill/>
          <a:ln>
            <a:noFill/>
          </a:ln>
        </p:spPr>
      </p:pic>
      <p:sp>
        <p:nvSpPr>
          <p:cNvPr id="414" name="Google Shape;414;p45"/>
          <p:cNvSpPr txBox="1"/>
          <p:nvPr/>
        </p:nvSpPr>
        <p:spPr>
          <a:xfrm>
            <a:off x="7696200" y="2948950"/>
            <a:ext cx="1390200" cy="20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The method of loci</a:t>
            </a:r>
            <a:r>
              <a:rPr lang="en">
                <a:solidFill>
                  <a:schemeClr val="dk1"/>
                </a:solidFill>
              </a:rPr>
              <a:t>: using imagery to aid in memory (remembering a deck of cards)</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txBox="1"/>
          <p:nvPr>
            <p:ph type="title"/>
          </p:nvPr>
        </p:nvSpPr>
        <p:spPr>
          <a:xfrm>
            <a:off x="52625"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Concepts and categories</a:t>
            </a:r>
            <a:endParaRPr/>
          </a:p>
        </p:txBody>
      </p:sp>
      <p:sp>
        <p:nvSpPr>
          <p:cNvPr id="420" name="Google Shape;420;p46"/>
          <p:cNvSpPr txBox="1"/>
          <p:nvPr/>
        </p:nvSpPr>
        <p:spPr>
          <a:xfrm>
            <a:off x="7419819" y="2492352"/>
            <a:ext cx="1156800" cy="153900"/>
          </a:xfrm>
          <a:prstGeom prst="rect">
            <a:avLst/>
          </a:prstGeom>
          <a:noFill/>
          <a:ln>
            <a:noFill/>
          </a:ln>
        </p:spPr>
        <p:txBody>
          <a:bodyPr anchorCtr="0" anchor="ctr" bIns="19275" lIns="38550" spcFirstLastPara="1" rIns="38550" wrap="square" tIns="19275">
            <a:noAutofit/>
          </a:bodyPr>
          <a:lstStyle/>
          <a:p>
            <a:pPr indent="0" lvl="0" marL="0" rtl="0" algn="r">
              <a:spcBef>
                <a:spcPts val="0"/>
              </a:spcBef>
              <a:spcAft>
                <a:spcPts val="0"/>
              </a:spcAft>
              <a:buNone/>
            </a:pPr>
            <a:fld id="{00000000-1234-1234-1234-123412341234}" type="slidenum">
              <a:rPr lang="en" sz="506">
                <a:solidFill>
                  <a:srgbClr val="000000"/>
                </a:solidFill>
                <a:latin typeface="Calibri"/>
                <a:ea typeface="Calibri"/>
                <a:cs typeface="Calibri"/>
                <a:sym typeface="Calibri"/>
              </a:rPr>
              <a:t>‹#›</a:t>
            </a:fld>
            <a:endParaRPr sz="506">
              <a:solidFill>
                <a:srgbClr val="000000"/>
              </a:solidFill>
              <a:latin typeface="Calibri"/>
              <a:ea typeface="Calibri"/>
              <a:cs typeface="Calibri"/>
              <a:sym typeface="Calibri"/>
            </a:endParaRPr>
          </a:p>
        </p:txBody>
      </p:sp>
      <p:pic>
        <p:nvPicPr>
          <p:cNvPr descr="A graph plots mean responses time in m s on the vertical axis that ranges from 900 to 1500 in increments of 100. The horizontal axis plots levels to be traversed from 0 to 2 in increments of 1. The graph has two curves. The category curve starts at (0, 1000). This point is labeled A canary is a canary. The curve slopes up to (1, 1200). This point is labeled A canary is a bird. The curve further slopes up to (2, 1210). This point is labeled A canary is an animal. The property curve starts at (0, 1300). This point is labeled A canary can sing. The curve slopes up to (1, 1380). This point is labeled A canary can fly. The curve slopes further up to (2, 1480). This point is labeled A canary has skin. All data are approximate." id="421" name="Google Shape;421;p46"/>
          <p:cNvPicPr preferRelativeResize="0"/>
          <p:nvPr/>
        </p:nvPicPr>
        <p:blipFill rotWithShape="1">
          <a:blip r:embed="rId3">
            <a:alphaModFix/>
          </a:blip>
          <a:srcRect b="0" l="0" r="0" t="0"/>
          <a:stretch/>
        </p:blipFill>
        <p:spPr>
          <a:xfrm>
            <a:off x="7241221" y="166925"/>
            <a:ext cx="1303274" cy="1181376"/>
          </a:xfrm>
          <a:prstGeom prst="rect">
            <a:avLst/>
          </a:prstGeom>
          <a:noFill/>
          <a:ln>
            <a:noFill/>
          </a:ln>
        </p:spPr>
      </p:pic>
      <p:grpSp>
        <p:nvGrpSpPr>
          <p:cNvPr id="422" name="Google Shape;422;p46"/>
          <p:cNvGrpSpPr/>
          <p:nvPr/>
        </p:nvGrpSpPr>
        <p:grpSpPr>
          <a:xfrm>
            <a:off x="6154707" y="1556178"/>
            <a:ext cx="1669534" cy="936028"/>
            <a:chOff x="7211743" y="4136790"/>
            <a:chExt cx="3959057" cy="2219653"/>
          </a:xfrm>
        </p:grpSpPr>
        <p:sp>
          <p:nvSpPr>
            <p:cNvPr id="423" name="Google Shape;423;p46"/>
            <p:cNvSpPr/>
            <p:nvPr/>
          </p:nvSpPr>
          <p:spPr>
            <a:xfrm>
              <a:off x="8543544" y="4136790"/>
              <a:ext cx="1188600" cy="536700"/>
            </a:xfrm>
            <a:prstGeom prst="ellipse">
              <a:avLst/>
            </a:prstGeom>
            <a:solidFill>
              <a:srgbClr val="FFFFFF"/>
            </a:solidFill>
            <a:ln cap="flat" cmpd="sng" w="10700">
              <a:solidFill>
                <a:srgbClr val="31538F"/>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52A3"/>
                  </a:solidFill>
                  <a:latin typeface="Arial"/>
                  <a:ea typeface="Arial"/>
                  <a:cs typeface="Arial"/>
                  <a:sym typeface="Arial"/>
                </a:rPr>
                <a:t>Animal</a:t>
              </a:r>
              <a:endParaRPr sz="590"/>
            </a:p>
          </p:txBody>
        </p:sp>
        <p:sp>
          <p:nvSpPr>
            <p:cNvPr id="424" name="Google Shape;424;p46"/>
            <p:cNvSpPr/>
            <p:nvPr/>
          </p:nvSpPr>
          <p:spPr>
            <a:xfrm>
              <a:off x="8543544" y="4931378"/>
              <a:ext cx="1188600" cy="536700"/>
            </a:xfrm>
            <a:prstGeom prst="ellipse">
              <a:avLst/>
            </a:prstGeom>
            <a:solidFill>
              <a:srgbClr val="FFFFFF"/>
            </a:solidFill>
            <a:ln cap="flat" cmpd="sng" w="10700">
              <a:solidFill>
                <a:srgbClr val="31538F"/>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52A3"/>
                  </a:solidFill>
                  <a:latin typeface="Arial"/>
                  <a:ea typeface="Arial"/>
                  <a:cs typeface="Arial"/>
                  <a:sym typeface="Arial"/>
                </a:rPr>
                <a:t>Bird</a:t>
              </a:r>
              <a:endParaRPr sz="590"/>
            </a:p>
          </p:txBody>
        </p:sp>
        <p:sp>
          <p:nvSpPr>
            <p:cNvPr id="425" name="Google Shape;425;p46"/>
            <p:cNvSpPr/>
            <p:nvPr/>
          </p:nvSpPr>
          <p:spPr>
            <a:xfrm>
              <a:off x="7211743" y="5819743"/>
              <a:ext cx="1188600" cy="536700"/>
            </a:xfrm>
            <a:prstGeom prst="ellipse">
              <a:avLst/>
            </a:prstGeom>
            <a:solidFill>
              <a:srgbClr val="FFFFFF"/>
            </a:solidFill>
            <a:ln cap="flat" cmpd="sng" w="10700">
              <a:solidFill>
                <a:srgbClr val="31538F"/>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52A3"/>
                  </a:solidFill>
                  <a:latin typeface="Arial"/>
                  <a:ea typeface="Arial"/>
                  <a:cs typeface="Arial"/>
                  <a:sym typeface="Arial"/>
                </a:rPr>
                <a:t>Robin</a:t>
              </a:r>
              <a:endParaRPr sz="590"/>
            </a:p>
          </p:txBody>
        </p:sp>
        <p:sp>
          <p:nvSpPr>
            <p:cNvPr id="426" name="Google Shape;426;p46"/>
            <p:cNvSpPr/>
            <p:nvPr/>
          </p:nvSpPr>
          <p:spPr>
            <a:xfrm>
              <a:off x="8543544" y="5807919"/>
              <a:ext cx="1188600" cy="536700"/>
            </a:xfrm>
            <a:prstGeom prst="ellipse">
              <a:avLst/>
            </a:prstGeom>
            <a:solidFill>
              <a:srgbClr val="FFFFFF"/>
            </a:solidFill>
            <a:ln cap="flat" cmpd="sng" w="10700">
              <a:solidFill>
                <a:srgbClr val="31538F"/>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52A3"/>
                  </a:solidFill>
                  <a:latin typeface="Arial"/>
                  <a:ea typeface="Arial"/>
                  <a:cs typeface="Arial"/>
                  <a:sym typeface="Arial"/>
                </a:rPr>
                <a:t>Canary</a:t>
              </a:r>
              <a:endParaRPr sz="590"/>
            </a:p>
          </p:txBody>
        </p:sp>
        <p:sp>
          <p:nvSpPr>
            <p:cNvPr id="427" name="Google Shape;427;p46"/>
            <p:cNvSpPr/>
            <p:nvPr/>
          </p:nvSpPr>
          <p:spPr>
            <a:xfrm>
              <a:off x="9982200" y="5819743"/>
              <a:ext cx="1188600" cy="536700"/>
            </a:xfrm>
            <a:prstGeom prst="ellipse">
              <a:avLst/>
            </a:prstGeom>
            <a:solidFill>
              <a:srgbClr val="FFFFFF"/>
            </a:solidFill>
            <a:ln cap="flat" cmpd="sng" w="10700">
              <a:solidFill>
                <a:srgbClr val="31538F"/>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52A3"/>
                  </a:solidFill>
                  <a:latin typeface="Arial"/>
                  <a:ea typeface="Arial"/>
                  <a:cs typeface="Arial"/>
                  <a:sym typeface="Arial"/>
                </a:rPr>
                <a:t>Ostrich</a:t>
              </a:r>
              <a:endParaRPr sz="590"/>
            </a:p>
          </p:txBody>
        </p:sp>
        <p:cxnSp>
          <p:nvCxnSpPr>
            <p:cNvPr id="428" name="Google Shape;428;p46"/>
            <p:cNvCxnSpPr>
              <a:stCxn id="424" idx="3"/>
              <a:endCxn id="425" idx="7"/>
            </p:cNvCxnSpPr>
            <p:nvPr/>
          </p:nvCxnSpPr>
          <p:spPr>
            <a:xfrm flipH="1">
              <a:off x="8226210" y="5389480"/>
              <a:ext cx="491400" cy="508800"/>
            </a:xfrm>
            <a:prstGeom prst="straightConnector1">
              <a:avLst/>
            </a:prstGeom>
            <a:noFill/>
            <a:ln cap="flat" cmpd="sng" w="10700">
              <a:solidFill>
                <a:srgbClr val="4472C4"/>
              </a:solidFill>
              <a:prstDash val="solid"/>
              <a:miter lim="8000"/>
              <a:headEnd len="sm" w="sm" type="none"/>
              <a:tailEnd len="sm" w="sm" type="none"/>
            </a:ln>
          </p:spPr>
        </p:cxnSp>
        <p:cxnSp>
          <p:nvCxnSpPr>
            <p:cNvPr id="429" name="Google Shape;429;p46"/>
            <p:cNvCxnSpPr>
              <a:stCxn id="423" idx="4"/>
              <a:endCxn id="424" idx="0"/>
            </p:cNvCxnSpPr>
            <p:nvPr/>
          </p:nvCxnSpPr>
          <p:spPr>
            <a:xfrm>
              <a:off x="9137844" y="4673490"/>
              <a:ext cx="0" cy="258000"/>
            </a:xfrm>
            <a:prstGeom prst="straightConnector1">
              <a:avLst/>
            </a:prstGeom>
            <a:noFill/>
            <a:ln cap="flat" cmpd="sng" w="10700">
              <a:solidFill>
                <a:srgbClr val="4472C4"/>
              </a:solidFill>
              <a:prstDash val="solid"/>
              <a:miter lim="8000"/>
              <a:headEnd len="sm" w="sm" type="none"/>
              <a:tailEnd len="sm" w="sm" type="none"/>
            </a:ln>
          </p:spPr>
        </p:cxnSp>
        <p:cxnSp>
          <p:nvCxnSpPr>
            <p:cNvPr id="430" name="Google Shape;430;p46"/>
            <p:cNvCxnSpPr>
              <a:stCxn id="424" idx="4"/>
              <a:endCxn id="426" idx="0"/>
            </p:cNvCxnSpPr>
            <p:nvPr/>
          </p:nvCxnSpPr>
          <p:spPr>
            <a:xfrm>
              <a:off x="9137844" y="5468078"/>
              <a:ext cx="0" cy="339900"/>
            </a:xfrm>
            <a:prstGeom prst="straightConnector1">
              <a:avLst/>
            </a:prstGeom>
            <a:noFill/>
            <a:ln cap="flat" cmpd="sng" w="10700">
              <a:solidFill>
                <a:srgbClr val="4472C4"/>
              </a:solidFill>
              <a:prstDash val="solid"/>
              <a:miter lim="8000"/>
              <a:headEnd len="sm" w="sm" type="none"/>
              <a:tailEnd len="sm" w="sm" type="none"/>
            </a:ln>
          </p:spPr>
        </p:cxnSp>
        <p:cxnSp>
          <p:nvCxnSpPr>
            <p:cNvPr id="431" name="Google Shape;431;p46"/>
            <p:cNvCxnSpPr>
              <a:stCxn id="424" idx="5"/>
              <a:endCxn id="427" idx="1"/>
            </p:cNvCxnSpPr>
            <p:nvPr/>
          </p:nvCxnSpPr>
          <p:spPr>
            <a:xfrm>
              <a:off x="9558078" y="5389480"/>
              <a:ext cx="598200" cy="508800"/>
            </a:xfrm>
            <a:prstGeom prst="straightConnector1">
              <a:avLst/>
            </a:prstGeom>
            <a:noFill/>
            <a:ln cap="flat" cmpd="sng" w="10700">
              <a:solidFill>
                <a:srgbClr val="4472C4"/>
              </a:solidFill>
              <a:prstDash val="solid"/>
              <a:miter lim="8000"/>
              <a:headEnd len="sm" w="sm" type="none"/>
              <a:tailEnd len="sm" w="sm" type="none"/>
            </a:ln>
          </p:spPr>
        </p:cxnSp>
      </p:grpSp>
      <p:sp>
        <p:nvSpPr>
          <p:cNvPr id="432" name="Google Shape;432;p46"/>
          <p:cNvSpPr/>
          <p:nvPr/>
        </p:nvSpPr>
        <p:spPr>
          <a:xfrm>
            <a:off x="6154919" y="2265089"/>
            <a:ext cx="501300" cy="226200"/>
          </a:xfrm>
          <a:prstGeom prst="ellipse">
            <a:avLst/>
          </a:prstGeom>
          <a:solidFill>
            <a:srgbClr val="0052A3"/>
          </a:solidFill>
          <a:ln cap="flat" cmpd="sng" w="5350">
            <a:solidFill>
              <a:srgbClr val="42719B"/>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0000"/>
                </a:solidFill>
                <a:latin typeface="Arial"/>
                <a:ea typeface="Arial"/>
                <a:cs typeface="Arial"/>
                <a:sym typeface="Arial"/>
              </a:rPr>
              <a:t>Robin</a:t>
            </a:r>
            <a:endParaRPr sz="590"/>
          </a:p>
        </p:txBody>
      </p:sp>
      <p:sp>
        <p:nvSpPr>
          <p:cNvPr id="433" name="Google Shape;433;p46"/>
          <p:cNvSpPr/>
          <p:nvPr/>
        </p:nvSpPr>
        <p:spPr>
          <a:xfrm>
            <a:off x="6716578" y="1888906"/>
            <a:ext cx="501300" cy="226200"/>
          </a:xfrm>
          <a:prstGeom prst="ellipse">
            <a:avLst/>
          </a:prstGeom>
          <a:solidFill>
            <a:srgbClr val="0052A3">
              <a:alpha val="58040"/>
            </a:srgbClr>
          </a:solidFill>
          <a:ln cap="flat" cmpd="sng" w="5350">
            <a:solidFill>
              <a:srgbClr val="42719B"/>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0000"/>
                </a:solidFill>
                <a:latin typeface="Arial"/>
                <a:ea typeface="Arial"/>
                <a:cs typeface="Arial"/>
                <a:sym typeface="Arial"/>
              </a:rPr>
              <a:t>Bird</a:t>
            </a:r>
            <a:endParaRPr sz="590"/>
          </a:p>
        </p:txBody>
      </p:sp>
      <p:sp>
        <p:nvSpPr>
          <p:cNvPr id="434" name="Google Shape;434;p46"/>
          <p:cNvSpPr/>
          <p:nvPr/>
        </p:nvSpPr>
        <p:spPr>
          <a:xfrm>
            <a:off x="6716578" y="1549452"/>
            <a:ext cx="501300" cy="226200"/>
          </a:xfrm>
          <a:prstGeom prst="ellipse">
            <a:avLst/>
          </a:prstGeom>
          <a:solidFill>
            <a:srgbClr val="0052A3">
              <a:alpha val="30980"/>
            </a:srgbClr>
          </a:solidFill>
          <a:ln cap="flat" cmpd="sng" w="5350">
            <a:solidFill>
              <a:srgbClr val="42719B"/>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0000"/>
                </a:solidFill>
                <a:latin typeface="Arial"/>
                <a:ea typeface="Arial"/>
                <a:cs typeface="Arial"/>
                <a:sym typeface="Arial"/>
              </a:rPr>
              <a:t>Animal</a:t>
            </a:r>
            <a:endParaRPr sz="590"/>
          </a:p>
        </p:txBody>
      </p:sp>
      <p:sp>
        <p:nvSpPr>
          <p:cNvPr id="435" name="Google Shape;435;p46"/>
          <p:cNvSpPr/>
          <p:nvPr/>
        </p:nvSpPr>
        <p:spPr>
          <a:xfrm>
            <a:off x="6716578" y="2256054"/>
            <a:ext cx="501300" cy="226200"/>
          </a:xfrm>
          <a:prstGeom prst="ellipse">
            <a:avLst/>
          </a:prstGeom>
          <a:solidFill>
            <a:srgbClr val="0052A3">
              <a:alpha val="30980"/>
            </a:srgbClr>
          </a:solidFill>
          <a:ln cap="flat" cmpd="sng" w="5350">
            <a:solidFill>
              <a:srgbClr val="42719B"/>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0000"/>
                </a:solidFill>
                <a:latin typeface="Arial"/>
                <a:ea typeface="Arial"/>
                <a:cs typeface="Arial"/>
                <a:sym typeface="Arial"/>
              </a:rPr>
              <a:t>Canary</a:t>
            </a:r>
            <a:endParaRPr sz="590"/>
          </a:p>
        </p:txBody>
      </p:sp>
      <p:sp>
        <p:nvSpPr>
          <p:cNvPr id="436" name="Google Shape;436;p46"/>
          <p:cNvSpPr/>
          <p:nvPr/>
        </p:nvSpPr>
        <p:spPr>
          <a:xfrm>
            <a:off x="7321722" y="2261040"/>
            <a:ext cx="501300" cy="226200"/>
          </a:xfrm>
          <a:prstGeom prst="ellipse">
            <a:avLst/>
          </a:prstGeom>
          <a:solidFill>
            <a:srgbClr val="0052A3">
              <a:alpha val="30980"/>
            </a:srgbClr>
          </a:solidFill>
          <a:ln cap="flat" cmpd="sng" w="5350">
            <a:solidFill>
              <a:srgbClr val="42719B"/>
            </a:solidFill>
            <a:prstDash val="solid"/>
            <a:miter lim="8000"/>
            <a:headEnd len="sm" w="sm" type="none"/>
            <a:tailEnd len="sm" w="sm" type="none"/>
          </a:ln>
        </p:spPr>
        <p:txBody>
          <a:bodyPr anchorCtr="0" anchor="ctr" bIns="19275" lIns="38550" spcFirstLastPara="1" rIns="38550" wrap="square" tIns="19275">
            <a:noAutofit/>
          </a:bodyPr>
          <a:lstStyle/>
          <a:p>
            <a:pPr indent="0" lvl="0" marL="0" marR="0" rtl="0" algn="ctr">
              <a:spcBef>
                <a:spcPts val="0"/>
              </a:spcBef>
              <a:spcAft>
                <a:spcPts val="0"/>
              </a:spcAft>
              <a:buNone/>
            </a:pPr>
            <a:r>
              <a:rPr lang="en" sz="675">
                <a:solidFill>
                  <a:srgbClr val="000000"/>
                </a:solidFill>
                <a:latin typeface="Arial"/>
                <a:ea typeface="Arial"/>
                <a:cs typeface="Arial"/>
                <a:sym typeface="Arial"/>
              </a:rPr>
              <a:t>Ostrich</a:t>
            </a:r>
            <a:endParaRPr sz="590"/>
          </a:p>
        </p:txBody>
      </p:sp>
      <p:pic>
        <p:nvPicPr>
          <p:cNvPr descr="A vertical bar graph plots reaction time in m s on the vertical axis that ranges from 750 to 950 in increments of 100. A line break is below 750. The horizontal axis is labeled words associated and words not associated. The approximate data reads 850 words associated and 940 words not associated. " id="437" name="Google Shape;437;p46"/>
          <p:cNvPicPr preferRelativeResize="0"/>
          <p:nvPr/>
        </p:nvPicPr>
        <p:blipFill rotWithShape="1">
          <a:blip r:embed="rId4">
            <a:alphaModFix/>
          </a:blip>
          <a:srcRect b="0" l="0" r="0" t="0"/>
          <a:stretch/>
        </p:blipFill>
        <p:spPr>
          <a:xfrm>
            <a:off x="7884961" y="1584259"/>
            <a:ext cx="993858" cy="868918"/>
          </a:xfrm>
          <a:prstGeom prst="rect">
            <a:avLst/>
          </a:prstGeom>
          <a:noFill/>
          <a:ln>
            <a:noFill/>
          </a:ln>
        </p:spPr>
      </p:pic>
      <p:pic>
        <p:nvPicPr>
          <p:cNvPr descr="A connectionist network shows the following concepts: pine, oak, rose, daisy, robin, canary, sunfish, and salmon. Each concept is represented by a circle. The circle for Canary is colored. An arrow points to Canary. A line of 8 circles depicts representation. The second and fifth circles are colored, and the remaining circles are white. Arrows point from the concept circles to the representation circles. The relations are is a, is, can, has. Each relation is represented by a circle. An arrow points to can. The circle for can is colored. A line of 15 circles represents hidden. The first, fourth, seventh, ninth, eleventh, fourteenth, and fifteenth circles are colored. Arrows point from the representation circles, and relation circles point to the hidden circles. A line of 34 circles indicates property. The twenty-second, twenty-third, twenty-fifth, and twenty-sixth circles are colored. The first 15 circles represent living thing, plant, animal, tree, flower, bird, flower, pine, oak, rose, daisy, robin, canary sunfish, and salmon. These words are associated with &quot;is a.”. The sixteenth to twenty-first circles represent pretty, tall, living, green, red, and yellow. These words are associated with “is.” The twenty-second to twenty-sixth circles represent grow, move, swim, fly, and sing. These words are associated with “can.” The twenty-seventh to thirty-fourth circles represent bark, petals, wings, feathers, scales, gills, roots, and skin. These words are associated with “has.”" id="438" name="Google Shape;438;p46"/>
          <p:cNvPicPr preferRelativeResize="0"/>
          <p:nvPr/>
        </p:nvPicPr>
        <p:blipFill rotWithShape="1">
          <a:blip r:embed="rId5">
            <a:alphaModFix/>
          </a:blip>
          <a:srcRect b="0" l="0" r="0" t="0"/>
          <a:stretch/>
        </p:blipFill>
        <p:spPr>
          <a:xfrm>
            <a:off x="214568" y="2646251"/>
            <a:ext cx="2158256" cy="2230624"/>
          </a:xfrm>
          <a:prstGeom prst="rect">
            <a:avLst/>
          </a:prstGeom>
          <a:noFill/>
          <a:ln>
            <a:noFill/>
          </a:ln>
        </p:spPr>
      </p:pic>
      <p:sp>
        <p:nvSpPr>
          <p:cNvPr id="439" name="Google Shape;439;p46"/>
          <p:cNvSpPr txBox="1"/>
          <p:nvPr/>
        </p:nvSpPr>
        <p:spPr>
          <a:xfrm>
            <a:off x="3804425" y="166925"/>
            <a:ext cx="3436800" cy="572700"/>
          </a:xfrm>
          <a:prstGeom prst="rect">
            <a:avLst/>
          </a:prstGeom>
          <a:noFill/>
          <a:ln>
            <a:noFill/>
          </a:ln>
        </p:spPr>
        <p:txBody>
          <a:bodyPr anchorCtr="0" anchor="t" bIns="91425" lIns="91425" spcFirstLastPara="1" rIns="91425" wrap="square" tIns="91425">
            <a:noAutofit/>
          </a:bodyPr>
          <a:lstStyle/>
          <a:p>
            <a:pPr indent="-114300" lvl="0" marL="228600" rtl="0" algn="l">
              <a:lnSpc>
                <a:spcPct val="90000"/>
              </a:lnSpc>
              <a:spcBef>
                <a:spcPts val="0"/>
              </a:spcBef>
              <a:spcAft>
                <a:spcPts val="0"/>
              </a:spcAft>
              <a:buClr>
                <a:schemeClr val="dk1"/>
              </a:buClr>
              <a:buSzPts val="1400"/>
              <a:buChar char="•"/>
            </a:pPr>
            <a:r>
              <a:rPr b="1" lang="en">
                <a:solidFill>
                  <a:schemeClr val="dk1"/>
                </a:solidFill>
              </a:rPr>
              <a:t>Hierarchical semantic models</a:t>
            </a:r>
            <a:r>
              <a:rPr lang="en">
                <a:solidFill>
                  <a:schemeClr val="dk1"/>
                </a:solidFill>
              </a:rPr>
              <a:t> capture much of behavior, especially taxonomic relations</a:t>
            </a:r>
            <a:endParaRPr sz="1000">
              <a:solidFill>
                <a:schemeClr val="dk1"/>
              </a:solidFill>
              <a:latin typeface="Calibri"/>
              <a:ea typeface="Calibri"/>
              <a:cs typeface="Calibri"/>
              <a:sym typeface="Calibri"/>
            </a:endParaRPr>
          </a:p>
          <a:p>
            <a:pPr indent="-114300" lvl="1" marL="685800" rtl="0" algn="l">
              <a:lnSpc>
                <a:spcPct val="90000"/>
              </a:lnSpc>
              <a:spcBef>
                <a:spcPts val="500"/>
              </a:spcBef>
              <a:spcAft>
                <a:spcPts val="0"/>
              </a:spcAft>
              <a:buClr>
                <a:schemeClr val="dk1"/>
              </a:buClr>
              <a:buSzPts val="1000"/>
              <a:buChar char="•"/>
            </a:pPr>
            <a:r>
              <a:rPr lang="en" sz="1000">
                <a:solidFill>
                  <a:schemeClr val="dk1"/>
                </a:solidFill>
              </a:rPr>
              <a:t>But not all relations (e.g., thematic) or behavior (e.g., typicality) effects</a:t>
            </a:r>
            <a:endParaRPr sz="100">
              <a:solidFill>
                <a:schemeClr val="dk2"/>
              </a:solidFill>
            </a:endParaRPr>
          </a:p>
        </p:txBody>
      </p:sp>
      <p:sp>
        <p:nvSpPr>
          <p:cNvPr id="440" name="Google Shape;440;p46"/>
          <p:cNvSpPr txBox="1"/>
          <p:nvPr/>
        </p:nvSpPr>
        <p:spPr>
          <a:xfrm>
            <a:off x="52625" y="1348300"/>
            <a:ext cx="5508900" cy="868800"/>
          </a:xfrm>
          <a:prstGeom prst="rect">
            <a:avLst/>
          </a:prstGeom>
          <a:noFill/>
          <a:ln>
            <a:noFill/>
          </a:ln>
        </p:spPr>
        <p:txBody>
          <a:bodyPr anchorCtr="0" anchor="t" bIns="91425" lIns="91425" spcFirstLastPara="1" rIns="91425" wrap="square" tIns="91425">
            <a:noAutofit/>
          </a:bodyPr>
          <a:lstStyle/>
          <a:p>
            <a:pPr indent="-139700" lvl="0" marL="228600" rtl="0" algn="l">
              <a:lnSpc>
                <a:spcPct val="90000"/>
              </a:lnSpc>
              <a:spcBef>
                <a:spcPts val="1000"/>
              </a:spcBef>
              <a:spcAft>
                <a:spcPts val="0"/>
              </a:spcAft>
              <a:buClr>
                <a:schemeClr val="dk1"/>
              </a:buClr>
              <a:buSzPts val="1800"/>
              <a:buChar char="•"/>
            </a:pPr>
            <a:r>
              <a:rPr b="1" lang="en" sz="1800">
                <a:solidFill>
                  <a:schemeClr val="dk1"/>
                </a:solidFill>
              </a:rPr>
              <a:t>Connectionist models</a:t>
            </a:r>
            <a:r>
              <a:rPr lang="en" sz="1800">
                <a:solidFill>
                  <a:schemeClr val="dk1"/>
                </a:solidFill>
              </a:rPr>
              <a:t> offer an alternative model of semantic organization</a:t>
            </a:r>
            <a:endParaRPr sz="1800">
              <a:solidFill>
                <a:schemeClr val="dk1"/>
              </a:solidFill>
              <a:latin typeface="Calibri"/>
              <a:ea typeface="Calibri"/>
              <a:cs typeface="Calibri"/>
              <a:sym typeface="Calibri"/>
            </a:endParaRPr>
          </a:p>
          <a:p>
            <a:pPr indent="-165100" lvl="1" marL="685800" rtl="0" algn="l">
              <a:lnSpc>
                <a:spcPct val="90000"/>
              </a:lnSpc>
              <a:spcBef>
                <a:spcPts val="500"/>
              </a:spcBef>
              <a:spcAft>
                <a:spcPts val="0"/>
              </a:spcAft>
              <a:buClr>
                <a:schemeClr val="dk1"/>
              </a:buClr>
              <a:buSzPts val="1800"/>
              <a:buChar char="•"/>
            </a:pPr>
            <a:r>
              <a:rPr lang="en" sz="1800">
                <a:solidFill>
                  <a:schemeClr val="dk1"/>
                </a:solidFill>
              </a:rPr>
              <a:t>Suggest that representations are distributed across features</a:t>
            </a:r>
            <a:endParaRPr sz="1800">
              <a:solidFill>
                <a:schemeClr val="dk2"/>
              </a:solidFill>
            </a:endParaRPr>
          </a:p>
        </p:txBody>
      </p:sp>
      <p:sp>
        <p:nvSpPr>
          <p:cNvPr id="441" name="Google Shape;441;p46"/>
          <p:cNvSpPr txBox="1"/>
          <p:nvPr/>
        </p:nvSpPr>
        <p:spPr>
          <a:xfrm>
            <a:off x="2975325" y="2739650"/>
            <a:ext cx="4615200" cy="572700"/>
          </a:xfrm>
          <a:prstGeom prst="rect">
            <a:avLst/>
          </a:prstGeom>
          <a:noFill/>
          <a:ln>
            <a:noFill/>
          </a:ln>
        </p:spPr>
        <p:txBody>
          <a:bodyPr anchorCtr="0" anchor="t" bIns="91425" lIns="91425" spcFirstLastPara="1" rIns="91425" wrap="square" tIns="91425">
            <a:noAutofit/>
          </a:bodyPr>
          <a:lstStyle/>
          <a:p>
            <a:pPr indent="-139700" lvl="0" marL="228600" rtl="0" algn="l">
              <a:lnSpc>
                <a:spcPct val="90000"/>
              </a:lnSpc>
              <a:spcBef>
                <a:spcPts val="1000"/>
              </a:spcBef>
              <a:spcAft>
                <a:spcPts val="0"/>
              </a:spcAft>
              <a:buClr>
                <a:schemeClr val="dk1"/>
              </a:buClr>
              <a:buSzPts val="1800"/>
              <a:buChar char="•"/>
            </a:pPr>
            <a:r>
              <a:rPr lang="en" sz="1800">
                <a:solidFill>
                  <a:schemeClr val="dk1"/>
                </a:solidFill>
              </a:rPr>
              <a:t>Neural data also support </a:t>
            </a:r>
            <a:r>
              <a:rPr b="1" lang="en" sz="1800">
                <a:solidFill>
                  <a:schemeClr val="dk1"/>
                </a:solidFill>
              </a:rPr>
              <a:t>distributed representations of concepts</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p:txBody>
      </p:sp>
      <p:pic>
        <p:nvPicPr>
          <p:cNvPr descr="An illustration of the human brain shows the regions of the brain activated by certain words. An arrow points from the words, ribbons, sleeve, color, satin, colored, tunic, glossy, colored, strips, brown, cap, red, striped, stripes, silver, inch, gold, leather, yellow, and thinner to a part of the upper front brain cortex. An arrow points from the words believed, pregnant, judge, guilty, death, claims, innocent, child, killed, victim, murderer, birth, stated, false, claim, believes, claiming, and accusation point to a part of the hind brain. An inset shows several curved segments arranged in a concentric pattern. The words associated with the segments, from inside to outside, are body part, person, place, mental, violence, outdoors, social, and visual." id="442" name="Google Shape;442;p46"/>
          <p:cNvPicPr preferRelativeResize="0"/>
          <p:nvPr/>
        </p:nvPicPr>
        <p:blipFill rotWithShape="1">
          <a:blip r:embed="rId6">
            <a:alphaModFix/>
          </a:blip>
          <a:srcRect b="0" l="0" r="1390" t="0"/>
          <a:stretch/>
        </p:blipFill>
        <p:spPr>
          <a:xfrm>
            <a:off x="3166090" y="3312351"/>
            <a:ext cx="2811808" cy="17570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7"/>
          <p:cNvSpPr txBox="1"/>
          <p:nvPr>
            <p:ph type="title"/>
          </p:nvPr>
        </p:nvSpPr>
        <p:spPr>
          <a:xfrm>
            <a:off x="52625"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Concepts and categories</a:t>
            </a:r>
            <a:endParaRPr/>
          </a:p>
        </p:txBody>
      </p:sp>
      <p:pic>
        <p:nvPicPr>
          <p:cNvPr descr="Diagram illustrating sensory and motor elements related to perception and interaction, divided into labeled regions: action-oriented elements, smell, taste, tactile elements, spatiomotor elements, auditory elements, and visual elements. Visual elements include subcategories size, shape, motion, and color, while spatiomotor elements connect to manipulation" id="448" name="Google Shape;448;p47"/>
          <p:cNvPicPr preferRelativeResize="0"/>
          <p:nvPr/>
        </p:nvPicPr>
        <p:blipFill rotWithShape="1">
          <a:blip r:embed="rId3">
            <a:alphaModFix/>
          </a:blip>
          <a:srcRect b="0" l="0" r="0" t="0"/>
          <a:stretch/>
        </p:blipFill>
        <p:spPr>
          <a:xfrm>
            <a:off x="500469" y="1255375"/>
            <a:ext cx="2327582" cy="1948526"/>
          </a:xfrm>
          <a:prstGeom prst="rect">
            <a:avLst/>
          </a:prstGeom>
          <a:noFill/>
          <a:ln>
            <a:noFill/>
          </a:ln>
        </p:spPr>
      </p:pic>
      <p:grpSp>
        <p:nvGrpSpPr>
          <p:cNvPr id="449" name="Google Shape;449;p47"/>
          <p:cNvGrpSpPr/>
          <p:nvPr/>
        </p:nvGrpSpPr>
        <p:grpSpPr>
          <a:xfrm>
            <a:off x="118550" y="1820142"/>
            <a:ext cx="2272354" cy="1095909"/>
            <a:chOff x="1335564" y="3662549"/>
            <a:chExt cx="5211821" cy="2176582"/>
          </a:xfrm>
        </p:grpSpPr>
        <p:cxnSp>
          <p:nvCxnSpPr>
            <p:cNvPr id="450" name="Google Shape;450;p47"/>
            <p:cNvCxnSpPr/>
            <p:nvPr/>
          </p:nvCxnSpPr>
          <p:spPr>
            <a:xfrm flipH="1" rot="10800000">
              <a:off x="2240570" y="4326454"/>
              <a:ext cx="1192200" cy="595500"/>
            </a:xfrm>
            <a:prstGeom prst="straightConnector1">
              <a:avLst/>
            </a:prstGeom>
            <a:noFill/>
            <a:ln cap="flat" cmpd="sng" w="25200">
              <a:solidFill>
                <a:srgbClr val="CC1414"/>
              </a:solidFill>
              <a:prstDash val="solid"/>
              <a:round/>
              <a:headEnd len="med" w="med" type="none"/>
              <a:tailEnd len="med" w="med" type="triangle"/>
            </a:ln>
          </p:spPr>
        </p:cxnSp>
        <p:sp>
          <p:nvSpPr>
            <p:cNvPr id="451" name="Google Shape;451;p47"/>
            <p:cNvSpPr/>
            <p:nvPr/>
          </p:nvSpPr>
          <p:spPr>
            <a:xfrm>
              <a:off x="3356896" y="3662549"/>
              <a:ext cx="3190489" cy="2176582"/>
            </a:xfrm>
            <a:custGeom>
              <a:rect b="b" l="l" r="r" t="t"/>
              <a:pathLst>
                <a:path extrusionOk="0" h="954" w="1497">
                  <a:moveTo>
                    <a:pt x="58" y="223"/>
                  </a:moveTo>
                  <a:cubicBezTo>
                    <a:pt x="116" y="182"/>
                    <a:pt x="284" y="70"/>
                    <a:pt x="394" y="35"/>
                  </a:cubicBezTo>
                  <a:cubicBezTo>
                    <a:pt x="504" y="0"/>
                    <a:pt x="603" y="1"/>
                    <a:pt x="717" y="14"/>
                  </a:cubicBezTo>
                  <a:cubicBezTo>
                    <a:pt x="831" y="27"/>
                    <a:pt x="958" y="37"/>
                    <a:pt x="1080" y="115"/>
                  </a:cubicBezTo>
                  <a:cubicBezTo>
                    <a:pt x="1202" y="193"/>
                    <a:pt x="1403" y="403"/>
                    <a:pt x="1450" y="485"/>
                  </a:cubicBezTo>
                  <a:cubicBezTo>
                    <a:pt x="1497" y="567"/>
                    <a:pt x="1412" y="646"/>
                    <a:pt x="1362" y="606"/>
                  </a:cubicBezTo>
                  <a:cubicBezTo>
                    <a:pt x="1312" y="566"/>
                    <a:pt x="1251" y="335"/>
                    <a:pt x="1147" y="243"/>
                  </a:cubicBezTo>
                  <a:cubicBezTo>
                    <a:pt x="1043" y="151"/>
                    <a:pt x="828" y="63"/>
                    <a:pt x="737" y="55"/>
                  </a:cubicBezTo>
                  <a:cubicBezTo>
                    <a:pt x="646" y="47"/>
                    <a:pt x="627" y="123"/>
                    <a:pt x="602" y="196"/>
                  </a:cubicBezTo>
                  <a:cubicBezTo>
                    <a:pt x="577" y="269"/>
                    <a:pt x="616" y="377"/>
                    <a:pt x="589" y="492"/>
                  </a:cubicBezTo>
                  <a:cubicBezTo>
                    <a:pt x="562" y="607"/>
                    <a:pt x="479" y="822"/>
                    <a:pt x="441" y="888"/>
                  </a:cubicBezTo>
                  <a:cubicBezTo>
                    <a:pt x="403" y="954"/>
                    <a:pt x="352" y="918"/>
                    <a:pt x="360" y="888"/>
                  </a:cubicBezTo>
                  <a:cubicBezTo>
                    <a:pt x="368" y="858"/>
                    <a:pt x="466" y="771"/>
                    <a:pt x="488" y="707"/>
                  </a:cubicBezTo>
                  <a:cubicBezTo>
                    <a:pt x="510" y="643"/>
                    <a:pt x="488" y="565"/>
                    <a:pt x="495" y="505"/>
                  </a:cubicBezTo>
                  <a:cubicBezTo>
                    <a:pt x="502" y="445"/>
                    <a:pt x="517" y="390"/>
                    <a:pt x="529" y="344"/>
                  </a:cubicBezTo>
                  <a:cubicBezTo>
                    <a:pt x="541" y="298"/>
                    <a:pt x="558" y="271"/>
                    <a:pt x="569" y="230"/>
                  </a:cubicBezTo>
                  <a:cubicBezTo>
                    <a:pt x="580" y="189"/>
                    <a:pt x="625" y="116"/>
                    <a:pt x="596" y="95"/>
                  </a:cubicBezTo>
                  <a:cubicBezTo>
                    <a:pt x="567" y="74"/>
                    <a:pt x="463" y="79"/>
                    <a:pt x="394" y="102"/>
                  </a:cubicBezTo>
                  <a:cubicBezTo>
                    <a:pt x="325" y="125"/>
                    <a:pt x="237" y="206"/>
                    <a:pt x="179" y="236"/>
                  </a:cubicBezTo>
                  <a:cubicBezTo>
                    <a:pt x="121" y="266"/>
                    <a:pt x="65" y="285"/>
                    <a:pt x="44" y="283"/>
                  </a:cubicBezTo>
                  <a:cubicBezTo>
                    <a:pt x="23" y="281"/>
                    <a:pt x="0" y="264"/>
                    <a:pt x="58" y="223"/>
                  </a:cubicBezTo>
                  <a:close/>
                </a:path>
              </a:pathLst>
            </a:custGeom>
            <a:solidFill>
              <a:srgbClr val="FF0000">
                <a:alpha val="32940"/>
              </a:srgbClr>
            </a:solidFill>
            <a:ln cap="flat" cmpd="sng" w="3775">
              <a:solidFill>
                <a:srgbClr val="FF0000"/>
              </a:solidFill>
              <a:prstDash val="solid"/>
              <a:round/>
              <a:headEnd len="sm" w="sm" type="none"/>
              <a:tailEnd len="sm" w="sm" type="none"/>
            </a:ln>
          </p:spPr>
          <p:txBody>
            <a:bodyPr anchorCtr="0" anchor="ctr" bIns="18125" lIns="36275" spcFirstLastPara="1" rIns="36275" wrap="square" tIns="18125">
              <a:noAutofit/>
            </a:bodyPr>
            <a:lstStyle/>
            <a:p>
              <a:pPr indent="0" lvl="0" marL="0" marR="0" rtl="0" algn="l">
                <a:spcBef>
                  <a:spcPts val="0"/>
                </a:spcBef>
                <a:spcAft>
                  <a:spcPts val="0"/>
                </a:spcAft>
                <a:buNone/>
              </a:pPr>
              <a:r>
                <a:t/>
              </a:r>
              <a:endParaRPr sz="714">
                <a:solidFill>
                  <a:srgbClr val="000000"/>
                </a:solidFill>
                <a:latin typeface="Gill Sans"/>
                <a:ea typeface="Gill Sans"/>
                <a:cs typeface="Gill Sans"/>
                <a:sym typeface="Gill Sans"/>
              </a:endParaRPr>
            </a:p>
          </p:txBody>
        </p:sp>
        <p:pic>
          <p:nvPicPr>
            <p:cNvPr descr="orange" id="452" name="Google Shape;452;p47"/>
            <p:cNvPicPr preferRelativeResize="0"/>
            <p:nvPr/>
          </p:nvPicPr>
          <p:blipFill rotWithShape="1">
            <a:blip r:embed="rId4">
              <a:alphaModFix/>
            </a:blip>
            <a:srcRect b="0" l="0" r="0" t="0"/>
            <a:stretch/>
          </p:blipFill>
          <p:spPr>
            <a:xfrm>
              <a:off x="1335564" y="4812441"/>
              <a:ext cx="803939" cy="873827"/>
            </a:xfrm>
            <a:prstGeom prst="rect">
              <a:avLst/>
            </a:prstGeom>
            <a:noFill/>
            <a:ln>
              <a:noFill/>
            </a:ln>
          </p:spPr>
        </p:pic>
      </p:grpSp>
      <p:grpSp>
        <p:nvGrpSpPr>
          <p:cNvPr id="453" name="Google Shape;453;p47"/>
          <p:cNvGrpSpPr/>
          <p:nvPr/>
        </p:nvGrpSpPr>
        <p:grpSpPr>
          <a:xfrm>
            <a:off x="326887" y="1292087"/>
            <a:ext cx="2020982" cy="1327957"/>
            <a:chOff x="1941964" y="2455618"/>
            <a:chExt cx="4635280" cy="2637451"/>
          </a:xfrm>
        </p:grpSpPr>
        <p:cxnSp>
          <p:nvCxnSpPr>
            <p:cNvPr id="454" name="Google Shape;454;p47"/>
            <p:cNvCxnSpPr/>
            <p:nvPr/>
          </p:nvCxnSpPr>
          <p:spPr>
            <a:xfrm>
              <a:off x="2860751" y="3089884"/>
              <a:ext cx="923400" cy="531600"/>
            </a:xfrm>
            <a:prstGeom prst="straightConnector1">
              <a:avLst/>
            </a:prstGeom>
            <a:noFill/>
            <a:ln cap="flat" cmpd="sng" w="25200">
              <a:solidFill>
                <a:srgbClr val="0000E7"/>
              </a:solidFill>
              <a:prstDash val="solid"/>
              <a:round/>
              <a:headEnd len="med" w="med" type="none"/>
              <a:tailEnd len="med" w="med" type="triangle"/>
            </a:ln>
          </p:spPr>
        </p:cxnSp>
        <p:sp>
          <p:nvSpPr>
            <p:cNvPr id="455" name="Google Shape;455;p47"/>
            <p:cNvSpPr/>
            <p:nvPr/>
          </p:nvSpPr>
          <p:spPr>
            <a:xfrm>
              <a:off x="3331629" y="3377357"/>
              <a:ext cx="3245615" cy="1715712"/>
            </a:xfrm>
            <a:custGeom>
              <a:rect b="b" l="l" r="r" t="t"/>
              <a:pathLst>
                <a:path extrusionOk="0" h="752" w="1413">
                  <a:moveTo>
                    <a:pt x="1241" y="633"/>
                  </a:moveTo>
                  <a:cubicBezTo>
                    <a:pt x="1250" y="675"/>
                    <a:pt x="1281" y="742"/>
                    <a:pt x="1308" y="747"/>
                  </a:cubicBezTo>
                  <a:cubicBezTo>
                    <a:pt x="1335" y="752"/>
                    <a:pt x="1391" y="702"/>
                    <a:pt x="1402" y="666"/>
                  </a:cubicBezTo>
                  <a:cubicBezTo>
                    <a:pt x="1413" y="630"/>
                    <a:pt x="1391" y="586"/>
                    <a:pt x="1375" y="532"/>
                  </a:cubicBezTo>
                  <a:cubicBezTo>
                    <a:pt x="1359" y="478"/>
                    <a:pt x="1344" y="397"/>
                    <a:pt x="1308" y="344"/>
                  </a:cubicBezTo>
                  <a:cubicBezTo>
                    <a:pt x="1272" y="291"/>
                    <a:pt x="1237" y="269"/>
                    <a:pt x="1160" y="216"/>
                  </a:cubicBezTo>
                  <a:cubicBezTo>
                    <a:pt x="1083" y="163"/>
                    <a:pt x="964" y="56"/>
                    <a:pt x="844" y="28"/>
                  </a:cubicBezTo>
                  <a:cubicBezTo>
                    <a:pt x="724" y="0"/>
                    <a:pt x="555" y="25"/>
                    <a:pt x="441" y="48"/>
                  </a:cubicBezTo>
                  <a:cubicBezTo>
                    <a:pt x="327" y="71"/>
                    <a:pt x="228" y="134"/>
                    <a:pt x="158" y="169"/>
                  </a:cubicBezTo>
                  <a:cubicBezTo>
                    <a:pt x="88" y="204"/>
                    <a:pt x="48" y="225"/>
                    <a:pt x="24" y="256"/>
                  </a:cubicBezTo>
                  <a:cubicBezTo>
                    <a:pt x="0" y="287"/>
                    <a:pt x="0" y="348"/>
                    <a:pt x="11" y="357"/>
                  </a:cubicBezTo>
                  <a:cubicBezTo>
                    <a:pt x="22" y="366"/>
                    <a:pt x="61" y="327"/>
                    <a:pt x="91" y="310"/>
                  </a:cubicBezTo>
                  <a:cubicBezTo>
                    <a:pt x="121" y="293"/>
                    <a:pt x="146" y="277"/>
                    <a:pt x="192" y="256"/>
                  </a:cubicBezTo>
                  <a:cubicBezTo>
                    <a:pt x="238" y="235"/>
                    <a:pt x="309" y="206"/>
                    <a:pt x="367" y="182"/>
                  </a:cubicBezTo>
                  <a:cubicBezTo>
                    <a:pt x="425" y="158"/>
                    <a:pt x="459" y="119"/>
                    <a:pt x="542" y="115"/>
                  </a:cubicBezTo>
                  <a:cubicBezTo>
                    <a:pt x="625" y="111"/>
                    <a:pt x="768" y="123"/>
                    <a:pt x="864" y="155"/>
                  </a:cubicBezTo>
                  <a:cubicBezTo>
                    <a:pt x="960" y="187"/>
                    <a:pt x="1055" y="254"/>
                    <a:pt x="1120" y="310"/>
                  </a:cubicBezTo>
                  <a:cubicBezTo>
                    <a:pt x="1185" y="366"/>
                    <a:pt x="1233" y="442"/>
                    <a:pt x="1254" y="492"/>
                  </a:cubicBezTo>
                  <a:cubicBezTo>
                    <a:pt x="1275" y="542"/>
                    <a:pt x="1232" y="591"/>
                    <a:pt x="1241" y="633"/>
                  </a:cubicBezTo>
                  <a:close/>
                </a:path>
              </a:pathLst>
            </a:custGeom>
            <a:solidFill>
              <a:srgbClr val="0000FF">
                <a:alpha val="36080"/>
              </a:srgbClr>
            </a:solidFill>
            <a:ln cap="flat" cmpd="sng" w="3775">
              <a:solidFill>
                <a:srgbClr val="0000FF"/>
              </a:solidFill>
              <a:prstDash val="solid"/>
              <a:round/>
              <a:headEnd len="sm" w="sm" type="none"/>
              <a:tailEnd len="sm" w="sm" type="none"/>
            </a:ln>
          </p:spPr>
          <p:txBody>
            <a:bodyPr anchorCtr="0" anchor="ctr" bIns="18125" lIns="36275" spcFirstLastPara="1" rIns="36275" wrap="square" tIns="18125">
              <a:noAutofit/>
            </a:bodyPr>
            <a:lstStyle/>
            <a:p>
              <a:pPr indent="0" lvl="0" marL="0" marR="0" rtl="0" algn="l">
                <a:spcBef>
                  <a:spcPts val="0"/>
                </a:spcBef>
                <a:spcAft>
                  <a:spcPts val="0"/>
                </a:spcAft>
                <a:buNone/>
              </a:pPr>
              <a:r>
                <a:t/>
              </a:r>
              <a:endParaRPr sz="714">
                <a:solidFill>
                  <a:srgbClr val="000000"/>
                </a:solidFill>
                <a:latin typeface="Gill Sans"/>
                <a:ea typeface="Gill Sans"/>
                <a:cs typeface="Gill Sans"/>
                <a:sym typeface="Gill Sans"/>
              </a:endParaRPr>
            </a:p>
          </p:txBody>
        </p:sp>
        <p:pic>
          <p:nvPicPr>
            <p:cNvPr descr="an illustration of a baseball" id="456" name="Google Shape;456;p47"/>
            <p:cNvPicPr preferRelativeResize="0"/>
            <p:nvPr/>
          </p:nvPicPr>
          <p:blipFill rotWithShape="1">
            <a:blip r:embed="rId5">
              <a:alphaModFix/>
            </a:blip>
            <a:srcRect b="0" l="0" r="0" t="0"/>
            <a:stretch/>
          </p:blipFill>
          <p:spPr>
            <a:xfrm>
              <a:off x="1941964" y="2455618"/>
              <a:ext cx="813127" cy="807662"/>
            </a:xfrm>
            <a:prstGeom prst="rect">
              <a:avLst/>
            </a:prstGeom>
            <a:noFill/>
            <a:ln>
              <a:noFill/>
            </a:ln>
          </p:spPr>
        </p:pic>
      </p:grpSp>
      <p:sp>
        <p:nvSpPr>
          <p:cNvPr id="457" name="Google Shape;457;p47"/>
          <p:cNvSpPr txBox="1"/>
          <p:nvPr/>
        </p:nvSpPr>
        <p:spPr>
          <a:xfrm>
            <a:off x="52630" y="694504"/>
            <a:ext cx="4608600" cy="503100"/>
          </a:xfrm>
          <a:prstGeom prst="rect">
            <a:avLst/>
          </a:prstGeom>
          <a:noFill/>
          <a:ln>
            <a:noFill/>
          </a:ln>
        </p:spPr>
        <p:txBody>
          <a:bodyPr anchorCtr="0" anchor="b" bIns="18125" lIns="36275" spcFirstLastPara="1" rIns="36275" wrap="square" tIns="18125">
            <a:normAutofit/>
          </a:bodyPr>
          <a:lstStyle/>
          <a:p>
            <a:pPr indent="0" lvl="0" marL="0" marR="0" rtl="0" algn="l">
              <a:lnSpc>
                <a:spcPct val="90000"/>
              </a:lnSpc>
              <a:spcBef>
                <a:spcPts val="0"/>
              </a:spcBef>
              <a:spcAft>
                <a:spcPts val="0"/>
              </a:spcAft>
              <a:buClr>
                <a:srgbClr val="FFFFFF"/>
              </a:buClr>
              <a:buSzPts val="1746"/>
              <a:buFont typeface="Arial"/>
              <a:buNone/>
            </a:pPr>
            <a:r>
              <a:rPr b="1" lang="en" sz="1746">
                <a:solidFill>
                  <a:srgbClr val="FFFFFF"/>
                </a:solidFill>
                <a:latin typeface="Arial"/>
                <a:ea typeface="Arial"/>
                <a:cs typeface="Arial"/>
                <a:sym typeface="Arial"/>
              </a:rPr>
              <a:t>Embodied (sensorimotor-based) cognition</a:t>
            </a:r>
            <a:endParaRPr sz="555"/>
          </a:p>
        </p:txBody>
      </p:sp>
      <p:sp>
        <p:nvSpPr>
          <p:cNvPr id="458" name="Google Shape;458;p47"/>
          <p:cNvSpPr txBox="1"/>
          <p:nvPr/>
        </p:nvSpPr>
        <p:spPr>
          <a:xfrm>
            <a:off x="28176" y="801150"/>
            <a:ext cx="3572400" cy="525000"/>
          </a:xfrm>
          <a:prstGeom prst="rect">
            <a:avLst/>
          </a:prstGeom>
          <a:noFill/>
          <a:ln>
            <a:noFill/>
          </a:ln>
        </p:spPr>
        <p:txBody>
          <a:bodyPr anchorCtr="0" anchor="t" bIns="18125" lIns="36275" spcFirstLastPara="1" rIns="36275" wrap="square" tIns="18125">
            <a:spAutoFit/>
          </a:bodyPr>
          <a:lstStyle/>
          <a:p>
            <a:pPr indent="0" lvl="0" marL="0" marR="0" rtl="0" algn="l">
              <a:spcBef>
                <a:spcPts val="0"/>
              </a:spcBef>
              <a:spcAft>
                <a:spcPts val="0"/>
              </a:spcAft>
              <a:buNone/>
            </a:pPr>
            <a:r>
              <a:rPr lang="en" sz="1587">
                <a:solidFill>
                  <a:srgbClr val="000000"/>
                </a:solidFill>
                <a:latin typeface="Arial"/>
                <a:ea typeface="Arial"/>
                <a:cs typeface="Arial"/>
                <a:sym typeface="Arial"/>
              </a:rPr>
              <a:t>An </a:t>
            </a:r>
            <a:r>
              <a:rPr b="1" lang="en" sz="1587">
                <a:solidFill>
                  <a:srgbClr val="000000"/>
                </a:solidFill>
                <a:latin typeface="Arial"/>
                <a:ea typeface="Arial"/>
                <a:cs typeface="Arial"/>
                <a:sym typeface="Arial"/>
              </a:rPr>
              <a:t>embodied approach </a:t>
            </a:r>
            <a:r>
              <a:rPr lang="en" sz="1587">
                <a:solidFill>
                  <a:srgbClr val="000000"/>
                </a:solidFill>
                <a:latin typeface="Arial"/>
                <a:ea typeface="Arial"/>
                <a:cs typeface="Arial"/>
                <a:sym typeface="Arial"/>
              </a:rPr>
              <a:t>to semantic knowledge</a:t>
            </a:r>
            <a:endParaRPr sz="555"/>
          </a:p>
        </p:txBody>
      </p:sp>
      <p:sp>
        <p:nvSpPr>
          <p:cNvPr id="459" name="Google Shape;459;p47"/>
          <p:cNvSpPr txBox="1"/>
          <p:nvPr/>
        </p:nvSpPr>
        <p:spPr>
          <a:xfrm>
            <a:off x="1532592" y="4129009"/>
            <a:ext cx="1809000" cy="891600"/>
          </a:xfrm>
          <a:prstGeom prst="rect">
            <a:avLst/>
          </a:prstGeom>
          <a:noFill/>
          <a:ln>
            <a:noFill/>
          </a:ln>
        </p:spPr>
        <p:txBody>
          <a:bodyPr anchorCtr="0" anchor="t" bIns="18125" lIns="36275" spcFirstLastPara="1" rIns="36275" wrap="square" tIns="18125">
            <a:spAutoFit/>
          </a:bodyPr>
          <a:lstStyle/>
          <a:p>
            <a:pPr indent="0" lvl="0" marL="0" marR="0" rtl="0" algn="l">
              <a:spcBef>
                <a:spcPts val="0"/>
              </a:spcBef>
              <a:spcAft>
                <a:spcPts val="0"/>
              </a:spcAft>
              <a:buNone/>
            </a:pPr>
            <a:r>
              <a:rPr lang="en" sz="1111">
                <a:solidFill>
                  <a:srgbClr val="000000"/>
                </a:solidFill>
                <a:latin typeface="Arial"/>
                <a:ea typeface="Arial"/>
                <a:cs typeface="Arial"/>
                <a:sym typeface="Arial"/>
              </a:rPr>
              <a:t>It is striking that brain regions associated with meaning of an object are also recruited when interacting with that object </a:t>
            </a:r>
            <a:endParaRPr sz="555"/>
          </a:p>
        </p:txBody>
      </p:sp>
      <p:sp>
        <p:nvSpPr>
          <p:cNvPr id="460" name="Google Shape;460;p47"/>
          <p:cNvSpPr txBox="1"/>
          <p:nvPr/>
        </p:nvSpPr>
        <p:spPr>
          <a:xfrm>
            <a:off x="52617" y="4214497"/>
            <a:ext cx="1327500" cy="720600"/>
          </a:xfrm>
          <a:prstGeom prst="rect">
            <a:avLst/>
          </a:prstGeom>
          <a:noFill/>
          <a:ln>
            <a:noFill/>
          </a:ln>
        </p:spPr>
        <p:txBody>
          <a:bodyPr anchorCtr="0" anchor="t" bIns="18125" lIns="36275" spcFirstLastPara="1" rIns="36275" wrap="square" tIns="18125">
            <a:spAutoFit/>
          </a:bodyPr>
          <a:lstStyle/>
          <a:p>
            <a:pPr indent="0" lvl="0" marL="0" marR="0" rtl="0" algn="l">
              <a:spcBef>
                <a:spcPts val="0"/>
              </a:spcBef>
              <a:spcAft>
                <a:spcPts val="0"/>
              </a:spcAft>
              <a:buNone/>
            </a:pPr>
            <a:r>
              <a:rPr lang="en" sz="1111">
                <a:solidFill>
                  <a:srgbClr val="000000"/>
                </a:solidFill>
                <a:latin typeface="Arial"/>
                <a:ea typeface="Arial"/>
                <a:cs typeface="Arial"/>
                <a:sym typeface="Arial"/>
              </a:rPr>
              <a:t>Is </a:t>
            </a:r>
            <a:r>
              <a:rPr b="1" lang="en" sz="1111">
                <a:solidFill>
                  <a:srgbClr val="000000"/>
                </a:solidFill>
                <a:latin typeface="Arial"/>
                <a:ea typeface="Arial"/>
                <a:cs typeface="Arial"/>
                <a:sym typeface="Arial"/>
              </a:rPr>
              <a:t>sensorimotor recruitment </a:t>
            </a:r>
            <a:r>
              <a:rPr i="1" lang="en" sz="1111">
                <a:solidFill>
                  <a:srgbClr val="000000"/>
                </a:solidFill>
                <a:latin typeface="Arial"/>
                <a:ea typeface="Arial"/>
                <a:cs typeface="Arial"/>
                <a:sym typeface="Arial"/>
              </a:rPr>
              <a:t>integral</a:t>
            </a:r>
            <a:r>
              <a:rPr lang="en" sz="1111">
                <a:solidFill>
                  <a:srgbClr val="000000"/>
                </a:solidFill>
                <a:latin typeface="Arial"/>
                <a:ea typeface="Arial"/>
                <a:cs typeface="Arial"/>
                <a:sym typeface="Arial"/>
              </a:rPr>
              <a:t> to meaning or </a:t>
            </a:r>
            <a:r>
              <a:rPr i="1" lang="en" sz="1111">
                <a:solidFill>
                  <a:srgbClr val="000000"/>
                </a:solidFill>
                <a:latin typeface="Arial"/>
                <a:ea typeface="Arial"/>
                <a:cs typeface="Arial"/>
                <a:sym typeface="Arial"/>
              </a:rPr>
              <a:t>incidental</a:t>
            </a:r>
            <a:r>
              <a:rPr lang="en" sz="1111">
                <a:solidFill>
                  <a:srgbClr val="000000"/>
                </a:solidFill>
                <a:latin typeface="Arial"/>
                <a:ea typeface="Arial"/>
                <a:cs typeface="Arial"/>
                <a:sym typeface="Arial"/>
              </a:rPr>
              <a:t>?</a:t>
            </a:r>
            <a:endParaRPr sz="555"/>
          </a:p>
        </p:txBody>
      </p:sp>
      <p:pic>
        <p:nvPicPr>
          <p:cNvPr descr="Diagram illustrating experimental tasks involving concurrent activities. Panels show sequences of stimuli labeled with words and images, instructions for performing a three-step manual task continuously, and specific conditions like mental rotation and image recognition, with arrows indicating task progression." id="461" name="Google Shape;461;p47"/>
          <p:cNvPicPr preferRelativeResize="0"/>
          <p:nvPr/>
        </p:nvPicPr>
        <p:blipFill rotWithShape="1">
          <a:blip r:embed="rId6">
            <a:alphaModFix/>
          </a:blip>
          <a:srcRect b="50000" l="2018" r="0" t="0"/>
          <a:stretch/>
        </p:blipFill>
        <p:spPr>
          <a:xfrm>
            <a:off x="3600575" y="1350224"/>
            <a:ext cx="3630866" cy="1573812"/>
          </a:xfrm>
          <a:prstGeom prst="rect">
            <a:avLst/>
          </a:prstGeom>
          <a:noFill/>
          <a:ln>
            <a:noFill/>
          </a:ln>
        </p:spPr>
      </p:pic>
      <p:pic>
        <p:nvPicPr>
          <p:cNvPr descr="Bar chart comparing interference effect between more experience touching (e.g., pencil) and less experience touching (e.g., tiger) across manual and mental rotation tasks. Chart shows higher interference for more experience touching in manual task and higher interference for less experience touching in mental rotation task, with error bars indicating variability." id="462" name="Google Shape;462;p47"/>
          <p:cNvPicPr preferRelativeResize="0"/>
          <p:nvPr/>
        </p:nvPicPr>
        <p:blipFill rotWithShape="1">
          <a:blip r:embed="rId7">
            <a:alphaModFix/>
          </a:blip>
          <a:srcRect b="0" l="0" r="0" t="0"/>
          <a:stretch/>
        </p:blipFill>
        <p:spPr>
          <a:xfrm>
            <a:off x="7000262" y="1433959"/>
            <a:ext cx="2071764" cy="1406331"/>
          </a:xfrm>
          <a:prstGeom prst="rect">
            <a:avLst/>
          </a:prstGeom>
          <a:noFill/>
          <a:ln>
            <a:noFill/>
          </a:ln>
        </p:spPr>
      </p:pic>
      <p:sp>
        <p:nvSpPr>
          <p:cNvPr id="463" name="Google Shape;463;p47"/>
          <p:cNvSpPr txBox="1"/>
          <p:nvPr/>
        </p:nvSpPr>
        <p:spPr>
          <a:xfrm>
            <a:off x="3754773" y="3066260"/>
            <a:ext cx="3322500" cy="381000"/>
          </a:xfrm>
          <a:prstGeom prst="rect">
            <a:avLst/>
          </a:prstGeom>
          <a:noFill/>
          <a:ln>
            <a:noFill/>
          </a:ln>
        </p:spPr>
        <p:txBody>
          <a:bodyPr anchorCtr="0" anchor="t" bIns="20950" lIns="41925" spcFirstLastPara="1" rIns="41925" wrap="square" tIns="20950">
            <a:spAutoFit/>
          </a:bodyPr>
          <a:lstStyle/>
          <a:p>
            <a:pPr indent="0" lvl="0" marL="0" marR="0" rtl="0" algn="l">
              <a:spcBef>
                <a:spcPts val="0"/>
              </a:spcBef>
              <a:spcAft>
                <a:spcPts val="0"/>
              </a:spcAft>
              <a:buNone/>
            </a:pPr>
            <a:r>
              <a:rPr lang="en" sz="1100">
                <a:solidFill>
                  <a:srgbClr val="000000"/>
                </a:solidFill>
                <a:latin typeface="Arial"/>
                <a:ea typeface="Arial"/>
                <a:cs typeface="Arial"/>
                <a:sym typeface="Arial"/>
              </a:rPr>
              <a:t>Interference Effect: </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Error Rate</a:t>
            </a:r>
            <a:r>
              <a:rPr baseline="-25000" lang="en" sz="1100">
                <a:solidFill>
                  <a:srgbClr val="000000"/>
                </a:solidFill>
                <a:latin typeface="Arial"/>
                <a:ea typeface="Arial"/>
                <a:cs typeface="Arial"/>
                <a:sym typeface="Arial"/>
              </a:rPr>
              <a:t>(Concurrent Task)</a:t>
            </a:r>
            <a:r>
              <a:rPr lang="en" sz="1100">
                <a:solidFill>
                  <a:srgbClr val="000000"/>
                </a:solidFill>
                <a:latin typeface="Arial"/>
                <a:ea typeface="Arial"/>
                <a:cs typeface="Arial"/>
                <a:sym typeface="Arial"/>
              </a:rPr>
              <a:t> – Error Rate</a:t>
            </a:r>
            <a:r>
              <a:rPr baseline="-25000" lang="en" sz="1100">
                <a:solidFill>
                  <a:srgbClr val="000000"/>
                </a:solidFill>
                <a:latin typeface="Arial"/>
                <a:ea typeface="Arial"/>
                <a:cs typeface="Arial"/>
                <a:sym typeface="Arial"/>
              </a:rPr>
              <a:t>(No concurrent task)</a:t>
            </a:r>
            <a:endParaRPr sz="642"/>
          </a:p>
        </p:txBody>
      </p:sp>
      <p:sp>
        <p:nvSpPr>
          <p:cNvPr id="464" name="Google Shape;464;p47"/>
          <p:cNvSpPr txBox="1"/>
          <p:nvPr/>
        </p:nvSpPr>
        <p:spPr>
          <a:xfrm>
            <a:off x="3663737" y="854324"/>
            <a:ext cx="5408100" cy="437400"/>
          </a:xfrm>
          <a:prstGeom prst="rect">
            <a:avLst/>
          </a:prstGeom>
          <a:noFill/>
          <a:ln>
            <a:noFill/>
          </a:ln>
        </p:spPr>
        <p:txBody>
          <a:bodyPr anchorCtr="0" anchor="t" bIns="20950" lIns="41925" spcFirstLastPara="1" rIns="41925" wrap="square" tIns="20950">
            <a:spAutoFit/>
          </a:bodyPr>
          <a:lstStyle/>
          <a:p>
            <a:pPr indent="0" lvl="0" marL="0" marR="0" rtl="0" algn="l">
              <a:spcBef>
                <a:spcPts val="0"/>
              </a:spcBef>
              <a:spcAft>
                <a:spcPts val="0"/>
              </a:spcAft>
              <a:buNone/>
            </a:pPr>
            <a:r>
              <a:rPr b="1" i="1" lang="en" sz="1284">
                <a:solidFill>
                  <a:srgbClr val="000000"/>
                </a:solidFill>
                <a:latin typeface="Arial"/>
                <a:ea typeface="Arial"/>
                <a:cs typeface="Arial"/>
                <a:sym typeface="Arial"/>
              </a:rPr>
              <a:t>Logic: </a:t>
            </a:r>
            <a:r>
              <a:rPr lang="en" sz="1284">
                <a:solidFill>
                  <a:srgbClr val="000000"/>
                </a:solidFill>
                <a:latin typeface="Arial"/>
                <a:ea typeface="Arial"/>
                <a:cs typeface="Arial"/>
                <a:sym typeface="Arial"/>
              </a:rPr>
              <a:t>If manual experience is integral to accessing meaning, semantic processing should be harder when hands engaged in incompatible action</a:t>
            </a:r>
            <a:endParaRPr sz="642"/>
          </a:p>
        </p:txBody>
      </p:sp>
      <p:sp>
        <p:nvSpPr>
          <p:cNvPr id="465" name="Google Shape;465;p47"/>
          <p:cNvSpPr txBox="1"/>
          <p:nvPr/>
        </p:nvSpPr>
        <p:spPr>
          <a:xfrm>
            <a:off x="8202186" y="3066260"/>
            <a:ext cx="856800" cy="169200"/>
          </a:xfrm>
          <a:prstGeom prst="rect">
            <a:avLst/>
          </a:prstGeom>
          <a:noFill/>
          <a:ln>
            <a:noFill/>
          </a:ln>
        </p:spPr>
        <p:txBody>
          <a:bodyPr anchorCtr="0" anchor="t" bIns="20950" lIns="41925" spcFirstLastPara="1" rIns="41925" wrap="square" tIns="20950">
            <a:spAutoFit/>
          </a:bodyPr>
          <a:lstStyle/>
          <a:p>
            <a:pPr indent="0" lvl="0" marL="0" marR="0" rtl="0" algn="r">
              <a:spcBef>
                <a:spcPts val="0"/>
              </a:spcBef>
              <a:spcAft>
                <a:spcPts val="0"/>
              </a:spcAft>
              <a:buNone/>
            </a:pPr>
            <a:r>
              <a:rPr i="1" lang="en" sz="825">
                <a:solidFill>
                  <a:srgbClr val="000000"/>
                </a:solidFill>
                <a:latin typeface="Arial"/>
                <a:ea typeface="Arial"/>
                <a:cs typeface="Arial"/>
                <a:sym typeface="Arial"/>
              </a:rPr>
              <a:t>Yee et al. (2013)</a:t>
            </a:r>
            <a:endParaRPr sz="642"/>
          </a:p>
        </p:txBody>
      </p:sp>
      <p:sp>
        <p:nvSpPr>
          <p:cNvPr id="466" name="Google Shape;466;p47"/>
          <p:cNvSpPr txBox="1"/>
          <p:nvPr/>
        </p:nvSpPr>
        <p:spPr>
          <a:xfrm>
            <a:off x="3754775" y="3589475"/>
            <a:ext cx="5086500" cy="1554000"/>
          </a:xfrm>
          <a:prstGeom prst="rect">
            <a:avLst/>
          </a:prstGeom>
          <a:noFill/>
          <a:ln>
            <a:noFill/>
          </a:ln>
        </p:spPr>
        <p:txBody>
          <a:bodyPr anchorCtr="0" anchor="t" bIns="91425" lIns="91425" spcFirstLastPara="1" rIns="91425" wrap="square" tIns="91425">
            <a:noAutofit/>
          </a:bodyPr>
          <a:lstStyle/>
          <a:p>
            <a:pPr indent="-139700" lvl="0" marL="228600" rtl="0" algn="l">
              <a:lnSpc>
                <a:spcPct val="90000"/>
              </a:lnSpc>
              <a:spcBef>
                <a:spcPts val="1000"/>
              </a:spcBef>
              <a:spcAft>
                <a:spcPts val="0"/>
              </a:spcAft>
              <a:buClr>
                <a:schemeClr val="dk1"/>
              </a:buClr>
              <a:buSzPts val="1800"/>
              <a:buChar char="•"/>
            </a:pPr>
            <a:r>
              <a:rPr lang="en" sz="1800">
                <a:solidFill>
                  <a:schemeClr val="dk1"/>
                </a:solidFill>
              </a:rPr>
              <a:t>An </a:t>
            </a:r>
            <a:r>
              <a:rPr b="1" lang="en" sz="1800">
                <a:solidFill>
                  <a:schemeClr val="dk1"/>
                </a:solidFill>
              </a:rPr>
              <a:t>embodied approach</a:t>
            </a:r>
            <a:r>
              <a:rPr lang="en" sz="1800">
                <a:solidFill>
                  <a:schemeClr val="dk1"/>
                </a:solidFill>
              </a:rPr>
              <a:t> to cognition: </a:t>
            </a:r>
            <a:endParaRPr sz="1800">
              <a:solidFill>
                <a:schemeClr val="dk1"/>
              </a:solidFill>
              <a:latin typeface="Calibri"/>
              <a:ea typeface="Calibri"/>
              <a:cs typeface="Calibri"/>
              <a:sym typeface="Calibri"/>
            </a:endParaRPr>
          </a:p>
          <a:p>
            <a:pPr indent="-165100" lvl="1" marL="685800" rtl="0" algn="l">
              <a:lnSpc>
                <a:spcPct val="90000"/>
              </a:lnSpc>
              <a:spcBef>
                <a:spcPts val="500"/>
              </a:spcBef>
              <a:spcAft>
                <a:spcPts val="0"/>
              </a:spcAft>
              <a:buClr>
                <a:schemeClr val="dk1"/>
              </a:buClr>
              <a:buSzPts val="1800"/>
              <a:buChar char="•"/>
            </a:pPr>
            <a:r>
              <a:rPr lang="en" sz="1800">
                <a:solidFill>
                  <a:schemeClr val="dk1"/>
                </a:solidFill>
              </a:rPr>
              <a:t>Sensorimotor experience is critical to concept representation</a:t>
            </a:r>
            <a:endParaRPr sz="1800">
              <a:solidFill>
                <a:schemeClr val="dk1"/>
              </a:solidFill>
              <a:latin typeface="Calibri"/>
              <a:ea typeface="Calibri"/>
              <a:cs typeface="Calibri"/>
              <a:sym typeface="Calibri"/>
            </a:endParaRPr>
          </a:p>
          <a:p>
            <a:pPr indent="-165100" lvl="1" marL="685800" rtl="0" algn="l">
              <a:lnSpc>
                <a:spcPct val="90000"/>
              </a:lnSpc>
              <a:spcBef>
                <a:spcPts val="500"/>
              </a:spcBef>
              <a:spcAft>
                <a:spcPts val="0"/>
              </a:spcAft>
              <a:buClr>
                <a:schemeClr val="dk1"/>
              </a:buClr>
              <a:buSzPts val="1800"/>
              <a:buChar char="•"/>
            </a:pPr>
            <a:r>
              <a:rPr lang="en" sz="1800">
                <a:solidFill>
                  <a:schemeClr val="dk1"/>
                </a:solidFill>
              </a:rPr>
              <a:t>Amodal hub is especially important for abstract concepts</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Neuropsychological effects on attention</a:t>
            </a:r>
            <a:endParaRPr/>
          </a:p>
        </p:txBody>
      </p:sp>
      <p:sp>
        <p:nvSpPr>
          <p:cNvPr id="472" name="Google Shape;472;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10/5/26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9"/>
          <p:cNvSpPr txBox="1"/>
          <p:nvPr>
            <p:ph type="title"/>
          </p:nvPr>
        </p:nvSpPr>
        <p:spPr>
          <a:xfrm>
            <a:off x="57350" y="5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Hemispatial / Unilateral neglect:</a:t>
            </a:r>
            <a:endParaRPr/>
          </a:p>
        </p:txBody>
      </p:sp>
      <p:sp>
        <p:nvSpPr>
          <p:cNvPr id="478" name="Google Shape;478;p49"/>
          <p:cNvSpPr txBox="1"/>
          <p:nvPr>
            <p:ph idx="1" type="body"/>
          </p:nvPr>
        </p:nvSpPr>
        <p:spPr>
          <a:xfrm>
            <a:off x="57350" y="629150"/>
            <a:ext cx="5524200" cy="39915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Clr>
                <a:schemeClr val="dk1"/>
              </a:buClr>
              <a:buFont typeface="Arial"/>
              <a:buNone/>
            </a:pPr>
            <a:r>
              <a:rPr lang="en" sz="2800">
                <a:solidFill>
                  <a:schemeClr val="dk1"/>
                </a:solidFill>
              </a:rPr>
              <a:t>Inability to attend to half of visual field, often due to damage in parietal lobe</a:t>
            </a:r>
            <a:endParaRPr sz="1400">
              <a:solidFill>
                <a:schemeClr val="dk1"/>
              </a:solidFill>
            </a:endParaRPr>
          </a:p>
          <a:p>
            <a:pPr indent="-393065" lvl="0" marL="457200" rtl="0" algn="l">
              <a:lnSpc>
                <a:spcPct val="100000"/>
              </a:lnSpc>
              <a:spcBef>
                <a:spcPts val="0"/>
              </a:spcBef>
              <a:spcAft>
                <a:spcPts val="0"/>
              </a:spcAft>
              <a:buClr>
                <a:schemeClr val="dk1"/>
              </a:buClr>
              <a:buSzPct val="100000"/>
              <a:buChar char="●"/>
            </a:pPr>
            <a:r>
              <a:rPr lang="en" sz="2800">
                <a:solidFill>
                  <a:schemeClr val="dk1"/>
                </a:solidFill>
              </a:rPr>
              <a:t>Most often left visual field, following right hemisphere damage</a:t>
            </a:r>
            <a:endParaRPr sz="2800">
              <a:solidFill>
                <a:schemeClr val="dk1"/>
              </a:solidFill>
            </a:endParaRPr>
          </a:p>
          <a:p>
            <a:pPr indent="0" lvl="0" marL="0" rtl="0" algn="l">
              <a:lnSpc>
                <a:spcPct val="100000"/>
              </a:lnSpc>
              <a:spcBef>
                <a:spcPts val="0"/>
              </a:spcBef>
              <a:spcAft>
                <a:spcPts val="0"/>
              </a:spcAft>
              <a:buClr>
                <a:schemeClr val="dk1"/>
              </a:buClr>
              <a:buFont typeface="Arial"/>
              <a:buNone/>
            </a:pPr>
            <a:r>
              <a:t/>
            </a:r>
            <a:endParaRPr sz="2800">
              <a:solidFill>
                <a:schemeClr val="dk1"/>
              </a:solidFill>
            </a:endParaRPr>
          </a:p>
          <a:p>
            <a:pPr indent="0" lvl="0" marL="0" rtl="0" algn="l">
              <a:lnSpc>
                <a:spcPct val="100000"/>
              </a:lnSpc>
              <a:spcBef>
                <a:spcPts val="0"/>
              </a:spcBef>
              <a:spcAft>
                <a:spcPts val="0"/>
              </a:spcAft>
              <a:buClr>
                <a:schemeClr val="dk1"/>
              </a:buClr>
              <a:buFont typeface="Arial"/>
              <a:buNone/>
            </a:pPr>
            <a:r>
              <a:rPr lang="en" sz="2800">
                <a:solidFill>
                  <a:schemeClr val="dk1"/>
                </a:solidFill>
              </a:rPr>
              <a:t>May be seen both in </a:t>
            </a:r>
            <a:r>
              <a:rPr b="1" lang="en" sz="2800">
                <a:solidFill>
                  <a:schemeClr val="dk1"/>
                </a:solidFill>
              </a:rPr>
              <a:t>perception</a:t>
            </a:r>
            <a:r>
              <a:rPr lang="en" sz="2800">
                <a:solidFill>
                  <a:schemeClr val="dk1"/>
                </a:solidFill>
              </a:rPr>
              <a:t> and in </a:t>
            </a:r>
            <a:r>
              <a:rPr b="1" lang="en" sz="2800">
                <a:solidFill>
                  <a:schemeClr val="dk1"/>
                </a:solidFill>
              </a:rPr>
              <a:t>imagery</a:t>
            </a:r>
            <a:endParaRPr b="1" sz="1400">
              <a:solidFill>
                <a:schemeClr val="dk1"/>
              </a:solidFill>
            </a:endParaRPr>
          </a:p>
          <a:p>
            <a:pPr indent="0" lvl="0" marL="0" rtl="0" algn="l">
              <a:lnSpc>
                <a:spcPct val="100000"/>
              </a:lnSpc>
              <a:spcBef>
                <a:spcPts val="0"/>
              </a:spcBef>
              <a:spcAft>
                <a:spcPts val="0"/>
              </a:spcAft>
              <a:buClr>
                <a:schemeClr val="dk1"/>
              </a:buClr>
              <a:buFont typeface="Arial"/>
              <a:buNone/>
            </a:pPr>
            <a:r>
              <a:t/>
            </a:r>
            <a:endParaRPr sz="2800">
              <a:solidFill>
                <a:schemeClr val="dk1"/>
              </a:solidFill>
            </a:endParaRPr>
          </a:p>
          <a:p>
            <a:pPr indent="0" lvl="0" marL="0" rtl="0" algn="l">
              <a:lnSpc>
                <a:spcPct val="100000"/>
              </a:lnSpc>
              <a:spcBef>
                <a:spcPts val="0"/>
              </a:spcBef>
              <a:spcAft>
                <a:spcPts val="0"/>
              </a:spcAft>
              <a:buClr>
                <a:schemeClr val="dk1"/>
              </a:buClr>
              <a:buFont typeface="Arial"/>
              <a:buNone/>
            </a:pPr>
            <a:r>
              <a:rPr lang="en" sz="2800">
                <a:solidFill>
                  <a:schemeClr val="dk1"/>
                </a:solidFill>
              </a:rPr>
              <a:t>Case study: Patient ignored left half of visual field, even in imagery</a:t>
            </a:r>
            <a:endParaRPr/>
          </a:p>
        </p:txBody>
      </p:sp>
      <p:pic>
        <p:nvPicPr>
          <p:cNvPr descr="A street map shows a point indicated by uppercase A. An arrow points northward from uppercase A. The objects indicated by lowercase a’s are to the east of the arrow. Another point indicated by uppercase B. An arrow points southward from uppercase B. The objects indicated by lowercase b’s are to the west of the arrow." id="479" name="Google Shape;479;p49"/>
          <p:cNvPicPr preferRelativeResize="0"/>
          <p:nvPr>
            <p:ph idx="1" type="body"/>
          </p:nvPr>
        </p:nvPicPr>
        <p:blipFill rotWithShape="1">
          <a:blip r:embed="rId3">
            <a:alphaModFix/>
          </a:blip>
          <a:srcRect b="0" l="0" r="0" t="0"/>
          <a:stretch/>
        </p:blipFill>
        <p:spPr>
          <a:xfrm>
            <a:off x="5552389" y="56438"/>
            <a:ext cx="3509400" cy="4389300"/>
          </a:xfrm>
          <a:prstGeom prst="rect">
            <a:avLst/>
          </a:prstGeom>
          <a:noFill/>
          <a:ln>
            <a:noFill/>
          </a:ln>
        </p:spPr>
      </p:pic>
      <p:sp>
        <p:nvSpPr>
          <p:cNvPr id="480" name="Google Shape;480;p49"/>
          <p:cNvSpPr txBox="1"/>
          <p:nvPr/>
        </p:nvSpPr>
        <p:spPr>
          <a:xfrm>
            <a:off x="5698600" y="44457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dk1"/>
                </a:solidFill>
              </a:rPr>
              <a:t>(Bisiach &amp; Luzzatti, 1978)</a:t>
            </a:r>
            <a:endParaRPr i="1" sz="1800">
              <a:solidFill>
                <a:schemeClr val="dk1"/>
              </a:solidFill>
            </a:endParaRPr>
          </a:p>
        </p:txBody>
      </p:sp>
      <p:sp>
        <p:nvSpPr>
          <p:cNvPr id="481" name="Google Shape;481;p49"/>
          <p:cNvSpPr/>
          <p:nvPr/>
        </p:nvSpPr>
        <p:spPr>
          <a:xfrm>
            <a:off x="7014850" y="3214725"/>
            <a:ext cx="367500" cy="3180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49"/>
          <p:cNvSpPr/>
          <p:nvPr/>
        </p:nvSpPr>
        <p:spPr>
          <a:xfrm>
            <a:off x="7616325" y="367400"/>
            <a:ext cx="1082400" cy="3666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9"/>
          <p:cNvSpPr/>
          <p:nvPr/>
        </p:nvSpPr>
        <p:spPr>
          <a:xfrm>
            <a:off x="7014850" y="2187250"/>
            <a:ext cx="367500" cy="3180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49"/>
          <p:cNvSpPr/>
          <p:nvPr/>
        </p:nvSpPr>
        <p:spPr>
          <a:xfrm>
            <a:off x="5757000" y="704000"/>
            <a:ext cx="1082400" cy="3666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ph type="title"/>
          </p:nvPr>
        </p:nvSpPr>
        <p:spPr>
          <a:xfrm>
            <a:off x="36150" y="5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Hemispatial / Unilateral neglect:</a:t>
            </a:r>
            <a:endParaRPr/>
          </a:p>
          <a:p>
            <a:pPr indent="0" lvl="0" marL="0" rtl="0" algn="l">
              <a:spcBef>
                <a:spcPts val="0"/>
              </a:spcBef>
              <a:spcAft>
                <a:spcPts val="0"/>
              </a:spcAft>
              <a:buNone/>
            </a:pPr>
            <a:r>
              <a:t/>
            </a:r>
            <a:endParaRPr/>
          </a:p>
        </p:txBody>
      </p:sp>
      <p:sp>
        <p:nvSpPr>
          <p:cNvPr id="490" name="Google Shape;490;p50"/>
          <p:cNvSpPr txBox="1"/>
          <p:nvPr>
            <p:ph idx="1" type="body"/>
          </p:nvPr>
        </p:nvSpPr>
        <p:spPr>
          <a:xfrm>
            <a:off x="57350" y="629150"/>
            <a:ext cx="5524200" cy="4238700"/>
          </a:xfrm>
          <a:prstGeom prst="rect">
            <a:avLst/>
          </a:prstGeom>
        </p:spPr>
        <p:txBody>
          <a:bodyPr anchorCtr="0" anchor="t" bIns="91425" lIns="91425" spcFirstLastPara="1" rIns="91425" wrap="square" tIns="91425">
            <a:normAutofit lnSpcReduction="20000"/>
          </a:bodyPr>
          <a:lstStyle/>
          <a:p>
            <a:pPr indent="0" lvl="0" marL="127000" rtl="0" algn="l">
              <a:spcBef>
                <a:spcPts val="0"/>
              </a:spcBef>
              <a:spcAft>
                <a:spcPts val="0"/>
              </a:spcAft>
              <a:buNone/>
            </a:pPr>
            <a:r>
              <a:rPr lang="en" sz="2800">
                <a:solidFill>
                  <a:schemeClr val="dk1"/>
                </a:solidFill>
              </a:rPr>
              <a:t>Ignoring half of the visual field might lead individuals with neglect to: </a:t>
            </a:r>
            <a:endParaRPr sz="1400">
              <a:solidFill>
                <a:schemeClr val="dk1"/>
              </a:solidFill>
            </a:endParaRPr>
          </a:p>
          <a:p>
            <a:pPr indent="-406400" lvl="0" marL="457200" rtl="0" algn="l">
              <a:lnSpc>
                <a:spcPct val="100000"/>
              </a:lnSpc>
              <a:spcBef>
                <a:spcPts val="0"/>
              </a:spcBef>
              <a:spcAft>
                <a:spcPts val="0"/>
              </a:spcAft>
              <a:buClr>
                <a:schemeClr val="dk1"/>
              </a:buClr>
              <a:buSzPts val="2800"/>
              <a:buChar char="●"/>
            </a:pPr>
            <a:r>
              <a:rPr lang="en" sz="2800">
                <a:solidFill>
                  <a:schemeClr val="dk1"/>
                </a:solidFill>
              </a:rPr>
              <a:t>Only put makeup on half of their face</a:t>
            </a:r>
            <a:endParaRPr sz="2800">
              <a:solidFill>
                <a:schemeClr val="dk1"/>
              </a:solidFill>
            </a:endParaRPr>
          </a:p>
          <a:p>
            <a:pPr indent="-406400" lvl="0" marL="457200" rtl="0" algn="l">
              <a:lnSpc>
                <a:spcPct val="100000"/>
              </a:lnSpc>
              <a:spcBef>
                <a:spcPts val="0"/>
              </a:spcBef>
              <a:spcAft>
                <a:spcPts val="0"/>
              </a:spcAft>
              <a:buClr>
                <a:schemeClr val="dk1"/>
              </a:buClr>
              <a:buSzPts val="2800"/>
              <a:buChar char="●"/>
            </a:pPr>
            <a:r>
              <a:rPr lang="en" sz="2800">
                <a:solidFill>
                  <a:schemeClr val="dk1"/>
                </a:solidFill>
              </a:rPr>
              <a:t>Only eat half a plate of food</a:t>
            </a:r>
            <a:endParaRPr sz="2800">
              <a:solidFill>
                <a:schemeClr val="dk1"/>
              </a:solidFill>
            </a:endParaRPr>
          </a:p>
          <a:p>
            <a:pPr indent="-406400" lvl="0" marL="457200" rtl="0" algn="l">
              <a:lnSpc>
                <a:spcPct val="100000"/>
              </a:lnSpc>
              <a:spcBef>
                <a:spcPts val="0"/>
              </a:spcBef>
              <a:spcAft>
                <a:spcPts val="0"/>
              </a:spcAft>
              <a:buClr>
                <a:schemeClr val="dk1"/>
              </a:buClr>
              <a:buSzPts val="2800"/>
              <a:buChar char="●"/>
            </a:pPr>
            <a:r>
              <a:rPr lang="en" sz="2800">
                <a:solidFill>
                  <a:schemeClr val="dk1"/>
                </a:solidFill>
              </a:rPr>
              <a:t>Only draw half a clock (or half of anything, really)</a:t>
            </a:r>
            <a:endParaRPr sz="2800">
              <a:solidFill>
                <a:schemeClr val="dk1"/>
              </a:solidFill>
            </a:endParaRPr>
          </a:p>
          <a:p>
            <a:pPr indent="-406400" lvl="0" marL="457200" rtl="0" algn="l">
              <a:lnSpc>
                <a:spcPct val="100000"/>
              </a:lnSpc>
              <a:spcBef>
                <a:spcPts val="0"/>
              </a:spcBef>
              <a:spcAft>
                <a:spcPts val="0"/>
              </a:spcAft>
              <a:buClr>
                <a:schemeClr val="dk1"/>
              </a:buClr>
              <a:buSzPts val="2800"/>
              <a:buChar char="●"/>
            </a:pPr>
            <a:r>
              <a:rPr lang="en" sz="2800">
                <a:solidFill>
                  <a:schemeClr val="dk1"/>
                </a:solidFill>
              </a:rPr>
              <a:t>Bump into things on the neglected side</a:t>
            </a:r>
            <a:endParaRPr sz="2800">
              <a:solidFill>
                <a:schemeClr val="dk1"/>
              </a:solidFill>
            </a:endParaRPr>
          </a:p>
          <a:p>
            <a:pPr indent="0" lvl="0" marL="0" rtl="0" algn="l">
              <a:lnSpc>
                <a:spcPct val="100000"/>
              </a:lnSpc>
              <a:spcBef>
                <a:spcPts val="0"/>
              </a:spcBef>
              <a:spcAft>
                <a:spcPts val="0"/>
              </a:spcAft>
              <a:buNone/>
            </a:pPr>
            <a:r>
              <a:t/>
            </a:r>
            <a:endParaRPr sz="2800">
              <a:solidFill>
                <a:schemeClr val="dk1"/>
              </a:solidFill>
            </a:endParaRPr>
          </a:p>
        </p:txBody>
      </p:sp>
      <p:pic>
        <p:nvPicPr>
          <p:cNvPr id="491" name="Google Shape;491;p50"/>
          <p:cNvPicPr preferRelativeResize="0"/>
          <p:nvPr/>
        </p:nvPicPr>
        <p:blipFill>
          <a:blip r:embed="rId3">
            <a:alphaModFix/>
          </a:blip>
          <a:stretch>
            <a:fillRect/>
          </a:stretch>
        </p:blipFill>
        <p:spPr>
          <a:xfrm>
            <a:off x="5705700" y="336425"/>
            <a:ext cx="3257650" cy="2204772"/>
          </a:xfrm>
          <a:prstGeom prst="rect">
            <a:avLst/>
          </a:prstGeom>
          <a:noFill/>
          <a:ln>
            <a:noFill/>
          </a:ln>
        </p:spPr>
      </p:pic>
      <p:sp>
        <p:nvSpPr>
          <p:cNvPr id="492" name="Google Shape;492;p50"/>
          <p:cNvSpPr txBox="1"/>
          <p:nvPr/>
        </p:nvSpPr>
        <p:spPr>
          <a:xfrm>
            <a:off x="6744850" y="2776625"/>
            <a:ext cx="22185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rPr>
              <a:t>(Ogden, 1985)</a:t>
            </a:r>
            <a:endParaRPr sz="1600">
              <a:solidFill>
                <a:schemeClr val="dk2"/>
              </a:solidFill>
            </a:endParaRPr>
          </a:p>
        </p:txBody>
      </p:sp>
      <p:sp>
        <p:nvSpPr>
          <p:cNvPr id="493" name="Google Shape;493;p50"/>
          <p:cNvSpPr txBox="1"/>
          <p:nvPr/>
        </p:nvSpPr>
        <p:spPr>
          <a:xfrm>
            <a:off x="4481700" y="3356550"/>
            <a:ext cx="4662300" cy="16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It is worth noting that </a:t>
            </a:r>
            <a:r>
              <a:rPr b="1" lang="en" sz="1700">
                <a:solidFill>
                  <a:schemeClr val="dk1"/>
                </a:solidFill>
              </a:rPr>
              <a:t>this is not a lack of vision</a:t>
            </a:r>
            <a:r>
              <a:rPr lang="en" sz="1700">
                <a:solidFill>
                  <a:schemeClr val="dk1"/>
                </a:solidFill>
              </a:rPr>
              <a:t> in one half of the visual field, but </a:t>
            </a:r>
            <a:r>
              <a:rPr b="1" lang="en" sz="1700">
                <a:solidFill>
                  <a:schemeClr val="dk1"/>
                </a:solidFill>
              </a:rPr>
              <a:t>a deficit in attention to it</a:t>
            </a:r>
            <a:r>
              <a:rPr lang="en" sz="1700">
                <a:solidFill>
                  <a:schemeClr val="dk1"/>
                </a:solidFill>
              </a:rPr>
              <a:t>. One notable study (Berti &amp; Rizzolatti, 1992) suggests that patients are able process visual stimuli in the affected field.</a:t>
            </a:r>
            <a:endParaRPr sz="17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Takeaway</a:t>
            </a:r>
            <a:endParaRPr b="1"/>
          </a:p>
        </p:txBody>
      </p:sp>
      <p:sp>
        <p:nvSpPr>
          <p:cNvPr id="499" name="Google Shape;499;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Char char="●"/>
            </a:pPr>
            <a:r>
              <a:rPr b="1" lang="en" sz="2200">
                <a:solidFill>
                  <a:schemeClr val="dk1"/>
                </a:solidFill>
              </a:rPr>
              <a:t>There are neuropsychological effects on attention</a:t>
            </a:r>
            <a:r>
              <a:rPr lang="en" sz="2200">
                <a:solidFill>
                  <a:schemeClr val="dk1"/>
                </a:solidFill>
              </a:rPr>
              <a:t>, meaning that certain types of damage to the brain can fundamentally alter how one attends objects in the visual field. </a:t>
            </a:r>
            <a:endParaRPr sz="2200">
              <a:solidFill>
                <a:schemeClr val="dk1"/>
              </a:solidFill>
            </a:endParaRPr>
          </a:p>
          <a:p>
            <a:pPr indent="-368300" lvl="1" marL="914400" rtl="0" algn="l">
              <a:spcBef>
                <a:spcPts val="0"/>
              </a:spcBef>
              <a:spcAft>
                <a:spcPts val="0"/>
              </a:spcAft>
              <a:buClr>
                <a:schemeClr val="dk1"/>
              </a:buClr>
              <a:buSzPts val="2200"/>
              <a:buChar char="○"/>
            </a:pPr>
            <a:r>
              <a:rPr b="1" lang="en" sz="2200">
                <a:solidFill>
                  <a:schemeClr val="dk1"/>
                </a:solidFill>
              </a:rPr>
              <a:t>Often due to damage in the parietal lobe specifically.</a:t>
            </a:r>
            <a:endParaRPr b="1"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This affects both </a:t>
            </a:r>
            <a:r>
              <a:rPr b="1" lang="en" sz="2200">
                <a:solidFill>
                  <a:schemeClr val="dk1"/>
                </a:solidFill>
              </a:rPr>
              <a:t>perception</a:t>
            </a:r>
            <a:r>
              <a:rPr lang="en" sz="2200">
                <a:solidFill>
                  <a:schemeClr val="dk1"/>
                </a:solidFill>
              </a:rPr>
              <a:t> and </a:t>
            </a:r>
            <a:r>
              <a:rPr b="1" lang="en" sz="2200">
                <a:solidFill>
                  <a:schemeClr val="dk1"/>
                </a:solidFill>
              </a:rPr>
              <a:t>imagery</a:t>
            </a:r>
            <a:r>
              <a:rPr lang="en" sz="2200">
                <a:solidFill>
                  <a:schemeClr val="dk1"/>
                </a:solidFill>
              </a:rPr>
              <a:t>, as well as other aspects such as spatial awareness.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Effects are often </a:t>
            </a:r>
            <a:r>
              <a:rPr b="1" lang="en" sz="2200">
                <a:solidFill>
                  <a:schemeClr val="dk1"/>
                </a:solidFill>
              </a:rPr>
              <a:t>contralateral</a:t>
            </a:r>
            <a:r>
              <a:rPr lang="en" sz="2200">
                <a:solidFill>
                  <a:schemeClr val="dk1"/>
                </a:solidFill>
              </a:rPr>
              <a:t>, meaning that damage to the right side causes impairments to the left visual field. </a:t>
            </a:r>
            <a:endParaRPr sz="2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